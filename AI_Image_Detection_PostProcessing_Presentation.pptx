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 accuracy</c:v>
                </c:pt>
              </c:strCache>
            </c:strRef>
          </c:tx>
          <c:spPr>
            <a:solidFill>
              <a:srgbClr val="C0504D"/>
            </a:solidFill>
            <a:ln w="28575"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78.57</c:v>
                </c:pt>
                <c:pt idx="1">
                  <c:v>91.55</c:v>
                </c:pt>
                <c:pt idx="2">
                  <c:v>95.2</c:v>
                </c:pt>
                <c:pt idx="3">
                  <c:v>96.61</c:v>
                </c:pt>
                <c:pt idx="4">
                  <c:v>96.67</c:v>
                </c:pt>
                <c:pt idx="5">
                  <c:v>96.48</c:v>
                </c:pt>
                <c:pt idx="6">
                  <c:v>97.89</c:v>
                </c:pt>
                <c:pt idx="7">
                  <c:v>98.27</c:v>
                </c:pt>
                <c:pt idx="8">
                  <c:v>98.91</c:v>
                </c:pt>
                <c:pt idx="9">
                  <c:v>97.5</c:v>
                </c:pt>
              </c:numCache>
            </c:numRef>
          </c:val>
          <c:smooth val="0"/>
        </c:ser>
        <c:ser>
          <c:idx val="1"/>
          <c:order val="1"/>
          <c:tx>
            <c:strRef>
              <c:f>Sheet1!$C$1</c:f>
              <c:strCache>
                <c:ptCount val="1"/>
                <c:pt idx="0">
                  <c:v>Validation accuracy</c:v>
                </c:pt>
              </c:strCache>
            </c:strRef>
          </c:tx>
          <c:spPr>
            <a:solidFill>
              <a:srgbClr val="4F81BD"/>
            </a:solidFill>
            <a:ln w="28575" cap="flat">
              <a:solidFill>
                <a:srgbClr val="4F81B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F81BD"/>
              </a:solidFill>
              <a:ln w="9525" cap="flat">
                <a:solidFill>
                  <a:srgbClr val="4F81BD"/>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84.44</c:v>
                </c:pt>
                <c:pt idx="1">
                  <c:v>86.73</c:v>
                </c:pt>
                <c:pt idx="2">
                  <c:v>86.5</c:v>
                </c:pt>
                <c:pt idx="3">
                  <c:v>87.64</c:v>
                </c:pt>
                <c:pt idx="4">
                  <c:v>87.19</c:v>
                </c:pt>
                <c:pt idx="5">
                  <c:v>84.44</c:v>
                </c:pt>
                <c:pt idx="6">
                  <c:v>86.5</c:v>
                </c:pt>
                <c:pt idx="7">
                  <c:v>86.27</c:v>
                </c:pt>
                <c:pt idx="8">
                  <c:v>86.73</c:v>
                </c:pt>
                <c:pt idx="9">
                  <c:v>86.27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00"/>
          <c:min val="7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4"/>
        <c:crosses val="autoZero"/>
        <c:crossBetween val="between"/>
        <c:majorUnit val="5"/>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Real/Fake Acc</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1.0</c:v>
                  </c:pt>
                  <c:pt idx="1">
                    <c:v>0.8</c:v>
                  </c:pt>
                  <c:pt idx="2">
                    <c:v>0.5</c:v>
                  </c:pt>
                  <c:pt idx="3">
                    <c:v>0.2</c:v>
                  </c:pt>
                </c:lvl>
              </c:multiLvlStrCache>
            </c:multiLvlStrRef>
          </c:cat>
          <c:val>
            <c:numRef>
              <c:f>Sheet1!$B$2:$B$5</c:f>
              <c:numCache>
                <c:formatCode>General</c:formatCode>
                <c:ptCount val="4"/>
                <c:pt idx="0">
                  <c:v>87.64</c:v>
                </c:pt>
                <c:pt idx="1">
                  <c:v>91.25</c:v>
                </c:pt>
                <c:pt idx="2">
                  <c:v>90.75</c:v>
                </c:pt>
                <c:pt idx="3">
                  <c:v>89.33</c:v>
                </c:pt>
              </c:numCache>
            </c:numRef>
          </c:val>
        </c:ser>
        <c:ser>
          <c:idx val="1"/>
          <c:order val="1"/>
          <c:tx>
            <c:strRef>
              <c:f>Sheet1!$C$1</c:f>
              <c:strCache>
                <c:ptCount val="1"/>
                <c:pt idx="0">
                  <c:v>Transformation Acc</c:v>
                </c:pt>
              </c:strCache>
            </c:strRef>
          </c:tx>
          <c:spPr>
            <a:solidFill>
              <a:srgbClr val="4F81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1.0</c:v>
                  </c:pt>
                  <c:pt idx="1">
                    <c:v>0.8</c:v>
                  </c:pt>
                  <c:pt idx="2">
                    <c:v>0.5</c:v>
                  </c:pt>
                  <c:pt idx="3">
                    <c:v>0.2</c:v>
                  </c:pt>
                </c:lvl>
              </c:multiLvlStrCache>
            </c:multiLvlStrRef>
          </c:cat>
          <c:val>
            <c:numRef>
              <c:f>Sheet1!$C$2:$C$5</c:f>
              <c:numCache>
                <c:formatCode>General</c:formatCode>
                <c:ptCount val="4"/>
                <c:pt idx="0">
                  <c:v>0</c:v>
                </c:pt>
                <c:pt idx="1">
                  <c:v>80.33</c:v>
                </c:pt>
                <c:pt idx="2">
                  <c:v>84.25</c:v>
                </c:pt>
                <c:pt idx="3">
                  <c:v>84.83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20"/>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Standard MTL</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Overall</c:v>
                  </c:pt>
                  <c:pt idx="1">
                    <c:v>Original</c:v>
                  </c:pt>
                  <c:pt idx="2">
                    <c:v>Transfer</c:v>
                  </c:pt>
                  <c:pt idx="3">
                    <c:v>Redigital</c:v>
                  </c:pt>
                  <c:pt idx="4">
                    <c:v>Trans</c:v>
                  </c:pt>
                </c:lvl>
              </c:multiLvlStrCache>
            </c:multiLvlStrRef>
          </c:cat>
          <c:val>
            <c:numRef>
              <c:f>Sheet1!$B$2:$B$6</c:f>
              <c:numCache>
                <c:formatCode>General</c:formatCode>
                <c:ptCount val="5"/>
                <c:pt idx="0">
                  <c:v>90.17</c:v>
                </c:pt>
                <c:pt idx="1">
                  <c:v>92.22</c:v>
                </c:pt>
                <c:pt idx="2">
                  <c:v>90</c:v>
                </c:pt>
                <c:pt idx="3">
                  <c:v>87.99</c:v>
                </c:pt>
                <c:pt idx="4">
                  <c:v>83.75</c:v>
                </c:pt>
              </c:numCache>
            </c:numRef>
          </c:val>
        </c:ser>
        <c:ser>
          <c:idx val="1"/>
          <c:order val="1"/>
          <c:tx>
            <c:strRef>
              <c:f>Sheet1!$C$1</c:f>
              <c:strCache>
                <c:ptCount val="1"/>
                <c:pt idx="0">
                  <c:v>Artifact-aware</c:v>
                </c:pt>
              </c:strCache>
            </c:strRef>
          </c:tx>
          <c:spPr>
            <a:solidFill>
              <a:srgbClr val="4F81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Overall</c:v>
                  </c:pt>
                  <c:pt idx="1">
                    <c:v>Original</c:v>
                  </c:pt>
                  <c:pt idx="2">
                    <c:v>Transfer</c:v>
                  </c:pt>
                  <c:pt idx="3">
                    <c:v>Redigital</c:v>
                  </c:pt>
                  <c:pt idx="4">
                    <c:v>Trans</c:v>
                  </c:pt>
                </c:lvl>
              </c:multiLvlStrCache>
            </c:multiLvlStrRef>
          </c:cat>
          <c:val>
            <c:numRef>
              <c:f>Sheet1!$C$2:$C$6</c:f>
              <c:numCache>
                <c:formatCode>General</c:formatCode>
                <c:ptCount val="5"/>
                <c:pt idx="0">
                  <c:v>89.33</c:v>
                </c:pt>
                <c:pt idx="1">
                  <c:v>90.39</c:v>
                </c:pt>
                <c:pt idx="2">
                  <c:v>89.74</c:v>
                </c:pt>
                <c:pt idx="3">
                  <c:v>87.73</c:v>
                </c:pt>
                <c:pt idx="4">
                  <c:v>83.08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5"/>
          <c:min val="8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5"/>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25 seconds
Suggested visual: Minimal title slide with a two-head prediction concept diagram.
Speaker notes: Open by framing the problem in one sentence: the project is not only about fake image detection, but about making the detector aware of the image history. Mention that the talk follows a linear path from motivation to method, experiments,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30 seconds
Suggested visual: Vertical workflow and two delivery constraints.
Speaker notes: Briefly introduce the talk structure. Emphasize that the presentation first explains why clean benchmark evaluation is limited, then shows the dataset, the multi-task solution, and the evidence from the ablation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50 seconds
Suggested visual: Cause-effect diagram from clean evaluation to real-world degradation.
Speaker notes: Explain that a detector trained under ideal conditions may perform well on the training distribution but fail when images have gone through realistic transformations. The key hypothesis is that the history of the image is not noise: it can provide useful forensic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45 seconds
Suggested visual: Two-paper context map leading into this project.
Speaker notes: Mention that the notebook explicitly cites two works. The first motivates real-world evaluation for AI-generated image detection; the second is about manipulation detection and grounding. The project positions itself at this intersection: detection plus image-history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50 seconds
Suggested visual: Dataset balance table plus a concise count callout.
Speaker notes: Describe the dataset as the basis for robustness evaluation. Explain the 2 by 3 structure: two image origins and three transformation states. Point out that balance matters because the model should not solve the task by exploiting class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40 seconds
Suggested visual: Two-head multi-task flow diagram.
Speaker notes: State the two predictions clearly. The model receives a single image and must answer two related questions. This is the central design choice: the same backbone is forced to learn features useful for both semantic authenticity and transformation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65 seconds
Suggested visual: Architecture diagram plus the weighted loss equation.
Speaker notes: Explain EfficientNet-B0 as the shared feature extractor. Then explain alpha: if alpha is 1, the transformation loss disappears and the model behaves like the real/fake baseline. Lowering alpha increases the pressure from the transformation task. This directly defines the ablation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50 seconds
Suggested visual: Compact setup table with baseline versus multi-task callout.
Speaker notes: Keep this slide factual. Mention that the same backbone and optimizer are used to make the comparison meaningful. The key experimental contrast is that the baseline uses only original images for real/fake detection, while the multi-task model uses all transformation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55 seconds
Suggested visual: Training versus validation accuracy line chart.
Speaker notes: Interpret the baseline curve. It quickly reaches high training accuracy, but validation does not follow. The plateau and oscillations support the diagnosis from the PDF analysis: the single-task model memorizes patterns from original images rather than improving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70 seconds
Suggested visual: Ablation table and grouped bar chart.
Speaker notes: This is the main quantitative slide. Walk through the table from baseline to alpha 0.2. The important point is not only that alpha 0.8 wins on real/fake accuracy, but that every multi-task version beats the single-task baseline. That supports the complementarity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55 seconds
Suggested visual: Artifact-aware branch diagram and per-category comparison chart.
Speaker notes: Explain this as an additional analysis rather than the main result. The artifact-aware model adds an explicit residual branch. The reported overall accuracy is not always higher, but the key robustness indicator improves: the gap between original and degraded images is smaller. Present this carefully, avoiding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speaking time: 65 seconds
Suggested visual: Three-part closing slide: conclusions, future work, references/checklist.
Speaker notes: Close with the key result: forcing the model to recognize transformation history improves real/fake detection. Mention the best and most balanced alpha settings. Then state the next steps and the practical export checklist required by the presentation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F3D5E"/>
          </a:solidFill>
          <a:ln w="12700">
            <a:solidFill>
              <a:srgbClr val="333333">
                <a:alpha val="0"/>
              </a:srgbClr>
            </a:solidFill>
            <a:prstDash val="solid"/>
          </a:ln>
        </p:spPr>
      </p:sp>
      <p:sp>
        <p:nvSpPr>
          <p:cNvPr id="3" name="Text 1"/>
          <p:cNvSpPr/>
          <p:nvPr/>
        </p:nvSpPr>
        <p:spPr>
          <a:xfrm>
            <a:off x="685800" y="914400"/>
            <a:ext cx="7315200" cy="1143000"/>
          </a:xfrm>
          <a:prstGeom prst="rect">
            <a:avLst/>
          </a:prstGeom>
          <a:noFill/>
          <a:ln/>
        </p:spPr>
        <p:txBody>
          <a:bodyPr wrap="square" lIns="0" tIns="0" rIns="0" bIns="0" rtlCol="0" anchor="ctr">
            <a:normAutofit/>
          </a:bodyPr>
          <a:lstStyle/>
          <a:p>
            <a:pPr indent="0" marL="0">
              <a:buNone/>
            </a:pPr>
            <a:r>
              <a:rPr lang="en-US" sz="3800" b="1" dirty="0">
                <a:solidFill>
                  <a:srgbClr val="111827"/>
                </a:solidFill>
                <a:latin typeface="Aptos Display" pitchFamily="34" charset="0"/>
                <a:ea typeface="Aptos Display" pitchFamily="34" charset="-122"/>
                <a:cs typeface="Aptos Display" pitchFamily="34" charset="-120"/>
              </a:rPr>
              <a:t>Joint Detection of AI-Generated Images and</a:t>
            </a:r>
            <a:endParaRPr lang="en-US" sz="3800" dirty="0"/>
          </a:p>
          <a:p>
            <a:pPr indent="0" marL="0">
              <a:buNone/>
            </a:pPr>
            <a:r>
              <a:rPr lang="en-US" sz="3800" b="1" dirty="0">
                <a:solidFill>
                  <a:srgbClr val="111827"/>
                </a:solidFill>
                <a:latin typeface="Aptos Display" pitchFamily="34" charset="0"/>
                <a:ea typeface="Aptos Display" pitchFamily="34" charset="-122"/>
                <a:cs typeface="Aptos Display" pitchFamily="34" charset="-120"/>
              </a:rPr>
              <a:t>Post-Processing Alterations</a:t>
            </a:r>
            <a:endParaRPr lang="en-US" sz="3800" dirty="0"/>
          </a:p>
        </p:txBody>
      </p:sp>
      <p:sp>
        <p:nvSpPr>
          <p:cNvPr id="4" name="Text 2"/>
          <p:cNvSpPr/>
          <p:nvPr/>
        </p:nvSpPr>
        <p:spPr>
          <a:xfrm>
            <a:off x="713232" y="2377440"/>
            <a:ext cx="6949440" cy="457200"/>
          </a:xfrm>
          <a:prstGeom prst="rect">
            <a:avLst/>
          </a:prstGeom>
          <a:noFill/>
          <a:ln/>
        </p:spPr>
        <p:txBody>
          <a:bodyPr wrap="square" lIns="0" tIns="0" rIns="0" bIns="0" rtlCol="0" anchor="ctr">
            <a:normAutofit/>
          </a:bodyPr>
          <a:lstStyle/>
          <a:p>
            <a:pPr indent="0" marL="0">
              <a:buNone/>
            </a:pPr>
            <a:r>
              <a:rPr lang="en-US" sz="1700" dirty="0">
                <a:solidFill>
                  <a:srgbClr val="4B5563"/>
                </a:solidFill>
                <a:latin typeface="Aptos" pitchFamily="34" charset="0"/>
                <a:ea typeface="Aptos" pitchFamily="34" charset="-122"/>
                <a:cs typeface="Aptos" pitchFamily="34" charset="-120"/>
              </a:rPr>
              <a:t>Detecting whether an image is real or AI-generated while also identifying the applied post-processing transformation.</a:t>
            </a:r>
            <a:endParaRPr lang="en-US" sz="1700" dirty="0"/>
          </a:p>
        </p:txBody>
      </p:sp>
      <p:sp>
        <p:nvSpPr>
          <p:cNvPr id="5" name="Text 3"/>
          <p:cNvSpPr/>
          <p:nvPr/>
        </p:nvSpPr>
        <p:spPr>
          <a:xfrm>
            <a:off x="713232" y="3154680"/>
            <a:ext cx="6583680" cy="292608"/>
          </a:xfrm>
          <a:prstGeom prst="rect">
            <a:avLst/>
          </a:prstGeom>
          <a:noFill/>
          <a:ln/>
        </p:spPr>
        <p:txBody>
          <a:bodyPr wrap="square" lIns="0" tIns="0" rIns="0" bIns="0" rtlCol="0" anchor="ctr"/>
          <a:lstStyle/>
          <a:p>
            <a:pPr indent="0" marL="0">
              <a:buNone/>
            </a:pPr>
            <a:r>
              <a:rPr lang="en-US" sz="1600" b="1" dirty="0">
                <a:solidFill>
                  <a:srgbClr val="0F3D5E"/>
                </a:solidFill>
                <a:latin typeface="Aptos" pitchFamily="34" charset="0"/>
                <a:ea typeface="Aptos" pitchFamily="34" charset="-122"/>
                <a:cs typeface="Aptos" pitchFamily="34" charset="-120"/>
              </a:rPr>
              <a:t>Samuele Civale and Alexandru Vivian Pita</a:t>
            </a:r>
            <a:endParaRPr lang="en-US" sz="1600" dirty="0"/>
          </a:p>
        </p:txBody>
      </p:sp>
      <p:sp>
        <p:nvSpPr>
          <p:cNvPr id="6" name="Text 4"/>
          <p:cNvSpPr/>
          <p:nvPr/>
        </p:nvSpPr>
        <p:spPr>
          <a:xfrm>
            <a:off x="713232" y="3502152"/>
            <a:ext cx="8046720" cy="274320"/>
          </a:xfrm>
          <a:prstGeom prst="rect">
            <a:avLst/>
          </a:prstGeom>
          <a:noFill/>
          <a:ln/>
        </p:spPr>
        <p:txBody>
          <a:bodyPr wrap="square" lIns="0" tIns="0" rIns="0" bIns="0" rtlCol="0" anchor="ctr"/>
          <a:lstStyle/>
          <a:p>
            <a:pPr indent="0" marL="0">
              <a:buNone/>
            </a:pPr>
            <a:r>
              <a:rPr lang="en-US" sz="1300" dirty="0">
                <a:solidFill>
                  <a:srgbClr val="4B5563"/>
                </a:solidFill>
                <a:latin typeface="Aptos" pitchFamily="34" charset="0"/>
                <a:ea typeface="Aptos" pitchFamily="34" charset="-122"/>
                <a:cs typeface="Aptos" pitchFamily="34" charset="-120"/>
              </a:rPr>
              <a:t>Computer Vision Project - [Academic Year / Professor to be completed]</a:t>
            </a:r>
            <a:endParaRPr lang="en-US" sz="1300" dirty="0"/>
          </a:p>
        </p:txBody>
      </p:sp>
      <p:sp>
        <p:nvSpPr>
          <p:cNvPr id="7" name="Shape 5"/>
          <p:cNvSpPr/>
          <p:nvPr/>
        </p:nvSpPr>
        <p:spPr>
          <a:xfrm>
            <a:off x="8321040" y="1207008"/>
            <a:ext cx="1234440" cy="548640"/>
          </a:xfrm>
          <a:prstGeom prst="roundRect">
            <a:avLst>
              <a:gd name="adj" fmla="val 16667"/>
            </a:avLst>
          </a:prstGeom>
          <a:solidFill>
            <a:srgbClr val="F8FAFC"/>
          </a:solidFill>
          <a:ln w="12700">
            <a:solidFill>
              <a:srgbClr val="CBD5E1"/>
            </a:solidFill>
            <a:prstDash val="solid"/>
          </a:ln>
        </p:spPr>
      </p:sp>
      <p:sp>
        <p:nvSpPr>
          <p:cNvPr id="8" name="Text 6"/>
          <p:cNvSpPr/>
          <p:nvPr/>
        </p:nvSpPr>
        <p:spPr>
          <a:xfrm>
            <a:off x="8394192" y="1280160"/>
            <a:ext cx="1088136" cy="402336"/>
          </a:xfrm>
          <a:prstGeom prst="rect">
            <a:avLst/>
          </a:prstGeom>
          <a:noFill/>
          <a:ln/>
        </p:spPr>
        <p:txBody>
          <a:bodyPr wrap="square" lIns="0" tIns="0" rIns="0" bIns="0"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Image</a:t>
            </a:r>
            <a:endParaRPr lang="en-US" sz="1300" dirty="0"/>
          </a:p>
        </p:txBody>
      </p:sp>
      <p:sp>
        <p:nvSpPr>
          <p:cNvPr id="9" name="Shape 7"/>
          <p:cNvSpPr/>
          <p:nvPr/>
        </p:nvSpPr>
        <p:spPr>
          <a:xfrm>
            <a:off x="9555480" y="1481328"/>
            <a:ext cx="548640" cy="0"/>
          </a:xfrm>
          <a:prstGeom prst="line">
            <a:avLst/>
          </a:prstGeom>
          <a:noFill/>
          <a:ln w="25400">
            <a:solidFill>
              <a:srgbClr val="0F3D5E"/>
            </a:solidFill>
            <a:prstDash val="solid"/>
            <a:headEnd type="none"/>
            <a:tailEnd type="triangle"/>
          </a:ln>
        </p:spPr>
      </p:sp>
      <p:sp>
        <p:nvSpPr>
          <p:cNvPr id="10" name="Shape 8"/>
          <p:cNvSpPr/>
          <p:nvPr/>
        </p:nvSpPr>
        <p:spPr>
          <a:xfrm>
            <a:off x="10104120" y="960120"/>
            <a:ext cx="1417320" cy="502920"/>
          </a:xfrm>
          <a:prstGeom prst="roundRect">
            <a:avLst>
              <a:gd name="adj" fmla="val 18182"/>
            </a:avLst>
          </a:prstGeom>
          <a:solidFill>
            <a:srgbClr val="DBEAFE"/>
          </a:solidFill>
          <a:ln w="12700">
            <a:solidFill>
              <a:srgbClr val="CBD5E1"/>
            </a:solidFill>
            <a:prstDash val="solid"/>
          </a:ln>
        </p:spPr>
      </p:sp>
      <p:sp>
        <p:nvSpPr>
          <p:cNvPr id="11" name="Text 9"/>
          <p:cNvSpPr/>
          <p:nvPr/>
        </p:nvSpPr>
        <p:spPr>
          <a:xfrm>
            <a:off x="10177272" y="1033272"/>
            <a:ext cx="1271016" cy="356616"/>
          </a:xfrm>
          <a:prstGeom prst="rect">
            <a:avLst/>
          </a:prstGeom>
          <a:noFill/>
          <a:ln/>
        </p:spPr>
        <p:txBody>
          <a:bodyPr wrap="square" lIns="0" tIns="0" rIns="0" bIns="0" rtlCol="0" anchor="ctr">
            <a:normAutofit/>
          </a:bodyPr>
          <a:lstStyle/>
          <a:p>
            <a:pPr algn="ctr" indent="0" marL="0">
              <a:buNone/>
            </a:pPr>
            <a:r>
              <a:rPr lang="en-US" sz="1200" b="1" dirty="0">
                <a:solidFill>
                  <a:srgbClr val="0F3D5E"/>
                </a:solidFill>
                <a:latin typeface="Aptos" pitchFamily="34" charset="0"/>
                <a:ea typeface="Aptos" pitchFamily="34" charset="-122"/>
                <a:cs typeface="Aptos" pitchFamily="34" charset="-120"/>
              </a:rPr>
              <a:t>Real / Fake</a:t>
            </a:r>
            <a:endParaRPr lang="en-US" sz="1200" dirty="0"/>
          </a:p>
        </p:txBody>
      </p:sp>
      <p:sp>
        <p:nvSpPr>
          <p:cNvPr id="12" name="Shape 10"/>
          <p:cNvSpPr/>
          <p:nvPr/>
        </p:nvSpPr>
        <p:spPr>
          <a:xfrm>
            <a:off x="10104120" y="1664208"/>
            <a:ext cx="1417320" cy="502920"/>
          </a:xfrm>
          <a:prstGeom prst="roundRect">
            <a:avLst>
              <a:gd name="adj" fmla="val 18182"/>
            </a:avLst>
          </a:prstGeom>
          <a:solidFill>
            <a:srgbClr val="FEF3C7"/>
          </a:solidFill>
          <a:ln w="12700">
            <a:solidFill>
              <a:srgbClr val="CBD5E1"/>
            </a:solidFill>
            <a:prstDash val="solid"/>
          </a:ln>
        </p:spPr>
      </p:sp>
      <p:sp>
        <p:nvSpPr>
          <p:cNvPr id="13" name="Text 11"/>
          <p:cNvSpPr/>
          <p:nvPr/>
        </p:nvSpPr>
        <p:spPr>
          <a:xfrm>
            <a:off x="10177272" y="1737360"/>
            <a:ext cx="1271016" cy="356616"/>
          </a:xfrm>
          <a:prstGeom prst="rect">
            <a:avLst/>
          </a:prstGeom>
          <a:noFill/>
          <a:ln/>
        </p:spPr>
        <p:txBody>
          <a:bodyPr wrap="square" lIns="0" tIns="0" rIns="0" bIns="0" rtlCol="0" anchor="ctr">
            <a:normAutofit/>
          </a:bodyPr>
          <a:lstStyle/>
          <a:p>
            <a:pPr algn="ctr" indent="0" marL="0">
              <a:buNone/>
            </a:pPr>
            <a:r>
              <a:rPr lang="en-US" sz="1200" b="1" dirty="0">
                <a:solidFill>
                  <a:srgbClr val="92400E"/>
                </a:solidFill>
                <a:latin typeface="Aptos" pitchFamily="34" charset="0"/>
                <a:ea typeface="Aptos" pitchFamily="34" charset="-122"/>
                <a:cs typeface="Aptos" pitchFamily="34" charset="-120"/>
              </a:rPr>
              <a:t>Transform</a:t>
            </a:r>
            <a:endParaRPr lang="en-US" sz="1200" dirty="0"/>
          </a:p>
        </p:txBody>
      </p:sp>
      <p:sp>
        <p:nvSpPr>
          <p:cNvPr id="14" name="Shape 12"/>
          <p:cNvSpPr/>
          <p:nvPr/>
        </p:nvSpPr>
        <p:spPr>
          <a:xfrm>
            <a:off x="9966960" y="1481328"/>
            <a:ext cx="109728" cy="-228600"/>
          </a:xfrm>
          <a:prstGeom prst="line">
            <a:avLst/>
          </a:prstGeom>
          <a:noFill/>
          <a:ln w="19050">
            <a:solidFill>
              <a:srgbClr val="0F3D5E"/>
            </a:solidFill>
            <a:prstDash val="solid"/>
            <a:tailEnd type="triangle"/>
          </a:ln>
        </p:spPr>
      </p:sp>
      <p:sp>
        <p:nvSpPr>
          <p:cNvPr id="15" name="Shape 13"/>
          <p:cNvSpPr/>
          <p:nvPr/>
        </p:nvSpPr>
        <p:spPr>
          <a:xfrm>
            <a:off x="9966960" y="1481328"/>
            <a:ext cx="109728" cy="365760"/>
          </a:xfrm>
          <a:prstGeom prst="line">
            <a:avLst/>
          </a:prstGeom>
          <a:noFill/>
          <a:ln w="19050">
            <a:solidFill>
              <a:srgbClr val="D97706"/>
            </a:solidFill>
            <a:prstDash val="solid"/>
            <a:tailEnd type="triangle"/>
          </a:ln>
        </p:spPr>
      </p:sp>
      <p:sp>
        <p:nvSpPr>
          <p:cNvPr id="16" name="Text 14"/>
          <p:cNvSpPr/>
          <p:nvPr/>
        </p:nvSpPr>
        <p:spPr>
          <a:xfrm>
            <a:off x="8321040" y="2395728"/>
            <a:ext cx="2926080" cy="228600"/>
          </a:xfrm>
          <a:prstGeom prst="rect">
            <a:avLst/>
          </a:prstGeom>
          <a:noFill/>
          <a:ln/>
        </p:spPr>
        <p:txBody>
          <a:bodyPr wrap="square" lIns="0" tIns="0" rIns="0" bIns="0" rtlCol="0" anchor="ctr"/>
          <a:lstStyle/>
          <a:p>
            <a:pPr algn="ctr" indent="0" marL="0">
              <a:buNone/>
            </a:pPr>
            <a:r>
              <a:rPr lang="en-US" sz="1000" b="1" dirty="0">
                <a:solidFill>
                  <a:srgbClr val="4B5563"/>
                </a:solidFill>
                <a:latin typeface="Aptos" pitchFamily="34" charset="0"/>
                <a:ea typeface="Aptos" pitchFamily="34" charset="-122"/>
                <a:cs typeface="Aptos" pitchFamily="34" charset="-120"/>
              </a:rPr>
              <a:t>Project idea</a:t>
            </a:r>
            <a:endParaRPr lang="en-US" sz="1000" dirty="0"/>
          </a:p>
        </p:txBody>
      </p:sp>
      <p:sp>
        <p:nvSpPr>
          <p:cNvPr id="17" name="Shape 15"/>
          <p:cNvSpPr/>
          <p:nvPr/>
        </p:nvSpPr>
        <p:spPr>
          <a:xfrm>
            <a:off x="502920" y="6473952"/>
            <a:ext cx="11201400" cy="0"/>
          </a:xfrm>
          <a:prstGeom prst="line">
            <a:avLst/>
          </a:prstGeom>
          <a:noFill/>
          <a:ln w="9525">
            <a:solidFill>
              <a:srgbClr val="D1D5DB"/>
            </a:solidFill>
            <a:prstDash val="solid"/>
          </a:ln>
        </p:spPr>
      </p:sp>
      <p:sp>
        <p:nvSpPr>
          <p:cNvPr id="18" name="Text 16"/>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1 / 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Outline</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2 / 12</a:t>
            </a:r>
            <a:endParaRPr lang="en-US" sz="850" dirty="0"/>
          </a:p>
        </p:txBody>
      </p:sp>
      <p:sp>
        <p:nvSpPr>
          <p:cNvPr id="5" name="Shape 3"/>
          <p:cNvSpPr/>
          <p:nvPr/>
        </p:nvSpPr>
        <p:spPr>
          <a:xfrm>
            <a:off x="868680" y="1170432"/>
            <a:ext cx="384048" cy="384048"/>
          </a:xfrm>
          <a:prstGeom prst="ellipse">
            <a:avLst/>
          </a:prstGeom>
          <a:solidFill>
            <a:srgbClr val="0F3D5E"/>
          </a:solidFill>
          <a:ln w="12700">
            <a:solidFill>
              <a:srgbClr val="333333">
                <a:alpha val="0"/>
              </a:srgbClr>
            </a:solidFill>
            <a:prstDash val="solid"/>
          </a:ln>
        </p:spPr>
      </p:sp>
      <p:sp>
        <p:nvSpPr>
          <p:cNvPr id="6" name="Text 4"/>
          <p:cNvSpPr/>
          <p:nvPr/>
        </p:nvSpPr>
        <p:spPr>
          <a:xfrm>
            <a:off x="868680" y="1252728"/>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7" name="Text 5"/>
          <p:cNvSpPr/>
          <p:nvPr/>
        </p:nvSpPr>
        <p:spPr>
          <a:xfrm>
            <a:off x="1417320" y="1216152"/>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Problem and motivation</a:t>
            </a:r>
            <a:endParaRPr lang="en-US" sz="1800" dirty="0"/>
          </a:p>
        </p:txBody>
      </p:sp>
      <p:sp>
        <p:nvSpPr>
          <p:cNvPr id="8" name="Shape 6"/>
          <p:cNvSpPr/>
          <p:nvPr/>
        </p:nvSpPr>
        <p:spPr>
          <a:xfrm>
            <a:off x="1060704" y="1572768"/>
            <a:ext cx="0" cy="301752"/>
          </a:xfrm>
          <a:prstGeom prst="line">
            <a:avLst/>
          </a:prstGeom>
          <a:noFill/>
          <a:ln w="17780">
            <a:solidFill>
              <a:srgbClr val="CBD5E1"/>
            </a:solidFill>
            <a:prstDash val="solid"/>
          </a:ln>
        </p:spPr>
      </p:sp>
      <p:sp>
        <p:nvSpPr>
          <p:cNvPr id="9" name="Shape 7"/>
          <p:cNvSpPr/>
          <p:nvPr/>
        </p:nvSpPr>
        <p:spPr>
          <a:xfrm>
            <a:off x="868680" y="1828800"/>
            <a:ext cx="384048" cy="384048"/>
          </a:xfrm>
          <a:prstGeom prst="ellipse">
            <a:avLst/>
          </a:prstGeom>
          <a:solidFill>
            <a:srgbClr val="0F3D5E"/>
          </a:solidFill>
          <a:ln w="12700">
            <a:solidFill>
              <a:srgbClr val="333333">
                <a:alpha val="0"/>
              </a:srgbClr>
            </a:solidFill>
            <a:prstDash val="solid"/>
          </a:ln>
        </p:spPr>
      </p:sp>
      <p:sp>
        <p:nvSpPr>
          <p:cNvPr id="10" name="Text 8"/>
          <p:cNvSpPr/>
          <p:nvPr/>
        </p:nvSpPr>
        <p:spPr>
          <a:xfrm>
            <a:off x="868680" y="19110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1" name="Text 9"/>
          <p:cNvSpPr/>
          <p:nvPr/>
        </p:nvSpPr>
        <p:spPr>
          <a:xfrm>
            <a:off x="1417320" y="1874520"/>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State of the art</a:t>
            </a:r>
            <a:endParaRPr lang="en-US" sz="1800" dirty="0"/>
          </a:p>
        </p:txBody>
      </p:sp>
      <p:sp>
        <p:nvSpPr>
          <p:cNvPr id="12" name="Shape 10"/>
          <p:cNvSpPr/>
          <p:nvPr/>
        </p:nvSpPr>
        <p:spPr>
          <a:xfrm>
            <a:off x="1060704" y="2231136"/>
            <a:ext cx="0" cy="301752"/>
          </a:xfrm>
          <a:prstGeom prst="line">
            <a:avLst/>
          </a:prstGeom>
          <a:noFill/>
          <a:ln w="17780">
            <a:solidFill>
              <a:srgbClr val="CBD5E1"/>
            </a:solidFill>
            <a:prstDash val="solid"/>
          </a:ln>
        </p:spPr>
      </p:sp>
      <p:sp>
        <p:nvSpPr>
          <p:cNvPr id="13" name="Shape 11"/>
          <p:cNvSpPr/>
          <p:nvPr/>
        </p:nvSpPr>
        <p:spPr>
          <a:xfrm>
            <a:off x="868680" y="2487168"/>
            <a:ext cx="384048" cy="384048"/>
          </a:xfrm>
          <a:prstGeom prst="ellipse">
            <a:avLst/>
          </a:prstGeom>
          <a:solidFill>
            <a:srgbClr val="0F3D5E"/>
          </a:solidFill>
          <a:ln w="12700">
            <a:solidFill>
              <a:srgbClr val="333333">
                <a:alpha val="0"/>
              </a:srgbClr>
            </a:solidFill>
            <a:prstDash val="solid"/>
          </a:ln>
        </p:spPr>
      </p:sp>
      <p:sp>
        <p:nvSpPr>
          <p:cNvPr id="14" name="Text 12"/>
          <p:cNvSpPr/>
          <p:nvPr/>
        </p:nvSpPr>
        <p:spPr>
          <a:xfrm>
            <a:off x="868680" y="2569464"/>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15" name="Text 13"/>
          <p:cNvSpPr/>
          <p:nvPr/>
        </p:nvSpPr>
        <p:spPr>
          <a:xfrm>
            <a:off x="1417320" y="2532888"/>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Dataset and tasks</a:t>
            </a:r>
            <a:endParaRPr lang="en-US" sz="1800" dirty="0"/>
          </a:p>
        </p:txBody>
      </p:sp>
      <p:sp>
        <p:nvSpPr>
          <p:cNvPr id="16" name="Shape 14"/>
          <p:cNvSpPr/>
          <p:nvPr/>
        </p:nvSpPr>
        <p:spPr>
          <a:xfrm>
            <a:off x="1060704" y="2889504"/>
            <a:ext cx="0" cy="301752"/>
          </a:xfrm>
          <a:prstGeom prst="line">
            <a:avLst/>
          </a:prstGeom>
          <a:noFill/>
          <a:ln w="17780">
            <a:solidFill>
              <a:srgbClr val="CBD5E1"/>
            </a:solidFill>
            <a:prstDash val="solid"/>
          </a:ln>
        </p:spPr>
      </p:sp>
      <p:sp>
        <p:nvSpPr>
          <p:cNvPr id="17" name="Shape 15"/>
          <p:cNvSpPr/>
          <p:nvPr/>
        </p:nvSpPr>
        <p:spPr>
          <a:xfrm>
            <a:off x="868680" y="3145536"/>
            <a:ext cx="384048" cy="384048"/>
          </a:xfrm>
          <a:prstGeom prst="ellipse">
            <a:avLst/>
          </a:prstGeom>
          <a:solidFill>
            <a:srgbClr val="0F3D5E"/>
          </a:solidFill>
          <a:ln w="12700">
            <a:solidFill>
              <a:srgbClr val="333333">
                <a:alpha val="0"/>
              </a:srgbClr>
            </a:solidFill>
            <a:prstDash val="solid"/>
          </a:ln>
        </p:spPr>
      </p:sp>
      <p:sp>
        <p:nvSpPr>
          <p:cNvPr id="18" name="Text 16"/>
          <p:cNvSpPr/>
          <p:nvPr/>
        </p:nvSpPr>
        <p:spPr>
          <a:xfrm>
            <a:off x="868680" y="3227832"/>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19" name="Text 17"/>
          <p:cNvSpPr/>
          <p:nvPr/>
        </p:nvSpPr>
        <p:spPr>
          <a:xfrm>
            <a:off x="1417320" y="3191256"/>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Proposed multi-task method</a:t>
            </a:r>
            <a:endParaRPr lang="en-US" sz="1800" dirty="0"/>
          </a:p>
        </p:txBody>
      </p:sp>
      <p:sp>
        <p:nvSpPr>
          <p:cNvPr id="20" name="Shape 18"/>
          <p:cNvSpPr/>
          <p:nvPr/>
        </p:nvSpPr>
        <p:spPr>
          <a:xfrm>
            <a:off x="1060704" y="3547872"/>
            <a:ext cx="0" cy="301752"/>
          </a:xfrm>
          <a:prstGeom prst="line">
            <a:avLst/>
          </a:prstGeom>
          <a:noFill/>
          <a:ln w="17780">
            <a:solidFill>
              <a:srgbClr val="CBD5E1"/>
            </a:solidFill>
            <a:prstDash val="solid"/>
          </a:ln>
        </p:spPr>
      </p:sp>
      <p:sp>
        <p:nvSpPr>
          <p:cNvPr id="21" name="Shape 19"/>
          <p:cNvSpPr/>
          <p:nvPr/>
        </p:nvSpPr>
        <p:spPr>
          <a:xfrm>
            <a:off x="868680" y="3803904"/>
            <a:ext cx="384048" cy="384048"/>
          </a:xfrm>
          <a:prstGeom prst="ellipse">
            <a:avLst/>
          </a:prstGeom>
          <a:solidFill>
            <a:srgbClr val="0F3D5E"/>
          </a:solidFill>
          <a:ln w="12700">
            <a:solidFill>
              <a:srgbClr val="333333">
                <a:alpha val="0"/>
              </a:srgbClr>
            </a:solidFill>
            <a:prstDash val="solid"/>
          </a:ln>
        </p:spPr>
      </p:sp>
      <p:sp>
        <p:nvSpPr>
          <p:cNvPr id="22" name="Text 20"/>
          <p:cNvSpPr/>
          <p:nvPr/>
        </p:nvSpPr>
        <p:spPr>
          <a:xfrm>
            <a:off x="868680" y="3886200"/>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23" name="Text 21"/>
          <p:cNvSpPr/>
          <p:nvPr/>
        </p:nvSpPr>
        <p:spPr>
          <a:xfrm>
            <a:off x="1417320" y="3849624"/>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Experimental setup</a:t>
            </a:r>
            <a:endParaRPr lang="en-US" sz="1800" dirty="0"/>
          </a:p>
        </p:txBody>
      </p:sp>
      <p:sp>
        <p:nvSpPr>
          <p:cNvPr id="24" name="Shape 22"/>
          <p:cNvSpPr/>
          <p:nvPr/>
        </p:nvSpPr>
        <p:spPr>
          <a:xfrm>
            <a:off x="1060704" y="4206240"/>
            <a:ext cx="0" cy="301752"/>
          </a:xfrm>
          <a:prstGeom prst="line">
            <a:avLst/>
          </a:prstGeom>
          <a:noFill/>
          <a:ln w="17780">
            <a:solidFill>
              <a:srgbClr val="CBD5E1"/>
            </a:solidFill>
            <a:prstDash val="solid"/>
          </a:ln>
        </p:spPr>
      </p:sp>
      <p:sp>
        <p:nvSpPr>
          <p:cNvPr id="25" name="Shape 23"/>
          <p:cNvSpPr/>
          <p:nvPr/>
        </p:nvSpPr>
        <p:spPr>
          <a:xfrm>
            <a:off x="868680" y="4462272"/>
            <a:ext cx="384048" cy="384048"/>
          </a:xfrm>
          <a:prstGeom prst="ellipse">
            <a:avLst/>
          </a:prstGeom>
          <a:solidFill>
            <a:srgbClr val="0F3D5E"/>
          </a:solidFill>
          <a:ln w="12700">
            <a:solidFill>
              <a:srgbClr val="333333">
                <a:alpha val="0"/>
              </a:srgbClr>
            </a:solidFill>
            <a:prstDash val="solid"/>
          </a:ln>
        </p:spPr>
      </p:sp>
      <p:sp>
        <p:nvSpPr>
          <p:cNvPr id="26" name="Text 24"/>
          <p:cNvSpPr/>
          <p:nvPr/>
        </p:nvSpPr>
        <p:spPr>
          <a:xfrm>
            <a:off x="868680" y="4544568"/>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27" name="Text 25"/>
          <p:cNvSpPr/>
          <p:nvPr/>
        </p:nvSpPr>
        <p:spPr>
          <a:xfrm>
            <a:off x="1417320" y="4507992"/>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Results and ablation</a:t>
            </a:r>
            <a:endParaRPr lang="en-US" sz="1800" dirty="0"/>
          </a:p>
        </p:txBody>
      </p:sp>
      <p:sp>
        <p:nvSpPr>
          <p:cNvPr id="28" name="Shape 26"/>
          <p:cNvSpPr/>
          <p:nvPr/>
        </p:nvSpPr>
        <p:spPr>
          <a:xfrm>
            <a:off x="1060704" y="4864608"/>
            <a:ext cx="0" cy="301752"/>
          </a:xfrm>
          <a:prstGeom prst="line">
            <a:avLst/>
          </a:prstGeom>
          <a:noFill/>
          <a:ln w="17780">
            <a:solidFill>
              <a:srgbClr val="CBD5E1"/>
            </a:solidFill>
            <a:prstDash val="solid"/>
          </a:ln>
        </p:spPr>
      </p:sp>
      <p:sp>
        <p:nvSpPr>
          <p:cNvPr id="29" name="Shape 27"/>
          <p:cNvSpPr/>
          <p:nvPr/>
        </p:nvSpPr>
        <p:spPr>
          <a:xfrm>
            <a:off x="868680" y="5120640"/>
            <a:ext cx="384048" cy="384048"/>
          </a:xfrm>
          <a:prstGeom prst="ellipse">
            <a:avLst/>
          </a:prstGeom>
          <a:solidFill>
            <a:srgbClr val="0F3D5E"/>
          </a:solidFill>
          <a:ln w="12700">
            <a:solidFill>
              <a:srgbClr val="333333">
                <a:alpha val="0"/>
              </a:srgbClr>
            </a:solidFill>
            <a:prstDash val="solid"/>
          </a:ln>
        </p:spPr>
      </p:sp>
      <p:sp>
        <p:nvSpPr>
          <p:cNvPr id="30" name="Text 28"/>
          <p:cNvSpPr/>
          <p:nvPr/>
        </p:nvSpPr>
        <p:spPr>
          <a:xfrm>
            <a:off x="868680" y="52029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7</a:t>
            </a:r>
            <a:endParaRPr lang="en-US" sz="1000" dirty="0"/>
          </a:p>
        </p:txBody>
      </p:sp>
      <p:sp>
        <p:nvSpPr>
          <p:cNvPr id="31" name="Text 29"/>
          <p:cNvSpPr/>
          <p:nvPr/>
        </p:nvSpPr>
        <p:spPr>
          <a:xfrm>
            <a:off x="1417320" y="5166360"/>
            <a:ext cx="4572000" cy="274320"/>
          </a:xfrm>
          <a:prstGeom prst="rect">
            <a:avLst/>
          </a:prstGeom>
          <a:noFill/>
          <a:ln/>
        </p:spPr>
        <p:txBody>
          <a:bodyPr wrap="square" lIns="0" tIns="0" rIns="0" bIns="0" rtlCol="0" anchor="ctr"/>
          <a:lstStyle/>
          <a:p>
            <a:pPr indent="0" marL="0">
              <a:buNone/>
            </a:pPr>
            <a:r>
              <a:rPr lang="en-US" sz="1800" dirty="0">
                <a:solidFill>
                  <a:srgbClr val="111827"/>
                </a:solidFill>
                <a:latin typeface="Aptos" pitchFamily="34" charset="0"/>
                <a:ea typeface="Aptos" pitchFamily="34" charset="-122"/>
                <a:cs typeface="Aptos" pitchFamily="34" charset="-120"/>
              </a:rPr>
              <a:t>Conclusions and future work</a:t>
            </a:r>
            <a:endParaRPr lang="en-US" sz="1800" dirty="0"/>
          </a:p>
        </p:txBody>
      </p:sp>
      <p:sp>
        <p:nvSpPr>
          <p:cNvPr id="32" name="Shape 30"/>
          <p:cNvSpPr/>
          <p:nvPr/>
        </p:nvSpPr>
        <p:spPr>
          <a:xfrm>
            <a:off x="6903720" y="1828800"/>
            <a:ext cx="4023360" cy="1143000"/>
          </a:xfrm>
          <a:prstGeom prst="roundRect">
            <a:avLst>
              <a:gd name="adj" fmla="val 9600"/>
            </a:avLst>
          </a:prstGeom>
          <a:solidFill>
            <a:srgbClr val="F8FAFC"/>
          </a:solidFill>
          <a:ln w="12700">
            <a:solidFill>
              <a:srgbClr val="F8FAFC">
                <a:alpha val="0"/>
              </a:srgbClr>
            </a:solidFill>
            <a:prstDash val="solid"/>
          </a:ln>
        </p:spPr>
      </p:sp>
      <p:sp>
        <p:nvSpPr>
          <p:cNvPr id="33" name="Text 31"/>
          <p:cNvSpPr/>
          <p:nvPr/>
        </p:nvSpPr>
        <p:spPr>
          <a:xfrm>
            <a:off x="7013448" y="1938528"/>
            <a:ext cx="3803904" cy="923544"/>
          </a:xfrm>
          <a:prstGeom prst="rect">
            <a:avLst/>
          </a:prstGeom>
          <a:noFill/>
          <a:ln/>
        </p:spPr>
        <p:txBody>
          <a:bodyPr wrap="square" lIns="0" tIns="0" rIns="0" bIns="0" rtlCol="0" anchor="ctr">
            <a:normAutofit/>
          </a:bodyPr>
          <a:lstStyle/>
          <a:p>
            <a:pPr algn="ctr" indent="0" marL="0">
              <a:buNone/>
            </a:pPr>
            <a:r>
              <a:rPr lang="en-US" sz="1700" b="1" dirty="0">
                <a:solidFill>
                  <a:srgbClr val="111827"/>
                </a:solidFill>
                <a:latin typeface="Aptos" pitchFamily="34" charset="0"/>
                <a:ea typeface="Aptos" pitchFamily="34" charset="-122"/>
                <a:cs typeface="Aptos" pitchFamily="34" charset="-120"/>
              </a:rPr>
              <a:t>10-minute narrative:</a:t>
            </a:r>
            <a:endParaRPr lang="en-US" sz="1700" dirty="0"/>
          </a:p>
          <a:p>
            <a:pPr algn="ctr" indent="0" marL="0">
              <a:buNone/>
            </a:pPr>
            <a:r>
              <a:rPr lang="en-US" sz="1700" b="1" dirty="0">
                <a:solidFill>
                  <a:srgbClr val="111827"/>
                </a:solidFill>
                <a:latin typeface="Aptos" pitchFamily="34" charset="0"/>
                <a:ea typeface="Aptos" pitchFamily="34" charset="-122"/>
                <a:cs typeface="Aptos" pitchFamily="34" charset="-120"/>
              </a:rPr>
              <a:t>problem -&gt; evidence -&gt; method -&gt; results</a:t>
            </a:r>
            <a:endParaRPr lang="en-US" sz="1700" dirty="0"/>
          </a:p>
        </p:txBody>
      </p:sp>
      <p:sp>
        <p:nvSpPr>
          <p:cNvPr id="34" name="Shape 32"/>
          <p:cNvSpPr/>
          <p:nvPr/>
        </p:nvSpPr>
        <p:spPr>
          <a:xfrm>
            <a:off x="7360920" y="3401568"/>
            <a:ext cx="3108960" cy="548640"/>
          </a:xfrm>
          <a:prstGeom prst="roundRect">
            <a:avLst>
              <a:gd name="adj" fmla="val 16667"/>
            </a:avLst>
          </a:prstGeom>
          <a:solidFill>
            <a:srgbClr val="ECFDF5"/>
          </a:solidFill>
          <a:ln w="12700">
            <a:solidFill>
              <a:srgbClr val="CBD5E1"/>
            </a:solidFill>
            <a:prstDash val="solid"/>
          </a:ln>
        </p:spPr>
      </p:sp>
      <p:sp>
        <p:nvSpPr>
          <p:cNvPr id="35" name="Text 33"/>
          <p:cNvSpPr/>
          <p:nvPr/>
        </p:nvSpPr>
        <p:spPr>
          <a:xfrm>
            <a:off x="7434072" y="3474720"/>
            <a:ext cx="2962656" cy="402336"/>
          </a:xfrm>
          <a:prstGeom prst="rect">
            <a:avLst/>
          </a:prstGeom>
          <a:noFill/>
          <a:ln/>
        </p:spPr>
        <p:txBody>
          <a:bodyPr wrap="square" lIns="0" tIns="0" rIns="0" bIns="0" rtlCol="0" anchor="ctr">
            <a:normAutofit/>
          </a:bodyPr>
          <a:lstStyle/>
          <a:p>
            <a:pPr algn="ctr" indent="0" marL="0">
              <a:buNone/>
            </a:pPr>
            <a:r>
              <a:rPr lang="en-US" sz="1400" b="1" dirty="0">
                <a:solidFill>
                  <a:srgbClr val="15803D"/>
                </a:solidFill>
                <a:latin typeface="Aptos" pitchFamily="34" charset="0"/>
                <a:ea typeface="Aptos" pitchFamily="34" charset="-122"/>
                <a:cs typeface="Aptos" pitchFamily="34" charset="-120"/>
              </a:rPr>
              <a:t>No backward jumps</a:t>
            </a:r>
            <a:endParaRPr lang="en-US" sz="1400" dirty="0"/>
          </a:p>
        </p:txBody>
      </p:sp>
      <p:sp>
        <p:nvSpPr>
          <p:cNvPr id="36" name="Shape 34"/>
          <p:cNvSpPr/>
          <p:nvPr/>
        </p:nvSpPr>
        <p:spPr>
          <a:xfrm>
            <a:off x="7360920" y="4160520"/>
            <a:ext cx="3108960" cy="548640"/>
          </a:xfrm>
          <a:prstGeom prst="roundRect">
            <a:avLst>
              <a:gd name="adj" fmla="val 16667"/>
            </a:avLst>
          </a:prstGeom>
          <a:solidFill>
            <a:srgbClr val="DBEAFE"/>
          </a:solidFill>
          <a:ln w="12700">
            <a:solidFill>
              <a:srgbClr val="CBD5E1"/>
            </a:solidFill>
            <a:prstDash val="solid"/>
          </a:ln>
        </p:spPr>
      </p:sp>
      <p:sp>
        <p:nvSpPr>
          <p:cNvPr id="37" name="Text 35"/>
          <p:cNvSpPr/>
          <p:nvPr/>
        </p:nvSpPr>
        <p:spPr>
          <a:xfrm>
            <a:off x="7434072" y="4233672"/>
            <a:ext cx="2962656" cy="402336"/>
          </a:xfrm>
          <a:prstGeom prst="rect">
            <a:avLst/>
          </a:prstGeom>
          <a:noFill/>
          <a:ln/>
        </p:spPr>
        <p:txBody>
          <a:bodyPr wrap="square" lIns="0" tIns="0" rIns="0" bIns="0" rtlCol="0" anchor="ctr">
            <a:normAutofit/>
          </a:bodyPr>
          <a:lstStyle/>
          <a:p>
            <a:pPr algn="ctr" indent="0" marL="0">
              <a:buNone/>
            </a:pPr>
            <a:r>
              <a:rPr lang="en-US" sz="1400" b="1" dirty="0">
                <a:solidFill>
                  <a:srgbClr val="0F3D5E"/>
                </a:solidFill>
                <a:latin typeface="Aptos" pitchFamily="34" charset="0"/>
                <a:ea typeface="Aptos" pitchFamily="34" charset="-122"/>
                <a:cs typeface="Aptos" pitchFamily="34" charset="-120"/>
              </a:rPr>
              <a:t>12 slides + speaker notes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Problem Statement</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3 / 12</a:t>
            </a:r>
            <a:endParaRPr lang="en-US" sz="850" dirty="0"/>
          </a:p>
        </p:txBody>
      </p:sp>
      <p:sp>
        <p:nvSpPr>
          <p:cNvPr id="5" name="Text 3"/>
          <p:cNvSpPr/>
          <p:nvPr/>
        </p:nvSpPr>
        <p:spPr>
          <a:xfrm>
            <a:off x="685800" y="1005840"/>
            <a:ext cx="201168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MOTIVATION</a:t>
            </a:r>
            <a:endParaRPr lang="en-US" sz="900" dirty="0"/>
          </a:p>
        </p:txBody>
      </p:sp>
      <p:sp>
        <p:nvSpPr>
          <p:cNvPr id="6" name="Text 4"/>
          <p:cNvSpPr/>
          <p:nvPr/>
        </p:nvSpPr>
        <p:spPr>
          <a:xfrm>
            <a:off x="685800" y="1371600"/>
            <a:ext cx="5852160" cy="3017520"/>
          </a:xfrm>
          <a:prstGeom prst="rect">
            <a:avLst/>
          </a:prstGeom>
          <a:noFill/>
          <a:ln/>
        </p:spPr>
        <p:txBody>
          <a:bodyPr wrap="square" rtlCol="0" anchor="ctr">
            <a:normAutofit/>
          </a:bodyPr>
          <a:lstStyle/>
          <a:p>
            <a:r>
              <a:rPr lang="en-US" sz="1600" dirty="0">
                <a:solidFill>
                  <a:srgbClr val="111827"/>
                </a:solidFill>
                <a:latin typeface="Aptos" pitchFamily="34" charset="0"/>
                <a:ea typeface="Aptos" pitchFamily="34" charset="-122"/>
                <a:cs typeface="Aptos" pitchFamily="34" charset="-120"/>
              </a:rPr>
              <a:t>AI-generated image detectors are often evaluated on clean, ideal images.</a:t>
            </a:r>
            <a:endParaRPr lang="en-US" sz="1600" dirty="0"/>
          </a:p>
          <a:p>
            <a:r>
              <a:rPr lang="en-US" sz="1600" dirty="0">
                <a:solidFill>
                  <a:srgbClr val="111827"/>
                </a:solidFill>
                <a:latin typeface="Aptos" pitchFamily="34" charset="0"/>
                <a:ea typeface="Aptos" pitchFamily="34" charset="-122"/>
                <a:cs typeface="Aptos" pitchFamily="34" charset="-120"/>
              </a:rPr>
              <a:t>Real-world images are frequently compressed, transmitted online, or re-digitized.</a:t>
            </a:r>
            <a:endParaRPr lang="en-US" sz="1600" dirty="0"/>
          </a:p>
          <a:p>
            <a:r>
              <a:rPr lang="en-US" sz="1600" dirty="0">
                <a:solidFill>
                  <a:srgbClr val="111827"/>
                </a:solidFill>
                <a:latin typeface="Aptos" pitchFamily="34" charset="0"/>
                <a:ea typeface="Aptos" pitchFamily="34" charset="-122"/>
                <a:cs typeface="Aptos" pitchFamily="34" charset="-120"/>
              </a:rPr>
              <a:t>Post-processing can introduce artifacts that confuse real/fake decisions.</a:t>
            </a:r>
            <a:endParaRPr lang="en-US" sz="1600" dirty="0"/>
          </a:p>
          <a:p>
            <a:r>
              <a:rPr lang="en-US" sz="1600" dirty="0">
                <a:solidFill>
                  <a:srgbClr val="111827"/>
                </a:solidFill>
                <a:latin typeface="Aptos" pitchFamily="34" charset="0"/>
                <a:ea typeface="Aptos" pitchFamily="34" charset="-122"/>
                <a:cs typeface="Aptos" pitchFamily="34" charset="-120"/>
              </a:rPr>
              <a:t>Core question: can robustness improve by learning both real/fake and transformation labels?</a:t>
            </a:r>
            <a:endParaRPr lang="en-US" sz="1600" dirty="0"/>
          </a:p>
        </p:txBody>
      </p:sp>
      <p:sp>
        <p:nvSpPr>
          <p:cNvPr id="7" name="Shape 5"/>
          <p:cNvSpPr/>
          <p:nvPr/>
        </p:nvSpPr>
        <p:spPr>
          <a:xfrm>
            <a:off x="7040880" y="1828800"/>
            <a:ext cx="1463040" cy="0"/>
          </a:xfrm>
          <a:prstGeom prst="line">
            <a:avLst/>
          </a:prstGeom>
          <a:noFill/>
          <a:ln w="25400">
            <a:solidFill>
              <a:srgbClr val="B91C1C"/>
            </a:solidFill>
            <a:prstDash val="solid"/>
            <a:headEnd type="none"/>
            <a:tailEnd type="triangle"/>
          </a:ln>
        </p:spPr>
      </p:sp>
      <p:sp>
        <p:nvSpPr>
          <p:cNvPr id="8" name="Shape 6"/>
          <p:cNvSpPr/>
          <p:nvPr/>
        </p:nvSpPr>
        <p:spPr>
          <a:xfrm>
            <a:off x="6720840" y="1417320"/>
            <a:ext cx="1417320" cy="822960"/>
          </a:xfrm>
          <a:prstGeom prst="roundRect">
            <a:avLst>
              <a:gd name="adj" fmla="val 11111"/>
            </a:avLst>
          </a:prstGeom>
          <a:solidFill>
            <a:srgbClr val="F8FAFC"/>
          </a:solidFill>
          <a:ln w="12700">
            <a:solidFill>
              <a:srgbClr val="CBD5E1"/>
            </a:solidFill>
            <a:prstDash val="solid"/>
          </a:ln>
        </p:spPr>
      </p:sp>
      <p:sp>
        <p:nvSpPr>
          <p:cNvPr id="9" name="Text 7"/>
          <p:cNvSpPr/>
          <p:nvPr/>
        </p:nvSpPr>
        <p:spPr>
          <a:xfrm>
            <a:off x="6793992" y="1490472"/>
            <a:ext cx="1271016" cy="676656"/>
          </a:xfrm>
          <a:prstGeom prst="rect">
            <a:avLst/>
          </a:prstGeom>
          <a:noFill/>
          <a:ln/>
        </p:spPr>
        <p:txBody>
          <a:bodyPr wrap="square" lIns="0" tIns="0" rIns="0" bIns="0" rtlCol="0" anchor="ctr">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Clean benchmark</a:t>
            </a:r>
            <a:endParaRPr lang="en-US" sz="1200" dirty="0"/>
          </a:p>
          <a:p>
            <a:pPr algn="ctr" indent="0" marL="0">
              <a:buNone/>
            </a:pPr>
            <a:r>
              <a:rPr lang="en-US" sz="1200" b="1" dirty="0">
                <a:solidFill>
                  <a:srgbClr val="111827"/>
                </a:solidFill>
                <a:latin typeface="Aptos" pitchFamily="34" charset="0"/>
                <a:ea typeface="Aptos" pitchFamily="34" charset="-122"/>
                <a:cs typeface="Aptos" pitchFamily="34" charset="-120"/>
              </a:rPr>
              <a:t>image</a:t>
            </a:r>
            <a:endParaRPr lang="en-US" sz="1200" dirty="0"/>
          </a:p>
        </p:txBody>
      </p:sp>
      <p:sp>
        <p:nvSpPr>
          <p:cNvPr id="10" name="Shape 8"/>
          <p:cNvSpPr/>
          <p:nvPr/>
        </p:nvSpPr>
        <p:spPr>
          <a:xfrm>
            <a:off x="8641080" y="1417320"/>
            <a:ext cx="1554480" cy="822960"/>
          </a:xfrm>
          <a:prstGeom prst="roundRect">
            <a:avLst>
              <a:gd name="adj" fmla="val 11111"/>
            </a:avLst>
          </a:prstGeom>
          <a:solidFill>
            <a:srgbClr val="FEF2F2"/>
          </a:solidFill>
          <a:ln w="12700">
            <a:solidFill>
              <a:srgbClr val="CBD5E1"/>
            </a:solidFill>
            <a:prstDash val="solid"/>
          </a:ln>
        </p:spPr>
      </p:sp>
      <p:sp>
        <p:nvSpPr>
          <p:cNvPr id="11" name="Text 9"/>
          <p:cNvSpPr/>
          <p:nvPr/>
        </p:nvSpPr>
        <p:spPr>
          <a:xfrm>
            <a:off x="8714232" y="1490472"/>
            <a:ext cx="1408176" cy="676656"/>
          </a:xfrm>
          <a:prstGeom prst="rect">
            <a:avLst/>
          </a:prstGeom>
          <a:noFill/>
          <a:ln/>
        </p:spPr>
        <p:txBody>
          <a:bodyPr wrap="square" lIns="0" tIns="0" rIns="0" bIns="0" rtlCol="0" anchor="ctr">
            <a:normAutofit/>
          </a:bodyPr>
          <a:lstStyle/>
          <a:p>
            <a:pPr algn="ctr" indent="0" marL="0">
              <a:buNone/>
            </a:pPr>
            <a:r>
              <a:rPr lang="en-US" sz="1200" b="1" dirty="0">
                <a:solidFill>
                  <a:srgbClr val="B91C1C"/>
                </a:solidFill>
                <a:latin typeface="Aptos" pitchFamily="34" charset="0"/>
                <a:ea typeface="Aptos" pitchFamily="34" charset="-122"/>
                <a:cs typeface="Aptos" pitchFamily="34" charset="-120"/>
              </a:rPr>
              <a:t>Online / scanned</a:t>
            </a:r>
            <a:endParaRPr lang="en-US" sz="1200" dirty="0"/>
          </a:p>
          <a:p>
            <a:pPr algn="ctr" indent="0" marL="0">
              <a:buNone/>
            </a:pPr>
            <a:r>
              <a:rPr lang="en-US" sz="1200" b="1" dirty="0">
                <a:solidFill>
                  <a:srgbClr val="B91C1C"/>
                </a:solidFill>
                <a:latin typeface="Aptos" pitchFamily="34" charset="0"/>
                <a:ea typeface="Aptos" pitchFamily="34" charset="-122"/>
                <a:cs typeface="Aptos" pitchFamily="34" charset="-120"/>
              </a:rPr>
              <a:t>image history</a:t>
            </a:r>
            <a:endParaRPr lang="en-US" sz="1200" dirty="0"/>
          </a:p>
        </p:txBody>
      </p:sp>
      <p:sp>
        <p:nvSpPr>
          <p:cNvPr id="12" name="Shape 10"/>
          <p:cNvSpPr/>
          <p:nvPr/>
        </p:nvSpPr>
        <p:spPr>
          <a:xfrm>
            <a:off x="7635240" y="2971800"/>
            <a:ext cx="1325880" cy="0"/>
          </a:xfrm>
          <a:prstGeom prst="line">
            <a:avLst/>
          </a:prstGeom>
          <a:noFill/>
          <a:ln w="25400">
            <a:solidFill>
              <a:srgbClr val="0F3D5E"/>
            </a:solidFill>
            <a:prstDash val="solid"/>
            <a:headEnd type="none"/>
            <a:tailEnd type="triangle"/>
          </a:ln>
        </p:spPr>
      </p:sp>
      <p:sp>
        <p:nvSpPr>
          <p:cNvPr id="13" name="Shape 11"/>
          <p:cNvSpPr/>
          <p:nvPr/>
        </p:nvSpPr>
        <p:spPr>
          <a:xfrm>
            <a:off x="6720840" y="2578608"/>
            <a:ext cx="1417320" cy="777240"/>
          </a:xfrm>
          <a:prstGeom prst="roundRect">
            <a:avLst>
              <a:gd name="adj" fmla="val 11765"/>
            </a:avLst>
          </a:prstGeom>
          <a:solidFill>
            <a:srgbClr val="DBEAFE"/>
          </a:solidFill>
          <a:ln w="12700">
            <a:solidFill>
              <a:srgbClr val="CBD5E1"/>
            </a:solidFill>
            <a:prstDash val="solid"/>
          </a:ln>
        </p:spPr>
      </p:sp>
      <p:sp>
        <p:nvSpPr>
          <p:cNvPr id="14" name="Text 12"/>
          <p:cNvSpPr/>
          <p:nvPr/>
        </p:nvSpPr>
        <p:spPr>
          <a:xfrm>
            <a:off x="6793992" y="2651760"/>
            <a:ext cx="1271016" cy="630936"/>
          </a:xfrm>
          <a:prstGeom prst="rect">
            <a:avLst/>
          </a:prstGeom>
          <a:noFill/>
          <a:ln/>
        </p:spPr>
        <p:txBody>
          <a:bodyPr wrap="square" lIns="0" tIns="0" rIns="0" bIns="0" rtlCol="0" anchor="ctr">
            <a:normAutofit/>
          </a:bodyPr>
          <a:lstStyle/>
          <a:p>
            <a:pPr algn="ctr" indent="0" marL="0">
              <a:buNone/>
            </a:pPr>
            <a:r>
              <a:rPr lang="en-US" sz="1200" b="1" dirty="0">
                <a:solidFill>
                  <a:srgbClr val="0F3D5E"/>
                </a:solidFill>
                <a:latin typeface="Aptos" pitchFamily="34" charset="0"/>
                <a:ea typeface="Aptos" pitchFamily="34" charset="-122"/>
                <a:cs typeface="Aptos" pitchFamily="34" charset="-120"/>
              </a:rPr>
              <a:t>Single-task</a:t>
            </a:r>
            <a:endParaRPr lang="en-US" sz="1200" dirty="0"/>
          </a:p>
          <a:p>
            <a:pPr algn="ctr" indent="0" marL="0">
              <a:buNone/>
            </a:pPr>
            <a:r>
              <a:rPr lang="en-US" sz="1200" b="1" dirty="0">
                <a:solidFill>
                  <a:srgbClr val="0F3D5E"/>
                </a:solidFill>
                <a:latin typeface="Aptos" pitchFamily="34" charset="0"/>
                <a:ea typeface="Aptos" pitchFamily="34" charset="-122"/>
                <a:cs typeface="Aptos" pitchFamily="34" charset="-120"/>
              </a:rPr>
              <a:t>detector</a:t>
            </a:r>
            <a:endParaRPr lang="en-US" sz="1200" dirty="0"/>
          </a:p>
        </p:txBody>
      </p:sp>
      <p:sp>
        <p:nvSpPr>
          <p:cNvPr id="15" name="Shape 13"/>
          <p:cNvSpPr/>
          <p:nvPr/>
        </p:nvSpPr>
        <p:spPr>
          <a:xfrm>
            <a:off x="8641080" y="2578608"/>
            <a:ext cx="1554480" cy="777240"/>
          </a:xfrm>
          <a:prstGeom prst="roundRect">
            <a:avLst>
              <a:gd name="adj" fmla="val 11765"/>
            </a:avLst>
          </a:prstGeom>
          <a:solidFill>
            <a:srgbClr val="FEF3C7"/>
          </a:solidFill>
          <a:ln w="12700">
            <a:solidFill>
              <a:srgbClr val="CBD5E1"/>
            </a:solidFill>
            <a:prstDash val="solid"/>
          </a:ln>
        </p:spPr>
      </p:sp>
      <p:sp>
        <p:nvSpPr>
          <p:cNvPr id="16" name="Text 14"/>
          <p:cNvSpPr/>
          <p:nvPr/>
        </p:nvSpPr>
        <p:spPr>
          <a:xfrm>
            <a:off x="8714232" y="2651760"/>
            <a:ext cx="1408176" cy="630936"/>
          </a:xfrm>
          <a:prstGeom prst="rect">
            <a:avLst/>
          </a:prstGeom>
          <a:noFill/>
          <a:ln/>
        </p:spPr>
        <p:txBody>
          <a:bodyPr wrap="square" lIns="0" tIns="0" rIns="0" bIns="0" rtlCol="0" anchor="ctr">
            <a:normAutofit/>
          </a:bodyPr>
          <a:lstStyle/>
          <a:p>
            <a:pPr algn="ctr" indent="0" marL="0">
              <a:buNone/>
            </a:pPr>
            <a:r>
              <a:rPr lang="en-US" sz="1200" b="1" dirty="0">
                <a:solidFill>
                  <a:srgbClr val="92400E"/>
                </a:solidFill>
                <a:latin typeface="Aptos" pitchFamily="34" charset="0"/>
                <a:ea typeface="Aptos" pitchFamily="34" charset="-122"/>
                <a:cs typeface="Aptos" pitchFamily="34" charset="-120"/>
              </a:rPr>
              <a:t>May learn</a:t>
            </a:r>
            <a:endParaRPr lang="en-US" sz="1200" dirty="0"/>
          </a:p>
          <a:p>
            <a:pPr algn="ctr" indent="0" marL="0">
              <a:buNone/>
            </a:pPr>
            <a:r>
              <a:rPr lang="en-US" sz="1200" b="1" dirty="0">
                <a:solidFill>
                  <a:srgbClr val="92400E"/>
                </a:solidFill>
                <a:latin typeface="Aptos" pitchFamily="34" charset="0"/>
                <a:ea typeface="Aptos" pitchFamily="34" charset="-122"/>
                <a:cs typeface="Aptos" pitchFamily="34" charset="-120"/>
              </a:rPr>
              <a:t>shortcuts</a:t>
            </a:r>
            <a:endParaRPr lang="en-US" sz="1200" dirty="0"/>
          </a:p>
        </p:txBody>
      </p:sp>
      <p:sp>
        <p:nvSpPr>
          <p:cNvPr id="17" name="Shape 15"/>
          <p:cNvSpPr/>
          <p:nvPr/>
        </p:nvSpPr>
        <p:spPr>
          <a:xfrm>
            <a:off x="6629400" y="4069080"/>
            <a:ext cx="4343400" cy="658368"/>
          </a:xfrm>
          <a:prstGeom prst="roundRect">
            <a:avLst>
              <a:gd name="adj" fmla="val 16667"/>
            </a:avLst>
          </a:prstGeom>
          <a:solidFill>
            <a:srgbClr val="0F3D5E"/>
          </a:solidFill>
          <a:ln w="12700">
            <a:solidFill>
              <a:srgbClr val="0F3D5E">
                <a:alpha val="0"/>
              </a:srgbClr>
            </a:solidFill>
            <a:prstDash val="solid"/>
          </a:ln>
        </p:spPr>
      </p:sp>
      <p:sp>
        <p:nvSpPr>
          <p:cNvPr id="18" name="Text 16"/>
          <p:cNvSpPr/>
          <p:nvPr/>
        </p:nvSpPr>
        <p:spPr>
          <a:xfrm>
            <a:off x="6739128" y="4178808"/>
            <a:ext cx="4123944" cy="43891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Hypothesis: transformation recognition can regularize the representation.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State of the Art</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4 / 12</a:t>
            </a:r>
            <a:endParaRPr lang="en-US" sz="850" dirty="0"/>
          </a:p>
        </p:txBody>
      </p:sp>
      <p:sp>
        <p:nvSpPr>
          <p:cNvPr id="5" name="Text 3"/>
          <p:cNvSpPr/>
          <p:nvPr/>
        </p:nvSpPr>
        <p:spPr>
          <a:xfrm>
            <a:off x="685800" y="960120"/>
            <a:ext cx="420624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RESEARCH CONTEXT FROM THE NOTEBOOK</a:t>
            </a:r>
            <a:endParaRPr lang="en-US" sz="900" dirty="0"/>
          </a:p>
        </p:txBody>
      </p:sp>
      <p:sp>
        <p:nvSpPr>
          <p:cNvPr id="6" name="Shape 4"/>
          <p:cNvSpPr/>
          <p:nvPr/>
        </p:nvSpPr>
        <p:spPr>
          <a:xfrm>
            <a:off x="868680" y="1463040"/>
            <a:ext cx="4206240" cy="1005840"/>
          </a:xfrm>
          <a:prstGeom prst="roundRect">
            <a:avLst>
              <a:gd name="adj" fmla="val 9091"/>
            </a:avLst>
          </a:prstGeom>
          <a:solidFill>
            <a:srgbClr val="DBEAFE"/>
          </a:solidFill>
          <a:ln w="12700">
            <a:solidFill>
              <a:srgbClr val="CBD5E1"/>
            </a:solidFill>
            <a:prstDash val="solid"/>
          </a:ln>
        </p:spPr>
      </p:sp>
      <p:sp>
        <p:nvSpPr>
          <p:cNvPr id="7" name="Text 5"/>
          <p:cNvSpPr/>
          <p:nvPr/>
        </p:nvSpPr>
        <p:spPr>
          <a:xfrm>
            <a:off x="941832" y="1536192"/>
            <a:ext cx="4059936" cy="859536"/>
          </a:xfrm>
          <a:prstGeom prst="rect">
            <a:avLst/>
          </a:prstGeom>
          <a:noFill/>
          <a:ln/>
        </p:spPr>
        <p:txBody>
          <a:bodyPr wrap="square" lIns="0" tIns="0" rIns="0" bIns="0" rtlCol="0" anchor="ctr">
            <a:normAutofit/>
          </a:bodyPr>
          <a:lstStyle/>
          <a:p>
            <a:pPr algn="ctr" indent="0" marL="0">
              <a:buNone/>
            </a:pPr>
            <a:r>
              <a:rPr lang="en-US" sz="1400" b="1" dirty="0">
                <a:solidFill>
                  <a:srgbClr val="0F3D5E"/>
                </a:solidFill>
                <a:latin typeface="Aptos" pitchFamily="34" charset="0"/>
                <a:ea typeface="Aptos" pitchFamily="34" charset="-122"/>
                <a:cs typeface="Aptos" pitchFamily="34" charset="-120"/>
              </a:rPr>
              <a:t>Li et al., ICCV 2025</a:t>
            </a:r>
            <a:endParaRPr lang="en-US" sz="1400" dirty="0"/>
          </a:p>
          <a:p>
            <a:pPr algn="ctr" indent="0" marL="0">
              <a:buNone/>
            </a:pPr>
            <a:r>
              <a:rPr lang="en-US" sz="1400" b="1" dirty="0">
                <a:solidFill>
                  <a:srgbClr val="0F3D5E"/>
                </a:solidFill>
                <a:latin typeface="Aptos" pitchFamily="34" charset="0"/>
                <a:ea typeface="Aptos" pitchFamily="34" charset="-122"/>
                <a:cs typeface="Aptos" pitchFamily="34" charset="-120"/>
              </a:rPr>
              <a:t>Bridging ideal and real-world evaluation</a:t>
            </a:r>
            <a:endParaRPr lang="en-US" sz="1400" dirty="0"/>
          </a:p>
        </p:txBody>
      </p:sp>
      <p:sp>
        <p:nvSpPr>
          <p:cNvPr id="8" name="Shape 6"/>
          <p:cNvSpPr/>
          <p:nvPr/>
        </p:nvSpPr>
        <p:spPr>
          <a:xfrm>
            <a:off x="868680" y="2788920"/>
            <a:ext cx="4206240" cy="1005840"/>
          </a:xfrm>
          <a:prstGeom prst="roundRect">
            <a:avLst>
              <a:gd name="adj" fmla="val 9091"/>
            </a:avLst>
          </a:prstGeom>
          <a:solidFill>
            <a:srgbClr val="F3E8FF"/>
          </a:solidFill>
          <a:ln w="12700">
            <a:solidFill>
              <a:srgbClr val="CBD5E1"/>
            </a:solidFill>
            <a:prstDash val="solid"/>
          </a:ln>
        </p:spPr>
      </p:sp>
      <p:sp>
        <p:nvSpPr>
          <p:cNvPr id="9" name="Text 7"/>
          <p:cNvSpPr/>
          <p:nvPr/>
        </p:nvSpPr>
        <p:spPr>
          <a:xfrm>
            <a:off x="941832" y="2862072"/>
            <a:ext cx="4059936" cy="859536"/>
          </a:xfrm>
          <a:prstGeom prst="rect">
            <a:avLst/>
          </a:prstGeom>
          <a:noFill/>
          <a:ln/>
        </p:spPr>
        <p:txBody>
          <a:bodyPr wrap="square" lIns="0" tIns="0" rIns="0" bIns="0" rtlCol="0" anchor="ctr">
            <a:normAutofit/>
          </a:bodyPr>
          <a:lstStyle/>
          <a:p>
            <a:pPr algn="ctr" indent="0" marL="0">
              <a:buNone/>
            </a:pPr>
            <a:r>
              <a:rPr lang="en-US" sz="1400" b="1" dirty="0">
                <a:solidFill>
                  <a:srgbClr val="6D28D9"/>
                </a:solidFill>
                <a:latin typeface="Aptos" pitchFamily="34" charset="0"/>
                <a:ea typeface="Aptos" pitchFamily="34" charset="-122"/>
                <a:cs typeface="Aptos" pitchFamily="34" charset="-120"/>
              </a:rPr>
              <a:t>Shao et al., CVPR 2023</a:t>
            </a:r>
            <a:endParaRPr lang="en-US" sz="1400" dirty="0"/>
          </a:p>
          <a:p>
            <a:pPr algn="ctr" indent="0" marL="0">
              <a:buNone/>
            </a:pPr>
            <a:r>
              <a:rPr lang="en-US" sz="1400" b="1" dirty="0">
                <a:solidFill>
                  <a:srgbClr val="6D28D9"/>
                </a:solidFill>
                <a:latin typeface="Aptos" pitchFamily="34" charset="0"/>
                <a:ea typeface="Aptos" pitchFamily="34" charset="-122"/>
                <a:cs typeface="Aptos" pitchFamily="34" charset="-120"/>
              </a:rPr>
              <a:t>Detecting and grounding media manipulation</a:t>
            </a:r>
            <a:endParaRPr lang="en-US" sz="1400" dirty="0"/>
          </a:p>
        </p:txBody>
      </p:sp>
      <p:sp>
        <p:nvSpPr>
          <p:cNvPr id="10" name="Shape 8"/>
          <p:cNvSpPr/>
          <p:nvPr/>
        </p:nvSpPr>
        <p:spPr>
          <a:xfrm>
            <a:off x="5349240" y="2057400"/>
            <a:ext cx="1188720" cy="0"/>
          </a:xfrm>
          <a:prstGeom prst="line">
            <a:avLst/>
          </a:prstGeom>
          <a:noFill/>
          <a:ln w="25400">
            <a:solidFill>
              <a:srgbClr val="0F3D5E"/>
            </a:solidFill>
            <a:prstDash val="solid"/>
            <a:headEnd type="none"/>
            <a:tailEnd type="triangle"/>
          </a:ln>
        </p:spPr>
      </p:sp>
      <p:sp>
        <p:nvSpPr>
          <p:cNvPr id="11" name="Shape 9"/>
          <p:cNvSpPr/>
          <p:nvPr/>
        </p:nvSpPr>
        <p:spPr>
          <a:xfrm>
            <a:off x="5349240" y="3383280"/>
            <a:ext cx="1188720" cy="0"/>
          </a:xfrm>
          <a:prstGeom prst="line">
            <a:avLst/>
          </a:prstGeom>
          <a:noFill/>
          <a:ln w="25400">
            <a:solidFill>
              <a:srgbClr val="6D28D9"/>
            </a:solidFill>
            <a:prstDash val="solid"/>
            <a:headEnd type="none"/>
            <a:tailEnd type="triangle"/>
          </a:ln>
        </p:spPr>
      </p:sp>
      <p:sp>
        <p:nvSpPr>
          <p:cNvPr id="12" name="Shape 10"/>
          <p:cNvSpPr/>
          <p:nvPr/>
        </p:nvSpPr>
        <p:spPr>
          <a:xfrm>
            <a:off x="6720840" y="1691640"/>
            <a:ext cx="3886200" cy="822960"/>
          </a:xfrm>
          <a:prstGeom prst="roundRect">
            <a:avLst>
              <a:gd name="adj" fmla="val 11111"/>
            </a:avLst>
          </a:prstGeom>
          <a:solidFill>
            <a:srgbClr val="F8FAFC"/>
          </a:solidFill>
          <a:ln w="12700">
            <a:solidFill>
              <a:srgbClr val="CBD5E1"/>
            </a:solidFill>
            <a:prstDash val="solid"/>
          </a:ln>
        </p:spPr>
      </p:sp>
      <p:sp>
        <p:nvSpPr>
          <p:cNvPr id="13" name="Text 11"/>
          <p:cNvSpPr/>
          <p:nvPr/>
        </p:nvSpPr>
        <p:spPr>
          <a:xfrm>
            <a:off x="6793992" y="1764792"/>
            <a:ext cx="3739896" cy="676656"/>
          </a:xfrm>
          <a:prstGeom prst="rect">
            <a:avLst/>
          </a:prstGeom>
          <a:noFill/>
          <a:ln/>
        </p:spPr>
        <p:txBody>
          <a:bodyPr wrap="square" lIns="0" tIns="0" rIns="0" bIns="0" rtlCol="0" anchor="ctr">
            <a:normAutofit/>
          </a:bodyPr>
          <a:lstStyle/>
          <a:p>
            <a:pPr algn="ctr" indent="0" marL="0">
              <a:buNone/>
            </a:pPr>
            <a:r>
              <a:rPr lang="en-US" sz="1500" b="1" dirty="0">
                <a:solidFill>
                  <a:srgbClr val="111827"/>
                </a:solidFill>
                <a:latin typeface="Aptos" pitchFamily="34" charset="0"/>
                <a:ea typeface="Aptos" pitchFamily="34" charset="-122"/>
                <a:cs typeface="Aptos" pitchFamily="34" charset="-120"/>
              </a:rPr>
              <a:t>Shared message:</a:t>
            </a:r>
            <a:endParaRPr lang="en-US" sz="1500" dirty="0"/>
          </a:p>
          <a:p>
            <a:pPr algn="ctr" indent="0" marL="0">
              <a:buNone/>
            </a:pPr>
            <a:r>
              <a:rPr lang="en-US" sz="1500" b="1" dirty="0">
                <a:solidFill>
                  <a:srgbClr val="111827"/>
                </a:solidFill>
                <a:latin typeface="Aptos" pitchFamily="34" charset="0"/>
                <a:ea typeface="Aptos" pitchFamily="34" charset="-122"/>
                <a:cs typeface="Aptos" pitchFamily="34" charset="-120"/>
              </a:rPr>
              <a:t>ideal benchmarks are not enough</a:t>
            </a:r>
            <a:endParaRPr lang="en-US" sz="1500" dirty="0"/>
          </a:p>
        </p:txBody>
      </p:sp>
      <p:sp>
        <p:nvSpPr>
          <p:cNvPr id="14" name="Shape 12"/>
          <p:cNvSpPr/>
          <p:nvPr/>
        </p:nvSpPr>
        <p:spPr>
          <a:xfrm>
            <a:off x="6720840" y="2999232"/>
            <a:ext cx="3886200" cy="822960"/>
          </a:xfrm>
          <a:prstGeom prst="roundRect">
            <a:avLst>
              <a:gd name="adj" fmla="val 11111"/>
            </a:avLst>
          </a:prstGeom>
          <a:solidFill>
            <a:srgbClr val="ECFDF5"/>
          </a:solidFill>
          <a:ln w="12700">
            <a:solidFill>
              <a:srgbClr val="CBD5E1"/>
            </a:solidFill>
            <a:prstDash val="solid"/>
          </a:ln>
        </p:spPr>
      </p:sp>
      <p:sp>
        <p:nvSpPr>
          <p:cNvPr id="15" name="Text 13"/>
          <p:cNvSpPr/>
          <p:nvPr/>
        </p:nvSpPr>
        <p:spPr>
          <a:xfrm>
            <a:off x="6793992" y="3072384"/>
            <a:ext cx="3739896" cy="676656"/>
          </a:xfrm>
          <a:prstGeom prst="rect">
            <a:avLst/>
          </a:prstGeom>
          <a:noFill/>
          <a:ln/>
        </p:spPr>
        <p:txBody>
          <a:bodyPr wrap="square" lIns="0" tIns="0" rIns="0" bIns="0" rtlCol="0" anchor="ctr">
            <a:normAutofit/>
          </a:bodyPr>
          <a:lstStyle/>
          <a:p>
            <a:pPr algn="ctr" indent="0" marL="0">
              <a:buNone/>
            </a:pPr>
            <a:r>
              <a:rPr lang="en-US" sz="1500" b="1" dirty="0">
                <a:solidFill>
                  <a:srgbClr val="15803D"/>
                </a:solidFill>
                <a:latin typeface="Aptos" pitchFamily="34" charset="0"/>
                <a:ea typeface="Aptos" pitchFamily="34" charset="-122"/>
                <a:cs typeface="Aptos" pitchFamily="34" charset="-120"/>
              </a:rPr>
              <a:t>Project direction:</a:t>
            </a:r>
            <a:endParaRPr lang="en-US" sz="1500" dirty="0"/>
          </a:p>
          <a:p>
            <a:pPr algn="ctr" indent="0" marL="0">
              <a:buNone/>
            </a:pPr>
            <a:r>
              <a:rPr lang="en-US" sz="1500" b="1" dirty="0">
                <a:solidFill>
                  <a:srgbClr val="15803D"/>
                </a:solidFill>
                <a:latin typeface="Aptos" pitchFamily="34" charset="0"/>
                <a:ea typeface="Aptos" pitchFamily="34" charset="-122"/>
                <a:cs typeface="Aptos" pitchFamily="34" charset="-120"/>
              </a:rPr>
              <a:t>learn real/fake and media history jointly</a:t>
            </a:r>
            <a:endParaRPr lang="en-US" sz="1500" dirty="0"/>
          </a:p>
        </p:txBody>
      </p:sp>
      <p:sp>
        <p:nvSpPr>
          <p:cNvPr id="16" name="Text 14"/>
          <p:cNvSpPr/>
          <p:nvPr/>
        </p:nvSpPr>
        <p:spPr>
          <a:xfrm>
            <a:off x="6629400" y="4343400"/>
            <a:ext cx="4297680" cy="914400"/>
          </a:xfrm>
          <a:prstGeom prst="rect">
            <a:avLst/>
          </a:prstGeom>
          <a:noFill/>
          <a:ln/>
        </p:spPr>
        <p:txBody>
          <a:bodyPr wrap="square" rtlCol="0" anchor="ctr">
            <a:normAutofit/>
          </a:bodyPr>
          <a:lstStyle/>
          <a:p>
            <a:r>
              <a:rPr lang="en-US" sz="1400" dirty="0">
                <a:solidFill>
                  <a:srgbClr val="111827"/>
                </a:solidFill>
                <a:latin typeface="Aptos" pitchFamily="34" charset="0"/>
                <a:ea typeface="Aptos" pitchFamily="34" charset="-122"/>
                <a:cs typeface="Aptos" pitchFamily="34" charset="-120"/>
              </a:rPr>
              <a:t>Current work highlights the gap between clean datasets and real-world media pipelines.</a:t>
            </a:r>
            <a:endParaRPr lang="en-US" sz="1400" dirty="0"/>
          </a:p>
          <a:p>
            <a:r>
              <a:rPr lang="en-US" sz="1400" dirty="0">
                <a:solidFill>
                  <a:srgbClr val="111827"/>
                </a:solidFill>
                <a:latin typeface="Aptos" pitchFamily="34" charset="0"/>
                <a:ea typeface="Aptos" pitchFamily="34" charset="-122"/>
                <a:cs typeface="Aptos" pitchFamily="34" charset="-120"/>
              </a:rPr>
              <a:t>Manipulation and post-processing traces can be relevant cues, not just nuisance factors.</a:t>
            </a:r>
            <a:endParaRPr lang="en-US" sz="1400" dirty="0"/>
          </a:p>
        </p:txBody>
      </p:sp>
      <p:sp>
        <p:nvSpPr>
          <p:cNvPr id="17" name="Text 15"/>
          <p:cNvSpPr/>
          <p:nvPr/>
        </p:nvSpPr>
        <p:spPr>
          <a:xfrm>
            <a:off x="594360" y="6272784"/>
            <a:ext cx="786384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References listed in the notebook: Li et al. (ICCV 2025); Shao et al. (CVPR 2023).</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Dataset</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5 / 12</a:t>
            </a:r>
            <a:endParaRPr lang="en-US" sz="850" dirty="0"/>
          </a:p>
        </p:txBody>
      </p:sp>
      <p:sp>
        <p:nvSpPr>
          <p:cNvPr id="5" name="Text 3"/>
          <p:cNvSpPr/>
          <p:nvPr/>
        </p:nvSpPr>
        <p:spPr>
          <a:xfrm>
            <a:off x="685800" y="960120"/>
            <a:ext cx="201168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RRDATASET</a:t>
            </a:r>
            <a:endParaRPr lang="en-US" sz="900" dirty="0"/>
          </a:p>
        </p:txBody>
      </p:sp>
      <p:sp>
        <p:nvSpPr>
          <p:cNvPr id="6" name="Text 4"/>
          <p:cNvSpPr/>
          <p:nvPr/>
        </p:nvSpPr>
        <p:spPr>
          <a:xfrm>
            <a:off x="685800" y="1298448"/>
            <a:ext cx="5120640" cy="2148840"/>
          </a:xfrm>
          <a:prstGeom prst="rect">
            <a:avLst/>
          </a:prstGeom>
          <a:noFill/>
          <a:ln/>
        </p:spPr>
        <p:txBody>
          <a:bodyPr wrap="square" rtlCol="0" anchor="ctr">
            <a:normAutofit/>
          </a:bodyPr>
          <a:lstStyle/>
          <a:p>
            <a:r>
              <a:rPr lang="en-US" sz="1550" dirty="0">
                <a:solidFill>
                  <a:srgbClr val="111827"/>
                </a:solidFill>
                <a:latin typeface="Aptos" pitchFamily="34" charset="0"/>
                <a:ea typeface="Aptos" pitchFamily="34" charset="-122"/>
                <a:cs typeface="Aptos" pitchFamily="34" charset="-120"/>
              </a:rPr>
              <a:t>Real-world robustness benchmark with real photos and AI-generated images.</a:t>
            </a:r>
            <a:endParaRPr lang="en-US" sz="1550" dirty="0"/>
          </a:p>
          <a:p>
            <a:r>
              <a:rPr lang="en-US" sz="1550" dirty="0">
                <a:solidFill>
                  <a:srgbClr val="111827"/>
                </a:solidFill>
                <a:latin typeface="Aptos" pitchFamily="34" charset="0"/>
                <a:ea typeface="Aptos" pitchFamily="34" charset="-122"/>
                <a:cs typeface="Aptos" pitchFamily="34" charset="-120"/>
              </a:rPr>
              <a:t>Three transformation categories: original, transfer, redigital.</a:t>
            </a:r>
            <a:endParaRPr lang="en-US" sz="1550" dirty="0"/>
          </a:p>
          <a:p>
            <a:r>
              <a:rPr lang="en-US" sz="1550" dirty="0">
                <a:solidFill>
                  <a:srgbClr val="111827"/>
                </a:solidFill>
                <a:latin typeface="Aptos" pitchFamily="34" charset="0"/>
                <a:ea typeface="Aptos" pitchFamily="34" charset="-122"/>
                <a:cs typeface="Aptos" pitchFamily="34" charset="-120"/>
              </a:rPr>
              <a:t>The notebook constructs a balanced subset across real/fake and transformations.</a:t>
            </a:r>
            <a:endParaRPr lang="en-US" sz="1550" dirty="0"/>
          </a:p>
          <a:p>
            <a:r>
              <a:rPr lang="en-US" sz="1550" dirty="0">
                <a:solidFill>
                  <a:srgbClr val="111827"/>
                </a:solidFill>
                <a:latin typeface="Aptos" pitchFamily="34" charset="0"/>
                <a:ea typeface="Aptos" pitchFamily="34" charset="-122"/>
                <a:cs typeface="Aptos" pitchFamily="34" charset="-120"/>
              </a:rPr>
              <a:t>Subset reported in the notebook: 1000 images per combination, 6000 total.</a:t>
            </a:r>
            <a:endParaRPr lang="en-US" sz="1550" dirty="0"/>
          </a:p>
        </p:txBody>
      </p:sp>
      <p:sp>
        <p:nvSpPr>
          <p:cNvPr id="7" name="Shape 5"/>
          <p:cNvSpPr/>
          <p:nvPr/>
        </p:nvSpPr>
        <p:spPr>
          <a:xfrm>
            <a:off x="6172200" y="1234440"/>
            <a:ext cx="1600200" cy="537210"/>
          </a:xfrm>
          <a:prstGeom prst="rect">
            <a:avLst/>
          </a:prstGeom>
          <a:solidFill>
            <a:srgbClr val="0F3D5E"/>
          </a:solidFill>
          <a:ln w="9525">
            <a:solidFill>
              <a:srgbClr val="CBD5E1"/>
            </a:solidFill>
            <a:prstDash val="solid"/>
          </a:ln>
        </p:spPr>
      </p:sp>
      <p:sp>
        <p:nvSpPr>
          <p:cNvPr id="8" name="Text 6"/>
          <p:cNvSpPr/>
          <p:nvPr/>
        </p:nvSpPr>
        <p:spPr>
          <a:xfrm>
            <a:off x="6227064" y="1280160"/>
            <a:ext cx="1490472" cy="44577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Transformation</a:t>
            </a:r>
            <a:endParaRPr lang="en-US" sz="1100" dirty="0"/>
          </a:p>
        </p:txBody>
      </p:sp>
      <p:sp>
        <p:nvSpPr>
          <p:cNvPr id="9" name="Shape 7"/>
          <p:cNvSpPr/>
          <p:nvPr/>
        </p:nvSpPr>
        <p:spPr>
          <a:xfrm>
            <a:off x="7772400" y="1234440"/>
            <a:ext cx="1051560" cy="537210"/>
          </a:xfrm>
          <a:prstGeom prst="rect">
            <a:avLst/>
          </a:prstGeom>
          <a:solidFill>
            <a:srgbClr val="0F3D5E"/>
          </a:solidFill>
          <a:ln w="9525">
            <a:solidFill>
              <a:srgbClr val="CBD5E1"/>
            </a:solidFill>
            <a:prstDash val="solid"/>
          </a:ln>
        </p:spPr>
      </p:sp>
      <p:sp>
        <p:nvSpPr>
          <p:cNvPr id="10" name="Text 8"/>
          <p:cNvSpPr/>
          <p:nvPr/>
        </p:nvSpPr>
        <p:spPr>
          <a:xfrm>
            <a:off x="7827264" y="1280160"/>
            <a:ext cx="941832" cy="44577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Real</a:t>
            </a:r>
            <a:endParaRPr lang="en-US" sz="1100" dirty="0"/>
          </a:p>
        </p:txBody>
      </p:sp>
      <p:sp>
        <p:nvSpPr>
          <p:cNvPr id="11" name="Shape 9"/>
          <p:cNvSpPr/>
          <p:nvPr/>
        </p:nvSpPr>
        <p:spPr>
          <a:xfrm>
            <a:off x="8823960" y="1234440"/>
            <a:ext cx="1417320" cy="537210"/>
          </a:xfrm>
          <a:prstGeom prst="rect">
            <a:avLst/>
          </a:prstGeom>
          <a:solidFill>
            <a:srgbClr val="0F3D5E"/>
          </a:solidFill>
          <a:ln w="9525">
            <a:solidFill>
              <a:srgbClr val="CBD5E1"/>
            </a:solidFill>
            <a:prstDash val="solid"/>
          </a:ln>
        </p:spPr>
      </p:sp>
      <p:sp>
        <p:nvSpPr>
          <p:cNvPr id="12" name="Text 10"/>
          <p:cNvSpPr/>
          <p:nvPr/>
        </p:nvSpPr>
        <p:spPr>
          <a:xfrm>
            <a:off x="8878824" y="1280160"/>
            <a:ext cx="1307592" cy="44577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AI-generated</a:t>
            </a:r>
            <a:endParaRPr lang="en-US" sz="1100" dirty="0"/>
          </a:p>
        </p:txBody>
      </p:sp>
      <p:sp>
        <p:nvSpPr>
          <p:cNvPr id="13" name="Shape 11"/>
          <p:cNvSpPr/>
          <p:nvPr/>
        </p:nvSpPr>
        <p:spPr>
          <a:xfrm>
            <a:off x="10241280" y="1234440"/>
            <a:ext cx="960120" cy="537210"/>
          </a:xfrm>
          <a:prstGeom prst="rect">
            <a:avLst/>
          </a:prstGeom>
          <a:solidFill>
            <a:srgbClr val="0F3D5E"/>
          </a:solidFill>
          <a:ln w="9525">
            <a:solidFill>
              <a:srgbClr val="CBD5E1"/>
            </a:solidFill>
            <a:prstDash val="solid"/>
          </a:ln>
        </p:spPr>
      </p:sp>
      <p:sp>
        <p:nvSpPr>
          <p:cNvPr id="14" name="Text 12"/>
          <p:cNvSpPr/>
          <p:nvPr/>
        </p:nvSpPr>
        <p:spPr>
          <a:xfrm>
            <a:off x="10296144" y="1280160"/>
            <a:ext cx="850392" cy="44577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Label</a:t>
            </a:r>
            <a:endParaRPr lang="en-US" sz="1100" dirty="0"/>
          </a:p>
        </p:txBody>
      </p:sp>
      <p:sp>
        <p:nvSpPr>
          <p:cNvPr id="15" name="Shape 13"/>
          <p:cNvSpPr/>
          <p:nvPr/>
        </p:nvSpPr>
        <p:spPr>
          <a:xfrm>
            <a:off x="6172200" y="1771650"/>
            <a:ext cx="1600200" cy="537210"/>
          </a:xfrm>
          <a:prstGeom prst="rect">
            <a:avLst/>
          </a:prstGeom>
          <a:solidFill>
            <a:srgbClr val="FFFFFF"/>
          </a:solidFill>
          <a:ln w="9525">
            <a:solidFill>
              <a:srgbClr val="CBD5E1"/>
            </a:solidFill>
            <a:prstDash val="solid"/>
          </a:ln>
        </p:spPr>
      </p:sp>
      <p:sp>
        <p:nvSpPr>
          <p:cNvPr id="16" name="Text 14"/>
          <p:cNvSpPr/>
          <p:nvPr/>
        </p:nvSpPr>
        <p:spPr>
          <a:xfrm>
            <a:off x="6227064" y="1817370"/>
            <a:ext cx="149047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Original</a:t>
            </a:r>
            <a:endParaRPr lang="en-US" sz="1200" dirty="0"/>
          </a:p>
        </p:txBody>
      </p:sp>
      <p:sp>
        <p:nvSpPr>
          <p:cNvPr id="17" name="Shape 15"/>
          <p:cNvSpPr/>
          <p:nvPr/>
        </p:nvSpPr>
        <p:spPr>
          <a:xfrm>
            <a:off x="7772400" y="1771650"/>
            <a:ext cx="1051560" cy="537210"/>
          </a:xfrm>
          <a:prstGeom prst="rect">
            <a:avLst/>
          </a:prstGeom>
          <a:solidFill>
            <a:srgbClr val="FFFFFF"/>
          </a:solidFill>
          <a:ln w="9525">
            <a:solidFill>
              <a:srgbClr val="CBD5E1"/>
            </a:solidFill>
            <a:prstDash val="solid"/>
          </a:ln>
        </p:spPr>
      </p:sp>
      <p:sp>
        <p:nvSpPr>
          <p:cNvPr id="18" name="Text 16"/>
          <p:cNvSpPr/>
          <p:nvPr/>
        </p:nvSpPr>
        <p:spPr>
          <a:xfrm>
            <a:off x="7827264" y="1817370"/>
            <a:ext cx="94183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yes</a:t>
            </a:r>
            <a:endParaRPr lang="en-US" sz="1200" dirty="0"/>
          </a:p>
        </p:txBody>
      </p:sp>
      <p:sp>
        <p:nvSpPr>
          <p:cNvPr id="19" name="Shape 17"/>
          <p:cNvSpPr/>
          <p:nvPr/>
        </p:nvSpPr>
        <p:spPr>
          <a:xfrm>
            <a:off x="8823960" y="1771650"/>
            <a:ext cx="1417320" cy="537210"/>
          </a:xfrm>
          <a:prstGeom prst="rect">
            <a:avLst/>
          </a:prstGeom>
          <a:solidFill>
            <a:srgbClr val="FFFFFF"/>
          </a:solidFill>
          <a:ln w="9525">
            <a:solidFill>
              <a:srgbClr val="CBD5E1"/>
            </a:solidFill>
            <a:prstDash val="solid"/>
          </a:ln>
        </p:spPr>
      </p:sp>
      <p:sp>
        <p:nvSpPr>
          <p:cNvPr id="20" name="Text 18"/>
          <p:cNvSpPr/>
          <p:nvPr/>
        </p:nvSpPr>
        <p:spPr>
          <a:xfrm>
            <a:off x="8878824" y="1817370"/>
            <a:ext cx="130759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yes</a:t>
            </a:r>
            <a:endParaRPr lang="en-US" sz="1200" dirty="0"/>
          </a:p>
        </p:txBody>
      </p:sp>
      <p:sp>
        <p:nvSpPr>
          <p:cNvPr id="21" name="Shape 19"/>
          <p:cNvSpPr/>
          <p:nvPr/>
        </p:nvSpPr>
        <p:spPr>
          <a:xfrm>
            <a:off x="10241280" y="1771650"/>
            <a:ext cx="960120" cy="537210"/>
          </a:xfrm>
          <a:prstGeom prst="rect">
            <a:avLst/>
          </a:prstGeom>
          <a:solidFill>
            <a:srgbClr val="FFFFFF"/>
          </a:solidFill>
          <a:ln w="9525">
            <a:solidFill>
              <a:srgbClr val="CBD5E1"/>
            </a:solidFill>
            <a:prstDash val="solid"/>
          </a:ln>
        </p:spPr>
      </p:sp>
      <p:sp>
        <p:nvSpPr>
          <p:cNvPr id="22" name="Text 20"/>
          <p:cNvSpPr/>
          <p:nvPr/>
        </p:nvSpPr>
        <p:spPr>
          <a:xfrm>
            <a:off x="10296144" y="1817370"/>
            <a:ext cx="85039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0</a:t>
            </a:r>
            <a:endParaRPr lang="en-US" sz="1200" dirty="0"/>
          </a:p>
        </p:txBody>
      </p:sp>
      <p:sp>
        <p:nvSpPr>
          <p:cNvPr id="23" name="Shape 21"/>
          <p:cNvSpPr/>
          <p:nvPr/>
        </p:nvSpPr>
        <p:spPr>
          <a:xfrm>
            <a:off x="6172200" y="2308860"/>
            <a:ext cx="1600200" cy="537210"/>
          </a:xfrm>
          <a:prstGeom prst="rect">
            <a:avLst/>
          </a:prstGeom>
          <a:solidFill>
            <a:srgbClr val="F8FAFC"/>
          </a:solidFill>
          <a:ln w="9525">
            <a:solidFill>
              <a:srgbClr val="CBD5E1"/>
            </a:solidFill>
            <a:prstDash val="solid"/>
          </a:ln>
        </p:spPr>
      </p:sp>
      <p:sp>
        <p:nvSpPr>
          <p:cNvPr id="24" name="Text 22"/>
          <p:cNvSpPr/>
          <p:nvPr/>
        </p:nvSpPr>
        <p:spPr>
          <a:xfrm>
            <a:off x="6227064" y="2354580"/>
            <a:ext cx="149047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Transfer</a:t>
            </a:r>
            <a:endParaRPr lang="en-US" sz="1200" dirty="0"/>
          </a:p>
        </p:txBody>
      </p:sp>
      <p:sp>
        <p:nvSpPr>
          <p:cNvPr id="25" name="Shape 23"/>
          <p:cNvSpPr/>
          <p:nvPr/>
        </p:nvSpPr>
        <p:spPr>
          <a:xfrm>
            <a:off x="7772400" y="2308860"/>
            <a:ext cx="1051560" cy="537210"/>
          </a:xfrm>
          <a:prstGeom prst="rect">
            <a:avLst/>
          </a:prstGeom>
          <a:solidFill>
            <a:srgbClr val="F8FAFC"/>
          </a:solidFill>
          <a:ln w="9525">
            <a:solidFill>
              <a:srgbClr val="CBD5E1"/>
            </a:solidFill>
            <a:prstDash val="solid"/>
          </a:ln>
        </p:spPr>
      </p:sp>
      <p:sp>
        <p:nvSpPr>
          <p:cNvPr id="26" name="Text 24"/>
          <p:cNvSpPr/>
          <p:nvPr/>
        </p:nvSpPr>
        <p:spPr>
          <a:xfrm>
            <a:off x="7827264" y="2354580"/>
            <a:ext cx="94183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yes</a:t>
            </a:r>
            <a:endParaRPr lang="en-US" sz="1200" dirty="0"/>
          </a:p>
        </p:txBody>
      </p:sp>
      <p:sp>
        <p:nvSpPr>
          <p:cNvPr id="27" name="Shape 25"/>
          <p:cNvSpPr/>
          <p:nvPr/>
        </p:nvSpPr>
        <p:spPr>
          <a:xfrm>
            <a:off x="8823960" y="2308860"/>
            <a:ext cx="1417320" cy="537210"/>
          </a:xfrm>
          <a:prstGeom prst="rect">
            <a:avLst/>
          </a:prstGeom>
          <a:solidFill>
            <a:srgbClr val="F8FAFC"/>
          </a:solidFill>
          <a:ln w="9525">
            <a:solidFill>
              <a:srgbClr val="CBD5E1"/>
            </a:solidFill>
            <a:prstDash val="solid"/>
          </a:ln>
        </p:spPr>
      </p:sp>
      <p:sp>
        <p:nvSpPr>
          <p:cNvPr id="28" name="Text 26"/>
          <p:cNvSpPr/>
          <p:nvPr/>
        </p:nvSpPr>
        <p:spPr>
          <a:xfrm>
            <a:off x="8878824" y="2354580"/>
            <a:ext cx="130759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yes</a:t>
            </a:r>
            <a:endParaRPr lang="en-US" sz="1200" dirty="0"/>
          </a:p>
        </p:txBody>
      </p:sp>
      <p:sp>
        <p:nvSpPr>
          <p:cNvPr id="29" name="Shape 27"/>
          <p:cNvSpPr/>
          <p:nvPr/>
        </p:nvSpPr>
        <p:spPr>
          <a:xfrm>
            <a:off x="10241280" y="2308860"/>
            <a:ext cx="960120" cy="537210"/>
          </a:xfrm>
          <a:prstGeom prst="rect">
            <a:avLst/>
          </a:prstGeom>
          <a:solidFill>
            <a:srgbClr val="F8FAFC"/>
          </a:solidFill>
          <a:ln w="9525">
            <a:solidFill>
              <a:srgbClr val="CBD5E1"/>
            </a:solidFill>
            <a:prstDash val="solid"/>
          </a:ln>
        </p:spPr>
      </p:sp>
      <p:sp>
        <p:nvSpPr>
          <p:cNvPr id="30" name="Text 28"/>
          <p:cNvSpPr/>
          <p:nvPr/>
        </p:nvSpPr>
        <p:spPr>
          <a:xfrm>
            <a:off x="10296144" y="2354580"/>
            <a:ext cx="85039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1</a:t>
            </a:r>
            <a:endParaRPr lang="en-US" sz="1200" dirty="0"/>
          </a:p>
        </p:txBody>
      </p:sp>
      <p:sp>
        <p:nvSpPr>
          <p:cNvPr id="31" name="Shape 29"/>
          <p:cNvSpPr/>
          <p:nvPr/>
        </p:nvSpPr>
        <p:spPr>
          <a:xfrm>
            <a:off x="6172200" y="2846070"/>
            <a:ext cx="1600200" cy="537210"/>
          </a:xfrm>
          <a:prstGeom prst="rect">
            <a:avLst/>
          </a:prstGeom>
          <a:solidFill>
            <a:srgbClr val="FFFFFF"/>
          </a:solidFill>
          <a:ln w="9525">
            <a:solidFill>
              <a:srgbClr val="CBD5E1"/>
            </a:solidFill>
            <a:prstDash val="solid"/>
          </a:ln>
        </p:spPr>
      </p:sp>
      <p:sp>
        <p:nvSpPr>
          <p:cNvPr id="32" name="Text 30"/>
          <p:cNvSpPr/>
          <p:nvPr/>
        </p:nvSpPr>
        <p:spPr>
          <a:xfrm>
            <a:off x="6227064" y="2891790"/>
            <a:ext cx="149047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Redigital</a:t>
            </a:r>
            <a:endParaRPr lang="en-US" sz="1200" dirty="0"/>
          </a:p>
        </p:txBody>
      </p:sp>
      <p:sp>
        <p:nvSpPr>
          <p:cNvPr id="33" name="Shape 31"/>
          <p:cNvSpPr/>
          <p:nvPr/>
        </p:nvSpPr>
        <p:spPr>
          <a:xfrm>
            <a:off x="7772400" y="2846070"/>
            <a:ext cx="1051560" cy="537210"/>
          </a:xfrm>
          <a:prstGeom prst="rect">
            <a:avLst/>
          </a:prstGeom>
          <a:solidFill>
            <a:srgbClr val="FFFFFF"/>
          </a:solidFill>
          <a:ln w="9525">
            <a:solidFill>
              <a:srgbClr val="CBD5E1"/>
            </a:solidFill>
            <a:prstDash val="solid"/>
          </a:ln>
        </p:spPr>
      </p:sp>
      <p:sp>
        <p:nvSpPr>
          <p:cNvPr id="34" name="Text 32"/>
          <p:cNvSpPr/>
          <p:nvPr/>
        </p:nvSpPr>
        <p:spPr>
          <a:xfrm>
            <a:off x="7827264" y="2891790"/>
            <a:ext cx="94183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yes</a:t>
            </a:r>
            <a:endParaRPr lang="en-US" sz="1200" dirty="0"/>
          </a:p>
        </p:txBody>
      </p:sp>
      <p:sp>
        <p:nvSpPr>
          <p:cNvPr id="35" name="Shape 33"/>
          <p:cNvSpPr/>
          <p:nvPr/>
        </p:nvSpPr>
        <p:spPr>
          <a:xfrm>
            <a:off x="8823960" y="2846070"/>
            <a:ext cx="1417320" cy="537210"/>
          </a:xfrm>
          <a:prstGeom prst="rect">
            <a:avLst/>
          </a:prstGeom>
          <a:solidFill>
            <a:srgbClr val="FFFFFF"/>
          </a:solidFill>
          <a:ln w="9525">
            <a:solidFill>
              <a:srgbClr val="CBD5E1"/>
            </a:solidFill>
            <a:prstDash val="solid"/>
          </a:ln>
        </p:spPr>
      </p:sp>
      <p:sp>
        <p:nvSpPr>
          <p:cNvPr id="36" name="Text 34"/>
          <p:cNvSpPr/>
          <p:nvPr/>
        </p:nvSpPr>
        <p:spPr>
          <a:xfrm>
            <a:off x="8878824" y="2891790"/>
            <a:ext cx="130759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yes</a:t>
            </a:r>
            <a:endParaRPr lang="en-US" sz="1200" dirty="0"/>
          </a:p>
        </p:txBody>
      </p:sp>
      <p:sp>
        <p:nvSpPr>
          <p:cNvPr id="37" name="Shape 35"/>
          <p:cNvSpPr/>
          <p:nvPr/>
        </p:nvSpPr>
        <p:spPr>
          <a:xfrm>
            <a:off x="10241280" y="2846070"/>
            <a:ext cx="960120" cy="537210"/>
          </a:xfrm>
          <a:prstGeom prst="rect">
            <a:avLst/>
          </a:prstGeom>
          <a:solidFill>
            <a:srgbClr val="FFFFFF"/>
          </a:solidFill>
          <a:ln w="9525">
            <a:solidFill>
              <a:srgbClr val="CBD5E1"/>
            </a:solidFill>
            <a:prstDash val="solid"/>
          </a:ln>
        </p:spPr>
      </p:sp>
      <p:sp>
        <p:nvSpPr>
          <p:cNvPr id="38" name="Text 36"/>
          <p:cNvSpPr/>
          <p:nvPr/>
        </p:nvSpPr>
        <p:spPr>
          <a:xfrm>
            <a:off x="10296144" y="2891790"/>
            <a:ext cx="850392" cy="445770"/>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ptos" pitchFamily="34" charset="0"/>
                <a:ea typeface="Aptos" pitchFamily="34" charset="-122"/>
                <a:cs typeface="Aptos" pitchFamily="34" charset="-120"/>
              </a:rPr>
              <a:t>2</a:t>
            </a:r>
            <a:endParaRPr lang="en-US" sz="1200" dirty="0"/>
          </a:p>
        </p:txBody>
      </p:sp>
      <p:sp>
        <p:nvSpPr>
          <p:cNvPr id="39" name="Shape 37"/>
          <p:cNvSpPr/>
          <p:nvPr/>
        </p:nvSpPr>
        <p:spPr>
          <a:xfrm>
            <a:off x="6537960" y="4069080"/>
            <a:ext cx="4343400" cy="868680"/>
          </a:xfrm>
          <a:prstGeom prst="roundRect">
            <a:avLst>
              <a:gd name="adj" fmla="val 12632"/>
            </a:avLst>
          </a:prstGeom>
          <a:solidFill>
            <a:srgbClr val="15803D"/>
          </a:solidFill>
          <a:ln w="12700">
            <a:solidFill>
              <a:srgbClr val="15803D">
                <a:alpha val="0"/>
              </a:srgbClr>
            </a:solidFill>
            <a:prstDash val="solid"/>
          </a:ln>
        </p:spPr>
      </p:sp>
      <p:sp>
        <p:nvSpPr>
          <p:cNvPr id="40" name="Text 38"/>
          <p:cNvSpPr/>
          <p:nvPr/>
        </p:nvSpPr>
        <p:spPr>
          <a:xfrm>
            <a:off x="6647688" y="4178808"/>
            <a:ext cx="4123944" cy="6492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Balanced subset</a:t>
            </a:r>
            <a:endParaRPr lang="en-US" sz="1700" dirty="0"/>
          </a:p>
          <a:p>
            <a:pPr algn="ctr" indent="0" marL="0">
              <a:buNone/>
            </a:pPr>
            <a:r>
              <a:rPr lang="en-US" sz="1700" b="1" dirty="0">
                <a:solidFill>
                  <a:srgbClr val="FFFFFF"/>
                </a:solidFill>
                <a:latin typeface="Aptos" pitchFamily="34" charset="0"/>
                <a:ea typeface="Aptos" pitchFamily="34" charset="-122"/>
                <a:cs typeface="Aptos" pitchFamily="34" charset="-120"/>
              </a:rPr>
              <a:t>6 combinations x 1000 = 6000 images</a:t>
            </a:r>
            <a:endParaRPr lang="en-US" sz="1700" dirty="0"/>
          </a:p>
        </p:txBody>
      </p:sp>
      <p:sp>
        <p:nvSpPr>
          <p:cNvPr id="41" name="Text 39"/>
          <p:cNvSpPr/>
          <p:nvPr/>
        </p:nvSpPr>
        <p:spPr>
          <a:xfrm>
            <a:off x="594360" y="6272784"/>
            <a:ext cx="786384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Dataset description and subset size extracted from the implementation notebook.</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Task Definition</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6 / 12</a:t>
            </a:r>
            <a:endParaRPr lang="en-US" sz="850" dirty="0"/>
          </a:p>
        </p:txBody>
      </p:sp>
      <p:sp>
        <p:nvSpPr>
          <p:cNvPr id="5" name="Text 3"/>
          <p:cNvSpPr/>
          <p:nvPr/>
        </p:nvSpPr>
        <p:spPr>
          <a:xfrm>
            <a:off x="685800" y="1234440"/>
            <a:ext cx="3657600" cy="2103120"/>
          </a:xfrm>
          <a:prstGeom prst="rect">
            <a:avLst/>
          </a:prstGeom>
          <a:noFill/>
          <a:ln/>
        </p:spPr>
        <p:txBody>
          <a:bodyPr wrap="square" rtlCol="0" anchor="ctr">
            <a:normAutofit/>
          </a:bodyPr>
          <a:lstStyle/>
          <a:p>
            <a:r>
              <a:rPr lang="en-US" sz="1600" dirty="0">
                <a:solidFill>
                  <a:srgbClr val="111827"/>
                </a:solidFill>
                <a:latin typeface="Aptos" pitchFamily="34" charset="0"/>
                <a:ea typeface="Aptos" pitchFamily="34" charset="-122"/>
                <a:cs typeface="Aptos" pitchFamily="34" charset="-120"/>
              </a:rPr>
              <a:t>Input: one RGB image.</a:t>
            </a:r>
            <a:endParaRPr lang="en-US" sz="1600" dirty="0"/>
          </a:p>
          <a:p>
            <a:r>
              <a:rPr lang="en-US" sz="1600" dirty="0">
                <a:solidFill>
                  <a:srgbClr val="111827"/>
                </a:solidFill>
                <a:latin typeface="Aptos" pitchFamily="34" charset="0"/>
                <a:ea typeface="Aptos" pitchFamily="34" charset="-122"/>
                <a:cs typeface="Aptos" pitchFamily="34" charset="-120"/>
              </a:rPr>
              <a:t>Task 1: binary classification - real vs AI-generated.</a:t>
            </a:r>
            <a:endParaRPr lang="en-US" sz="1600" dirty="0"/>
          </a:p>
          <a:p>
            <a:r>
              <a:rPr lang="en-US" sz="1600" dirty="0">
                <a:solidFill>
                  <a:srgbClr val="111827"/>
                </a:solidFill>
                <a:latin typeface="Aptos" pitchFamily="34" charset="0"/>
                <a:ea typeface="Aptos" pitchFamily="34" charset="-122"/>
                <a:cs typeface="Aptos" pitchFamily="34" charset="-120"/>
              </a:rPr>
              <a:t>Task 2: transformation classification - original, transfer, redigital.</a:t>
            </a:r>
            <a:endParaRPr lang="en-US" sz="1600" dirty="0"/>
          </a:p>
          <a:p>
            <a:r>
              <a:rPr lang="en-US" sz="1600" dirty="0">
                <a:solidFill>
                  <a:srgbClr val="111827"/>
                </a:solidFill>
                <a:latin typeface="Aptos" pitchFamily="34" charset="0"/>
                <a:ea typeface="Aptos" pitchFamily="34" charset="-122"/>
                <a:cs typeface="Aptos" pitchFamily="34" charset="-120"/>
              </a:rPr>
              <a:t>Both outputs are produced from the same shared representation.</a:t>
            </a:r>
            <a:endParaRPr lang="en-US" sz="1600" dirty="0"/>
          </a:p>
        </p:txBody>
      </p:sp>
      <p:sp>
        <p:nvSpPr>
          <p:cNvPr id="6" name="Shape 4"/>
          <p:cNvSpPr/>
          <p:nvPr/>
        </p:nvSpPr>
        <p:spPr>
          <a:xfrm>
            <a:off x="5715000" y="2880360"/>
            <a:ext cx="1280160" cy="0"/>
          </a:xfrm>
          <a:prstGeom prst="line">
            <a:avLst/>
          </a:prstGeom>
          <a:noFill/>
          <a:ln w="25400">
            <a:solidFill>
              <a:srgbClr val="0F3D5E"/>
            </a:solidFill>
            <a:prstDash val="solid"/>
            <a:headEnd type="none"/>
            <a:tailEnd type="triangle"/>
          </a:ln>
        </p:spPr>
      </p:sp>
      <p:sp>
        <p:nvSpPr>
          <p:cNvPr id="7" name="Shape 5"/>
          <p:cNvSpPr/>
          <p:nvPr/>
        </p:nvSpPr>
        <p:spPr>
          <a:xfrm>
            <a:off x="8412480" y="2880360"/>
            <a:ext cx="1143000" cy="-731520"/>
          </a:xfrm>
          <a:prstGeom prst="line">
            <a:avLst/>
          </a:prstGeom>
          <a:noFill/>
          <a:ln w="25400">
            <a:solidFill>
              <a:srgbClr val="0F3D5E"/>
            </a:solidFill>
            <a:prstDash val="solid"/>
            <a:headEnd type="none"/>
            <a:tailEnd type="triangle"/>
          </a:ln>
        </p:spPr>
      </p:sp>
      <p:sp>
        <p:nvSpPr>
          <p:cNvPr id="8" name="Shape 6"/>
          <p:cNvSpPr/>
          <p:nvPr/>
        </p:nvSpPr>
        <p:spPr>
          <a:xfrm>
            <a:off x="8412480" y="2880360"/>
            <a:ext cx="1143000" cy="731520"/>
          </a:xfrm>
          <a:prstGeom prst="line">
            <a:avLst/>
          </a:prstGeom>
          <a:noFill/>
          <a:ln w="25400">
            <a:solidFill>
              <a:srgbClr val="D97706"/>
            </a:solidFill>
            <a:prstDash val="solid"/>
            <a:headEnd type="none"/>
            <a:tailEnd type="triangle"/>
          </a:ln>
        </p:spPr>
      </p:sp>
      <p:sp>
        <p:nvSpPr>
          <p:cNvPr id="9" name="Shape 7"/>
          <p:cNvSpPr/>
          <p:nvPr/>
        </p:nvSpPr>
        <p:spPr>
          <a:xfrm>
            <a:off x="4663440" y="2423160"/>
            <a:ext cx="1051560" cy="914400"/>
          </a:xfrm>
          <a:prstGeom prst="roundRect">
            <a:avLst>
              <a:gd name="adj" fmla="val 10000"/>
            </a:avLst>
          </a:prstGeom>
          <a:solidFill>
            <a:srgbClr val="F8FAFC"/>
          </a:solidFill>
          <a:ln w="12700">
            <a:solidFill>
              <a:srgbClr val="CBD5E1"/>
            </a:solidFill>
            <a:prstDash val="solid"/>
          </a:ln>
        </p:spPr>
      </p:sp>
      <p:sp>
        <p:nvSpPr>
          <p:cNvPr id="10" name="Text 8"/>
          <p:cNvSpPr/>
          <p:nvPr/>
        </p:nvSpPr>
        <p:spPr>
          <a:xfrm>
            <a:off x="4736592" y="2496312"/>
            <a:ext cx="905256" cy="768096"/>
          </a:xfrm>
          <a:prstGeom prst="rect">
            <a:avLst/>
          </a:prstGeom>
          <a:noFill/>
          <a:ln/>
        </p:spPr>
        <p:txBody>
          <a:bodyPr wrap="square" lIns="0" tIns="0" rIns="0" bIns="0"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Input</a:t>
            </a:r>
            <a:endParaRPr lang="en-US" sz="1300" dirty="0"/>
          </a:p>
          <a:p>
            <a:pPr algn="ctr" indent="0" marL="0">
              <a:buNone/>
            </a:pPr>
            <a:r>
              <a:rPr lang="en-US" sz="1300" b="1" dirty="0">
                <a:solidFill>
                  <a:srgbClr val="111827"/>
                </a:solidFill>
                <a:latin typeface="Aptos" pitchFamily="34" charset="0"/>
                <a:ea typeface="Aptos" pitchFamily="34" charset="-122"/>
                <a:cs typeface="Aptos" pitchFamily="34" charset="-120"/>
              </a:rPr>
              <a:t>image</a:t>
            </a:r>
            <a:endParaRPr lang="en-US" sz="1300" dirty="0"/>
          </a:p>
        </p:txBody>
      </p:sp>
      <p:sp>
        <p:nvSpPr>
          <p:cNvPr id="11" name="Shape 9"/>
          <p:cNvSpPr/>
          <p:nvPr/>
        </p:nvSpPr>
        <p:spPr>
          <a:xfrm>
            <a:off x="6995160" y="2331720"/>
            <a:ext cx="1417320" cy="1097280"/>
          </a:xfrm>
          <a:prstGeom prst="roundRect">
            <a:avLst>
              <a:gd name="adj" fmla="val 8333"/>
            </a:avLst>
          </a:prstGeom>
          <a:solidFill>
            <a:srgbClr val="DBEAFE"/>
          </a:solidFill>
          <a:ln w="12700">
            <a:solidFill>
              <a:srgbClr val="CBD5E1"/>
            </a:solidFill>
            <a:prstDash val="solid"/>
          </a:ln>
        </p:spPr>
      </p:sp>
      <p:sp>
        <p:nvSpPr>
          <p:cNvPr id="12" name="Text 10"/>
          <p:cNvSpPr/>
          <p:nvPr/>
        </p:nvSpPr>
        <p:spPr>
          <a:xfrm>
            <a:off x="7068312" y="2404872"/>
            <a:ext cx="1271016" cy="950976"/>
          </a:xfrm>
          <a:prstGeom prst="rect">
            <a:avLst/>
          </a:prstGeom>
          <a:noFill/>
          <a:ln/>
        </p:spPr>
        <p:txBody>
          <a:bodyPr wrap="square" lIns="0" tIns="0" rIns="0" bIns="0" rtlCol="0" anchor="ctr">
            <a:normAutofit/>
          </a:bodyPr>
          <a:lstStyle/>
          <a:p>
            <a:pPr algn="ctr" indent="0" marL="0">
              <a:buNone/>
            </a:pPr>
            <a:r>
              <a:rPr lang="en-US" sz="1300" b="1" dirty="0">
                <a:solidFill>
                  <a:srgbClr val="0F3D5E"/>
                </a:solidFill>
                <a:latin typeface="Aptos" pitchFamily="34" charset="0"/>
                <a:ea typeface="Aptos" pitchFamily="34" charset="-122"/>
                <a:cs typeface="Aptos" pitchFamily="34" charset="-120"/>
              </a:rPr>
              <a:t>Shared</a:t>
            </a:r>
            <a:endParaRPr lang="en-US" sz="1300" dirty="0"/>
          </a:p>
          <a:p>
            <a:pPr algn="ctr" indent="0" marL="0">
              <a:buNone/>
            </a:pPr>
            <a:r>
              <a:rPr lang="en-US" sz="1300" b="1" dirty="0">
                <a:solidFill>
                  <a:srgbClr val="0F3D5E"/>
                </a:solidFill>
                <a:latin typeface="Aptos" pitchFamily="34" charset="0"/>
                <a:ea typeface="Aptos" pitchFamily="34" charset="-122"/>
                <a:cs typeface="Aptos" pitchFamily="34" charset="-120"/>
              </a:rPr>
              <a:t>backbone</a:t>
            </a:r>
            <a:endParaRPr lang="en-US" sz="1300" dirty="0"/>
          </a:p>
        </p:txBody>
      </p:sp>
      <p:sp>
        <p:nvSpPr>
          <p:cNvPr id="13" name="Shape 11"/>
          <p:cNvSpPr/>
          <p:nvPr/>
        </p:nvSpPr>
        <p:spPr>
          <a:xfrm>
            <a:off x="9555480" y="1737360"/>
            <a:ext cx="1600200" cy="822960"/>
          </a:xfrm>
          <a:prstGeom prst="roundRect">
            <a:avLst>
              <a:gd name="adj" fmla="val 11111"/>
            </a:avLst>
          </a:prstGeom>
          <a:solidFill>
            <a:srgbClr val="ECFDF5"/>
          </a:solidFill>
          <a:ln w="12700">
            <a:solidFill>
              <a:srgbClr val="CBD5E1"/>
            </a:solidFill>
            <a:prstDash val="solid"/>
          </a:ln>
        </p:spPr>
      </p:sp>
      <p:sp>
        <p:nvSpPr>
          <p:cNvPr id="14" name="Text 12"/>
          <p:cNvSpPr/>
          <p:nvPr/>
        </p:nvSpPr>
        <p:spPr>
          <a:xfrm>
            <a:off x="9628632" y="1810512"/>
            <a:ext cx="1453896" cy="676656"/>
          </a:xfrm>
          <a:prstGeom prst="rect">
            <a:avLst/>
          </a:prstGeom>
          <a:noFill/>
          <a:ln/>
        </p:spPr>
        <p:txBody>
          <a:bodyPr wrap="square" lIns="0" tIns="0" rIns="0" bIns="0"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Head 1</a:t>
            </a:r>
            <a:endParaRPr lang="en-US" sz="1300" dirty="0"/>
          </a:p>
          <a:p>
            <a:pPr algn="ctr" indent="0" marL="0">
              <a:buNone/>
            </a:pPr>
            <a:r>
              <a:rPr lang="en-US" sz="1300" b="1" dirty="0">
                <a:solidFill>
                  <a:srgbClr val="15803D"/>
                </a:solidFill>
                <a:latin typeface="Aptos" pitchFamily="34" charset="0"/>
                <a:ea typeface="Aptos" pitchFamily="34" charset="-122"/>
                <a:cs typeface="Aptos" pitchFamily="34" charset="-120"/>
              </a:rPr>
              <a:t>Real / Fake</a:t>
            </a:r>
            <a:endParaRPr lang="en-US" sz="1300" dirty="0"/>
          </a:p>
        </p:txBody>
      </p:sp>
      <p:sp>
        <p:nvSpPr>
          <p:cNvPr id="15" name="Shape 13"/>
          <p:cNvSpPr/>
          <p:nvPr/>
        </p:nvSpPr>
        <p:spPr>
          <a:xfrm>
            <a:off x="9555480" y="3200400"/>
            <a:ext cx="1600200" cy="822960"/>
          </a:xfrm>
          <a:prstGeom prst="roundRect">
            <a:avLst>
              <a:gd name="adj" fmla="val 11111"/>
            </a:avLst>
          </a:prstGeom>
          <a:solidFill>
            <a:srgbClr val="FEF3C7"/>
          </a:solidFill>
          <a:ln w="12700">
            <a:solidFill>
              <a:srgbClr val="CBD5E1"/>
            </a:solidFill>
            <a:prstDash val="solid"/>
          </a:ln>
        </p:spPr>
      </p:sp>
      <p:sp>
        <p:nvSpPr>
          <p:cNvPr id="16" name="Text 14"/>
          <p:cNvSpPr/>
          <p:nvPr/>
        </p:nvSpPr>
        <p:spPr>
          <a:xfrm>
            <a:off x="9628632" y="3273552"/>
            <a:ext cx="1453896" cy="676656"/>
          </a:xfrm>
          <a:prstGeom prst="rect">
            <a:avLst/>
          </a:prstGeom>
          <a:noFill/>
          <a:ln/>
        </p:spPr>
        <p:txBody>
          <a:bodyPr wrap="square" lIns="0" tIns="0" rIns="0" bIns="0" rtlCol="0" anchor="ctr">
            <a:normAutofit/>
          </a:bodyPr>
          <a:lstStyle/>
          <a:p>
            <a:pPr algn="ctr" indent="0" marL="0">
              <a:buNone/>
            </a:pPr>
            <a:r>
              <a:rPr lang="en-US" sz="1300" b="1" dirty="0">
                <a:solidFill>
                  <a:srgbClr val="92400E"/>
                </a:solidFill>
                <a:latin typeface="Aptos" pitchFamily="34" charset="0"/>
                <a:ea typeface="Aptos" pitchFamily="34" charset="-122"/>
                <a:cs typeface="Aptos" pitchFamily="34" charset="-120"/>
              </a:rPr>
              <a:t>Head 2</a:t>
            </a:r>
            <a:endParaRPr lang="en-US" sz="1300" dirty="0"/>
          </a:p>
          <a:p>
            <a:pPr algn="ctr" indent="0" marL="0">
              <a:buNone/>
            </a:pPr>
            <a:r>
              <a:rPr lang="en-US" sz="1300" b="1" dirty="0">
                <a:solidFill>
                  <a:srgbClr val="92400E"/>
                </a:solidFill>
                <a:latin typeface="Aptos" pitchFamily="34" charset="0"/>
                <a:ea typeface="Aptos" pitchFamily="34" charset="-122"/>
                <a:cs typeface="Aptos" pitchFamily="34" charset="-120"/>
              </a:rPr>
              <a:t>Transformation</a:t>
            </a:r>
            <a:endParaRPr lang="en-US" sz="1300" dirty="0"/>
          </a:p>
        </p:txBody>
      </p:sp>
      <p:sp>
        <p:nvSpPr>
          <p:cNvPr id="17" name="Shape 15"/>
          <p:cNvSpPr/>
          <p:nvPr/>
        </p:nvSpPr>
        <p:spPr>
          <a:xfrm>
            <a:off x="6309360" y="4800600"/>
            <a:ext cx="3840480" cy="594360"/>
          </a:xfrm>
          <a:prstGeom prst="roundRect">
            <a:avLst>
              <a:gd name="adj" fmla="val 18462"/>
            </a:avLst>
          </a:prstGeom>
          <a:solidFill>
            <a:srgbClr val="0F3D5E"/>
          </a:solidFill>
          <a:ln w="12700">
            <a:solidFill>
              <a:srgbClr val="0F3D5E">
                <a:alpha val="0"/>
              </a:srgbClr>
            </a:solidFill>
            <a:prstDash val="solid"/>
          </a:ln>
        </p:spPr>
      </p:sp>
      <p:sp>
        <p:nvSpPr>
          <p:cNvPr id="18" name="Text 16"/>
          <p:cNvSpPr/>
          <p:nvPr/>
        </p:nvSpPr>
        <p:spPr>
          <a:xfrm>
            <a:off x="6419088" y="4910328"/>
            <a:ext cx="3621024" cy="37490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One image, two forensic questions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Proposed Method</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7 / 12</a:t>
            </a:r>
            <a:endParaRPr lang="en-US" sz="850" dirty="0"/>
          </a:p>
        </p:txBody>
      </p:sp>
      <p:sp>
        <p:nvSpPr>
          <p:cNvPr id="5" name="Text 3"/>
          <p:cNvSpPr/>
          <p:nvPr/>
        </p:nvSpPr>
        <p:spPr>
          <a:xfrm>
            <a:off x="685800" y="960120"/>
            <a:ext cx="329184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MULTI-TASK EFFICIENTNET-B0</a:t>
            </a:r>
            <a:endParaRPr lang="en-US" sz="900" dirty="0"/>
          </a:p>
        </p:txBody>
      </p:sp>
      <p:sp>
        <p:nvSpPr>
          <p:cNvPr id="6" name="Text 4"/>
          <p:cNvSpPr/>
          <p:nvPr/>
        </p:nvSpPr>
        <p:spPr>
          <a:xfrm>
            <a:off x="685800" y="1261872"/>
            <a:ext cx="3749040" cy="2011680"/>
          </a:xfrm>
          <a:prstGeom prst="rect">
            <a:avLst/>
          </a:prstGeom>
          <a:noFill/>
          <a:ln/>
        </p:spPr>
        <p:txBody>
          <a:bodyPr wrap="square" rtlCol="0" anchor="ctr">
            <a:normAutofit/>
          </a:bodyPr>
          <a:lstStyle/>
          <a:p>
            <a:r>
              <a:rPr lang="en-US" sz="1550" dirty="0">
                <a:solidFill>
                  <a:srgbClr val="111827"/>
                </a:solidFill>
                <a:latin typeface="Aptos" pitchFamily="34" charset="0"/>
                <a:ea typeface="Aptos" pitchFamily="34" charset="-122"/>
                <a:cs typeface="Aptos" pitchFamily="34" charset="-120"/>
              </a:rPr>
              <a:t>ImageNet-pretrained EfficientNet-B0 backbone.</a:t>
            </a:r>
            <a:endParaRPr lang="en-US" sz="1550" dirty="0"/>
          </a:p>
          <a:p>
            <a:r>
              <a:rPr lang="en-US" sz="1550" dirty="0">
                <a:solidFill>
                  <a:srgbClr val="111827"/>
                </a:solidFill>
                <a:latin typeface="Aptos" pitchFamily="34" charset="0"/>
                <a:ea typeface="Aptos" pitchFamily="34" charset="-122"/>
                <a:cs typeface="Aptos" pitchFamily="34" charset="-120"/>
              </a:rPr>
              <a:t>Original classifier removed and replaced by two linear heads.</a:t>
            </a:r>
            <a:endParaRPr lang="en-US" sz="1550" dirty="0"/>
          </a:p>
          <a:p>
            <a:r>
              <a:rPr lang="en-US" sz="1550" dirty="0">
                <a:solidFill>
                  <a:srgbClr val="111827"/>
                </a:solidFill>
                <a:latin typeface="Aptos" pitchFamily="34" charset="0"/>
                <a:ea typeface="Aptos" pitchFamily="34" charset="-122"/>
                <a:cs typeface="Aptos" pitchFamily="34" charset="-120"/>
              </a:rPr>
              <a:t>Head 1: 2 classes for real/fake; Head 2: 3 transformation classes.</a:t>
            </a:r>
            <a:endParaRPr lang="en-US" sz="1550" dirty="0"/>
          </a:p>
          <a:p>
            <a:r>
              <a:rPr lang="en-US" sz="1550" dirty="0">
                <a:solidFill>
                  <a:srgbClr val="111827"/>
                </a:solidFill>
                <a:latin typeface="Aptos" pitchFamily="34" charset="0"/>
                <a:ea typeface="Aptos" pitchFamily="34" charset="-122"/>
                <a:cs typeface="Aptos" pitchFamily="34" charset="-120"/>
              </a:rPr>
              <a:t>Joint training uses a weighted sum of two Cross-Entropy losses.</a:t>
            </a:r>
            <a:endParaRPr lang="en-US" sz="1550" dirty="0"/>
          </a:p>
        </p:txBody>
      </p:sp>
      <p:sp>
        <p:nvSpPr>
          <p:cNvPr id="7" name="Shape 5"/>
          <p:cNvSpPr/>
          <p:nvPr/>
        </p:nvSpPr>
        <p:spPr>
          <a:xfrm>
            <a:off x="5715000" y="2423160"/>
            <a:ext cx="960120" cy="0"/>
          </a:xfrm>
          <a:prstGeom prst="line">
            <a:avLst/>
          </a:prstGeom>
          <a:noFill/>
          <a:ln w="25400">
            <a:solidFill>
              <a:srgbClr val="0F3D5E"/>
            </a:solidFill>
            <a:prstDash val="solid"/>
            <a:headEnd type="none"/>
            <a:tailEnd type="triangle"/>
          </a:ln>
        </p:spPr>
      </p:sp>
      <p:sp>
        <p:nvSpPr>
          <p:cNvPr id="8" name="Shape 6"/>
          <p:cNvSpPr/>
          <p:nvPr/>
        </p:nvSpPr>
        <p:spPr>
          <a:xfrm>
            <a:off x="8275320" y="2423160"/>
            <a:ext cx="1005840" cy="-457200"/>
          </a:xfrm>
          <a:prstGeom prst="line">
            <a:avLst/>
          </a:prstGeom>
          <a:noFill/>
          <a:ln w="25400">
            <a:solidFill>
              <a:srgbClr val="15803D"/>
            </a:solidFill>
            <a:prstDash val="solid"/>
            <a:headEnd type="none"/>
            <a:tailEnd type="triangle"/>
          </a:ln>
        </p:spPr>
      </p:sp>
      <p:sp>
        <p:nvSpPr>
          <p:cNvPr id="9" name="Shape 7"/>
          <p:cNvSpPr/>
          <p:nvPr/>
        </p:nvSpPr>
        <p:spPr>
          <a:xfrm>
            <a:off x="8275320" y="2423160"/>
            <a:ext cx="1005840" cy="457200"/>
          </a:xfrm>
          <a:prstGeom prst="line">
            <a:avLst/>
          </a:prstGeom>
          <a:noFill/>
          <a:ln w="25400">
            <a:solidFill>
              <a:srgbClr val="D97706"/>
            </a:solidFill>
            <a:prstDash val="solid"/>
            <a:headEnd type="none"/>
            <a:tailEnd type="triangle"/>
          </a:ln>
        </p:spPr>
      </p:sp>
      <p:sp>
        <p:nvSpPr>
          <p:cNvPr id="10" name="Shape 8"/>
          <p:cNvSpPr/>
          <p:nvPr/>
        </p:nvSpPr>
        <p:spPr>
          <a:xfrm>
            <a:off x="4892040" y="2011680"/>
            <a:ext cx="822960" cy="822960"/>
          </a:xfrm>
          <a:prstGeom prst="roundRect">
            <a:avLst>
              <a:gd name="adj" fmla="val 11111"/>
            </a:avLst>
          </a:prstGeom>
          <a:solidFill>
            <a:srgbClr val="F8FAFC"/>
          </a:solidFill>
          <a:ln w="12700">
            <a:solidFill>
              <a:srgbClr val="CBD5E1"/>
            </a:solidFill>
            <a:prstDash val="solid"/>
          </a:ln>
        </p:spPr>
      </p:sp>
      <p:sp>
        <p:nvSpPr>
          <p:cNvPr id="11" name="Text 9"/>
          <p:cNvSpPr/>
          <p:nvPr/>
        </p:nvSpPr>
        <p:spPr>
          <a:xfrm>
            <a:off x="4965192" y="2084832"/>
            <a:ext cx="676656" cy="676656"/>
          </a:xfrm>
          <a:prstGeom prst="rect">
            <a:avLst/>
          </a:prstGeom>
          <a:noFill/>
          <a:ln/>
        </p:spPr>
        <p:txBody>
          <a:bodyPr wrap="square" lIns="0" tIns="0" rIns="0" bIns="0" rtlCol="0" anchor="ctr">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224 x 224</a:t>
            </a:r>
            <a:endParaRPr lang="en-US" sz="1200" dirty="0"/>
          </a:p>
          <a:p>
            <a:pPr algn="ctr" indent="0" marL="0">
              <a:buNone/>
            </a:pPr>
            <a:r>
              <a:rPr lang="en-US" sz="1200" b="1" dirty="0">
                <a:solidFill>
                  <a:srgbClr val="111827"/>
                </a:solidFill>
                <a:latin typeface="Aptos" pitchFamily="34" charset="0"/>
                <a:ea typeface="Aptos" pitchFamily="34" charset="-122"/>
                <a:cs typeface="Aptos" pitchFamily="34" charset="-120"/>
              </a:rPr>
              <a:t>RGB</a:t>
            </a:r>
            <a:endParaRPr lang="en-US" sz="1200" dirty="0"/>
          </a:p>
        </p:txBody>
      </p:sp>
      <p:sp>
        <p:nvSpPr>
          <p:cNvPr id="12" name="Shape 10"/>
          <p:cNvSpPr/>
          <p:nvPr/>
        </p:nvSpPr>
        <p:spPr>
          <a:xfrm>
            <a:off x="6675120" y="1874520"/>
            <a:ext cx="1600200" cy="1097280"/>
          </a:xfrm>
          <a:prstGeom prst="roundRect">
            <a:avLst>
              <a:gd name="adj" fmla="val 8333"/>
            </a:avLst>
          </a:prstGeom>
          <a:solidFill>
            <a:srgbClr val="DBEAFE"/>
          </a:solidFill>
          <a:ln w="12700">
            <a:solidFill>
              <a:srgbClr val="CBD5E1"/>
            </a:solidFill>
            <a:prstDash val="solid"/>
          </a:ln>
        </p:spPr>
      </p:sp>
      <p:sp>
        <p:nvSpPr>
          <p:cNvPr id="13" name="Text 11"/>
          <p:cNvSpPr/>
          <p:nvPr/>
        </p:nvSpPr>
        <p:spPr>
          <a:xfrm>
            <a:off x="6748272" y="1947672"/>
            <a:ext cx="1453896" cy="950976"/>
          </a:xfrm>
          <a:prstGeom prst="rect">
            <a:avLst/>
          </a:prstGeom>
          <a:noFill/>
          <a:ln/>
        </p:spPr>
        <p:txBody>
          <a:bodyPr wrap="square" lIns="0" tIns="0" rIns="0" bIns="0" rtlCol="0" anchor="ctr">
            <a:normAutofit/>
          </a:bodyPr>
          <a:lstStyle/>
          <a:p>
            <a:pPr algn="ctr" indent="0" marL="0">
              <a:buNone/>
            </a:pPr>
            <a:r>
              <a:rPr lang="en-US" sz="1300" b="1" dirty="0">
                <a:solidFill>
                  <a:srgbClr val="0F3D5E"/>
                </a:solidFill>
                <a:latin typeface="Aptos" pitchFamily="34" charset="0"/>
                <a:ea typeface="Aptos" pitchFamily="34" charset="-122"/>
                <a:cs typeface="Aptos" pitchFamily="34" charset="-120"/>
              </a:rPr>
              <a:t>EfficientNet-B0</a:t>
            </a:r>
            <a:endParaRPr lang="en-US" sz="1300" dirty="0"/>
          </a:p>
          <a:p>
            <a:pPr algn="ctr" indent="0" marL="0">
              <a:buNone/>
            </a:pPr>
            <a:r>
              <a:rPr lang="en-US" sz="1300" b="1" dirty="0">
                <a:solidFill>
                  <a:srgbClr val="0F3D5E"/>
                </a:solidFill>
                <a:latin typeface="Aptos" pitchFamily="34" charset="0"/>
                <a:ea typeface="Aptos" pitchFamily="34" charset="-122"/>
                <a:cs typeface="Aptos" pitchFamily="34" charset="-120"/>
              </a:rPr>
              <a:t>pretrained</a:t>
            </a:r>
            <a:endParaRPr lang="en-US" sz="1300" dirty="0"/>
          </a:p>
        </p:txBody>
      </p:sp>
      <p:sp>
        <p:nvSpPr>
          <p:cNvPr id="14" name="Shape 12"/>
          <p:cNvSpPr/>
          <p:nvPr/>
        </p:nvSpPr>
        <p:spPr>
          <a:xfrm>
            <a:off x="9281160" y="1554480"/>
            <a:ext cx="1417320" cy="685800"/>
          </a:xfrm>
          <a:prstGeom prst="roundRect">
            <a:avLst>
              <a:gd name="adj" fmla="val 13333"/>
            </a:avLst>
          </a:prstGeom>
          <a:solidFill>
            <a:srgbClr val="ECFDF5"/>
          </a:solidFill>
          <a:ln w="12700">
            <a:solidFill>
              <a:srgbClr val="CBD5E1"/>
            </a:solidFill>
            <a:prstDash val="solid"/>
          </a:ln>
        </p:spPr>
      </p:sp>
      <p:sp>
        <p:nvSpPr>
          <p:cNvPr id="15" name="Text 13"/>
          <p:cNvSpPr/>
          <p:nvPr/>
        </p:nvSpPr>
        <p:spPr>
          <a:xfrm>
            <a:off x="9354312" y="1627632"/>
            <a:ext cx="1271016" cy="539496"/>
          </a:xfrm>
          <a:prstGeom prst="rect">
            <a:avLst/>
          </a:prstGeom>
          <a:noFill/>
          <a:ln/>
        </p:spPr>
        <p:txBody>
          <a:bodyPr wrap="square" lIns="0" tIns="0" rIns="0" bIns="0" rtlCol="0" anchor="ctr">
            <a:normAutofit/>
          </a:bodyPr>
          <a:lstStyle/>
          <a:p>
            <a:pPr algn="ctr" indent="0" marL="0">
              <a:buNone/>
            </a:pPr>
            <a:r>
              <a:rPr lang="en-US" sz="1200" b="1" dirty="0">
                <a:solidFill>
                  <a:srgbClr val="15803D"/>
                </a:solidFill>
                <a:latin typeface="Aptos" pitchFamily="34" charset="0"/>
                <a:ea typeface="Aptos" pitchFamily="34" charset="-122"/>
                <a:cs typeface="Aptos" pitchFamily="34" charset="-120"/>
              </a:rPr>
              <a:t>2-class</a:t>
            </a:r>
            <a:endParaRPr lang="en-US" sz="1200" dirty="0"/>
          </a:p>
          <a:p>
            <a:pPr algn="ctr" indent="0" marL="0">
              <a:buNone/>
            </a:pPr>
            <a:r>
              <a:rPr lang="en-US" sz="1200" b="1" dirty="0">
                <a:solidFill>
                  <a:srgbClr val="15803D"/>
                </a:solidFill>
                <a:latin typeface="Aptos" pitchFamily="34" charset="0"/>
                <a:ea typeface="Aptos" pitchFamily="34" charset="-122"/>
                <a:cs typeface="Aptos" pitchFamily="34" charset="-120"/>
              </a:rPr>
              <a:t>RF head</a:t>
            </a:r>
            <a:endParaRPr lang="en-US" sz="1200" dirty="0"/>
          </a:p>
        </p:txBody>
      </p:sp>
      <p:sp>
        <p:nvSpPr>
          <p:cNvPr id="16" name="Shape 14"/>
          <p:cNvSpPr/>
          <p:nvPr/>
        </p:nvSpPr>
        <p:spPr>
          <a:xfrm>
            <a:off x="9281160" y="2606040"/>
            <a:ext cx="1417320" cy="685800"/>
          </a:xfrm>
          <a:prstGeom prst="roundRect">
            <a:avLst>
              <a:gd name="adj" fmla="val 13333"/>
            </a:avLst>
          </a:prstGeom>
          <a:solidFill>
            <a:srgbClr val="FEF3C7"/>
          </a:solidFill>
          <a:ln w="12700">
            <a:solidFill>
              <a:srgbClr val="CBD5E1"/>
            </a:solidFill>
            <a:prstDash val="solid"/>
          </a:ln>
        </p:spPr>
      </p:sp>
      <p:sp>
        <p:nvSpPr>
          <p:cNvPr id="17" name="Text 15"/>
          <p:cNvSpPr/>
          <p:nvPr/>
        </p:nvSpPr>
        <p:spPr>
          <a:xfrm>
            <a:off x="9354312" y="2679192"/>
            <a:ext cx="1271016" cy="539496"/>
          </a:xfrm>
          <a:prstGeom prst="rect">
            <a:avLst/>
          </a:prstGeom>
          <a:noFill/>
          <a:ln/>
        </p:spPr>
        <p:txBody>
          <a:bodyPr wrap="square" lIns="0" tIns="0" rIns="0" bIns="0" rtlCol="0" anchor="ctr">
            <a:normAutofit/>
          </a:bodyPr>
          <a:lstStyle/>
          <a:p>
            <a:pPr algn="ctr" indent="0" marL="0">
              <a:buNone/>
            </a:pPr>
            <a:r>
              <a:rPr lang="en-US" sz="1200" b="1" dirty="0">
                <a:solidFill>
                  <a:srgbClr val="92400E"/>
                </a:solidFill>
                <a:latin typeface="Aptos" pitchFamily="34" charset="0"/>
                <a:ea typeface="Aptos" pitchFamily="34" charset="-122"/>
                <a:cs typeface="Aptos" pitchFamily="34" charset="-120"/>
              </a:rPr>
              <a:t>3-class</a:t>
            </a:r>
            <a:endParaRPr lang="en-US" sz="1200" dirty="0"/>
          </a:p>
          <a:p>
            <a:pPr algn="ctr" indent="0" marL="0">
              <a:buNone/>
            </a:pPr>
            <a:r>
              <a:rPr lang="en-US" sz="1200" b="1" dirty="0">
                <a:solidFill>
                  <a:srgbClr val="92400E"/>
                </a:solidFill>
                <a:latin typeface="Aptos" pitchFamily="34" charset="0"/>
                <a:ea typeface="Aptos" pitchFamily="34" charset="-122"/>
                <a:cs typeface="Aptos" pitchFamily="34" charset="-120"/>
              </a:rPr>
              <a:t>Trans head</a:t>
            </a:r>
            <a:endParaRPr lang="en-US" sz="1200" dirty="0"/>
          </a:p>
        </p:txBody>
      </p:sp>
      <p:sp>
        <p:nvSpPr>
          <p:cNvPr id="18" name="Shape 16"/>
          <p:cNvSpPr/>
          <p:nvPr/>
        </p:nvSpPr>
        <p:spPr>
          <a:xfrm>
            <a:off x="5715000" y="4251960"/>
            <a:ext cx="5394960" cy="685800"/>
          </a:xfrm>
          <a:prstGeom prst="roundRect">
            <a:avLst>
              <a:gd name="adj" fmla="val 13333"/>
            </a:avLst>
          </a:prstGeom>
          <a:solidFill>
            <a:srgbClr val="F8FAFC"/>
          </a:solidFill>
          <a:ln w="12700">
            <a:solidFill>
              <a:srgbClr val="CBD5E1"/>
            </a:solidFill>
            <a:prstDash val="solid"/>
          </a:ln>
        </p:spPr>
      </p:sp>
      <p:sp>
        <p:nvSpPr>
          <p:cNvPr id="19" name="Text 17"/>
          <p:cNvSpPr/>
          <p:nvPr/>
        </p:nvSpPr>
        <p:spPr>
          <a:xfrm>
            <a:off x="5897880" y="4462272"/>
            <a:ext cx="5029200" cy="219456"/>
          </a:xfrm>
          <a:prstGeom prst="rect">
            <a:avLst/>
          </a:prstGeom>
          <a:noFill/>
          <a:ln/>
        </p:spPr>
        <p:txBody>
          <a:bodyPr wrap="square" lIns="0" tIns="0" rIns="0" bIns="0" rtlCol="0" anchor="ctr"/>
          <a:lstStyle/>
          <a:p>
            <a:pPr algn="ctr" indent="0" marL="0">
              <a:buNone/>
            </a:pPr>
            <a:r>
              <a:rPr lang="en-US" sz="1500" b="1" dirty="0">
                <a:solidFill>
                  <a:srgbClr val="111827"/>
                </a:solidFill>
                <a:latin typeface="Aptos" pitchFamily="34" charset="0"/>
                <a:ea typeface="Aptos" pitchFamily="34" charset="-122"/>
                <a:cs typeface="Aptos" pitchFamily="34" charset="-120"/>
              </a:rPr>
              <a:t>L_total = alpha x L_real/fake + (1 - alpha) x L_transformation</a:t>
            </a:r>
            <a:endParaRPr lang="en-US" sz="1500" dirty="0"/>
          </a:p>
        </p:txBody>
      </p:sp>
      <p:sp>
        <p:nvSpPr>
          <p:cNvPr id="20" name="Shape 18"/>
          <p:cNvSpPr/>
          <p:nvPr/>
        </p:nvSpPr>
        <p:spPr>
          <a:xfrm>
            <a:off x="822960" y="3794760"/>
            <a:ext cx="914400" cy="320040"/>
          </a:xfrm>
          <a:prstGeom prst="rect">
            <a:avLst/>
          </a:prstGeom>
          <a:solidFill>
            <a:srgbClr val="0F3D5E"/>
          </a:solidFill>
          <a:ln w="9525">
            <a:solidFill>
              <a:srgbClr val="CBD5E1"/>
            </a:solidFill>
            <a:prstDash val="solid"/>
          </a:ln>
        </p:spPr>
      </p:sp>
      <p:sp>
        <p:nvSpPr>
          <p:cNvPr id="21" name="Text 19"/>
          <p:cNvSpPr/>
          <p:nvPr/>
        </p:nvSpPr>
        <p:spPr>
          <a:xfrm>
            <a:off x="877824" y="3840480"/>
            <a:ext cx="804672" cy="22860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alpha</a:t>
            </a:r>
            <a:endParaRPr lang="en-US" sz="1000" dirty="0"/>
          </a:p>
        </p:txBody>
      </p:sp>
      <p:sp>
        <p:nvSpPr>
          <p:cNvPr id="22" name="Shape 20"/>
          <p:cNvSpPr/>
          <p:nvPr/>
        </p:nvSpPr>
        <p:spPr>
          <a:xfrm>
            <a:off x="1737360" y="3794760"/>
            <a:ext cx="3429000" cy="320040"/>
          </a:xfrm>
          <a:prstGeom prst="rect">
            <a:avLst/>
          </a:prstGeom>
          <a:solidFill>
            <a:srgbClr val="0F3D5E"/>
          </a:solidFill>
          <a:ln w="9525">
            <a:solidFill>
              <a:srgbClr val="CBD5E1"/>
            </a:solidFill>
            <a:prstDash val="solid"/>
          </a:ln>
        </p:spPr>
      </p:sp>
      <p:sp>
        <p:nvSpPr>
          <p:cNvPr id="23" name="Text 21"/>
          <p:cNvSpPr/>
          <p:nvPr/>
        </p:nvSpPr>
        <p:spPr>
          <a:xfrm>
            <a:off x="1792224" y="3840480"/>
            <a:ext cx="3319272" cy="22860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Training focus</a:t>
            </a:r>
            <a:endParaRPr lang="en-US" sz="1000" dirty="0"/>
          </a:p>
        </p:txBody>
      </p:sp>
      <p:sp>
        <p:nvSpPr>
          <p:cNvPr id="24" name="Shape 22"/>
          <p:cNvSpPr/>
          <p:nvPr/>
        </p:nvSpPr>
        <p:spPr>
          <a:xfrm>
            <a:off x="822960" y="4114800"/>
            <a:ext cx="914400" cy="320040"/>
          </a:xfrm>
          <a:prstGeom prst="rect">
            <a:avLst/>
          </a:prstGeom>
          <a:solidFill>
            <a:srgbClr val="FFFFFF"/>
          </a:solidFill>
          <a:ln w="9525">
            <a:solidFill>
              <a:srgbClr val="CBD5E1"/>
            </a:solidFill>
            <a:prstDash val="solid"/>
          </a:ln>
        </p:spPr>
      </p:sp>
      <p:sp>
        <p:nvSpPr>
          <p:cNvPr id="25" name="Text 23"/>
          <p:cNvSpPr/>
          <p:nvPr/>
        </p:nvSpPr>
        <p:spPr>
          <a:xfrm>
            <a:off x="877824" y="4160520"/>
            <a:ext cx="8046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1.0</a:t>
            </a:r>
            <a:endParaRPr lang="en-US" sz="1050" dirty="0"/>
          </a:p>
        </p:txBody>
      </p:sp>
      <p:sp>
        <p:nvSpPr>
          <p:cNvPr id="26" name="Shape 24"/>
          <p:cNvSpPr/>
          <p:nvPr/>
        </p:nvSpPr>
        <p:spPr>
          <a:xfrm>
            <a:off x="1737360" y="4114800"/>
            <a:ext cx="3429000" cy="320040"/>
          </a:xfrm>
          <a:prstGeom prst="rect">
            <a:avLst/>
          </a:prstGeom>
          <a:solidFill>
            <a:srgbClr val="FFFFFF"/>
          </a:solidFill>
          <a:ln w="9525">
            <a:solidFill>
              <a:srgbClr val="CBD5E1"/>
            </a:solidFill>
            <a:prstDash val="solid"/>
          </a:ln>
        </p:spPr>
      </p:sp>
      <p:sp>
        <p:nvSpPr>
          <p:cNvPr id="27" name="Text 25"/>
          <p:cNvSpPr/>
          <p:nvPr/>
        </p:nvSpPr>
        <p:spPr>
          <a:xfrm>
            <a:off x="1792224" y="4160520"/>
            <a:ext cx="33192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single-task baseline</a:t>
            </a:r>
            <a:endParaRPr lang="en-US" sz="1050" dirty="0"/>
          </a:p>
        </p:txBody>
      </p:sp>
      <p:sp>
        <p:nvSpPr>
          <p:cNvPr id="28" name="Shape 26"/>
          <p:cNvSpPr/>
          <p:nvPr/>
        </p:nvSpPr>
        <p:spPr>
          <a:xfrm>
            <a:off x="822960" y="4434840"/>
            <a:ext cx="914400" cy="320040"/>
          </a:xfrm>
          <a:prstGeom prst="rect">
            <a:avLst/>
          </a:prstGeom>
          <a:solidFill>
            <a:srgbClr val="F8FAFC"/>
          </a:solidFill>
          <a:ln w="9525">
            <a:solidFill>
              <a:srgbClr val="CBD5E1"/>
            </a:solidFill>
            <a:prstDash val="solid"/>
          </a:ln>
        </p:spPr>
      </p:sp>
      <p:sp>
        <p:nvSpPr>
          <p:cNvPr id="29" name="Text 27"/>
          <p:cNvSpPr/>
          <p:nvPr/>
        </p:nvSpPr>
        <p:spPr>
          <a:xfrm>
            <a:off x="877824" y="4480560"/>
            <a:ext cx="8046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0.8</a:t>
            </a:r>
            <a:endParaRPr lang="en-US" sz="1050" dirty="0"/>
          </a:p>
        </p:txBody>
      </p:sp>
      <p:sp>
        <p:nvSpPr>
          <p:cNvPr id="30" name="Shape 28"/>
          <p:cNvSpPr/>
          <p:nvPr/>
        </p:nvSpPr>
        <p:spPr>
          <a:xfrm>
            <a:off x="1737360" y="4434840"/>
            <a:ext cx="3429000" cy="320040"/>
          </a:xfrm>
          <a:prstGeom prst="rect">
            <a:avLst/>
          </a:prstGeom>
          <a:solidFill>
            <a:srgbClr val="F8FAFC"/>
          </a:solidFill>
          <a:ln w="9525">
            <a:solidFill>
              <a:srgbClr val="CBD5E1"/>
            </a:solidFill>
            <a:prstDash val="solid"/>
          </a:ln>
        </p:spPr>
      </p:sp>
      <p:sp>
        <p:nvSpPr>
          <p:cNvPr id="31" name="Text 29"/>
          <p:cNvSpPr/>
          <p:nvPr/>
        </p:nvSpPr>
        <p:spPr>
          <a:xfrm>
            <a:off x="1792224" y="4480560"/>
            <a:ext cx="33192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prioritize real/fake</a:t>
            </a:r>
            <a:endParaRPr lang="en-US" sz="1050" dirty="0"/>
          </a:p>
        </p:txBody>
      </p:sp>
      <p:sp>
        <p:nvSpPr>
          <p:cNvPr id="32" name="Shape 30"/>
          <p:cNvSpPr/>
          <p:nvPr/>
        </p:nvSpPr>
        <p:spPr>
          <a:xfrm>
            <a:off x="822960" y="4754880"/>
            <a:ext cx="914400" cy="320040"/>
          </a:xfrm>
          <a:prstGeom prst="rect">
            <a:avLst/>
          </a:prstGeom>
          <a:solidFill>
            <a:srgbClr val="FFFFFF"/>
          </a:solidFill>
          <a:ln w="9525">
            <a:solidFill>
              <a:srgbClr val="CBD5E1"/>
            </a:solidFill>
            <a:prstDash val="solid"/>
          </a:ln>
        </p:spPr>
      </p:sp>
      <p:sp>
        <p:nvSpPr>
          <p:cNvPr id="33" name="Text 31"/>
          <p:cNvSpPr/>
          <p:nvPr/>
        </p:nvSpPr>
        <p:spPr>
          <a:xfrm>
            <a:off x="877824" y="4800600"/>
            <a:ext cx="8046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0.5</a:t>
            </a:r>
            <a:endParaRPr lang="en-US" sz="1050" dirty="0"/>
          </a:p>
        </p:txBody>
      </p:sp>
      <p:sp>
        <p:nvSpPr>
          <p:cNvPr id="34" name="Shape 32"/>
          <p:cNvSpPr/>
          <p:nvPr/>
        </p:nvSpPr>
        <p:spPr>
          <a:xfrm>
            <a:off x="1737360" y="4754880"/>
            <a:ext cx="3429000" cy="320040"/>
          </a:xfrm>
          <a:prstGeom prst="rect">
            <a:avLst/>
          </a:prstGeom>
          <a:solidFill>
            <a:srgbClr val="FFFFFF"/>
          </a:solidFill>
          <a:ln w="9525">
            <a:solidFill>
              <a:srgbClr val="CBD5E1"/>
            </a:solidFill>
            <a:prstDash val="solid"/>
          </a:ln>
        </p:spPr>
      </p:sp>
      <p:sp>
        <p:nvSpPr>
          <p:cNvPr id="35" name="Text 33"/>
          <p:cNvSpPr/>
          <p:nvPr/>
        </p:nvSpPr>
        <p:spPr>
          <a:xfrm>
            <a:off x="1792224" y="4800600"/>
            <a:ext cx="33192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balanced</a:t>
            </a:r>
            <a:endParaRPr lang="en-US" sz="1050" dirty="0"/>
          </a:p>
        </p:txBody>
      </p:sp>
      <p:sp>
        <p:nvSpPr>
          <p:cNvPr id="36" name="Shape 34"/>
          <p:cNvSpPr/>
          <p:nvPr/>
        </p:nvSpPr>
        <p:spPr>
          <a:xfrm>
            <a:off x="822960" y="5074920"/>
            <a:ext cx="914400" cy="320040"/>
          </a:xfrm>
          <a:prstGeom prst="rect">
            <a:avLst/>
          </a:prstGeom>
          <a:solidFill>
            <a:srgbClr val="F8FAFC"/>
          </a:solidFill>
          <a:ln w="9525">
            <a:solidFill>
              <a:srgbClr val="CBD5E1"/>
            </a:solidFill>
            <a:prstDash val="solid"/>
          </a:ln>
        </p:spPr>
      </p:sp>
      <p:sp>
        <p:nvSpPr>
          <p:cNvPr id="37" name="Text 35"/>
          <p:cNvSpPr/>
          <p:nvPr/>
        </p:nvSpPr>
        <p:spPr>
          <a:xfrm>
            <a:off x="877824" y="5120640"/>
            <a:ext cx="8046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0.2</a:t>
            </a:r>
            <a:endParaRPr lang="en-US" sz="1050" dirty="0"/>
          </a:p>
        </p:txBody>
      </p:sp>
      <p:sp>
        <p:nvSpPr>
          <p:cNvPr id="38" name="Shape 36"/>
          <p:cNvSpPr/>
          <p:nvPr/>
        </p:nvSpPr>
        <p:spPr>
          <a:xfrm>
            <a:off x="1737360" y="5074920"/>
            <a:ext cx="3429000" cy="320040"/>
          </a:xfrm>
          <a:prstGeom prst="rect">
            <a:avLst/>
          </a:prstGeom>
          <a:solidFill>
            <a:srgbClr val="F8FAFC"/>
          </a:solidFill>
          <a:ln w="9525">
            <a:solidFill>
              <a:srgbClr val="CBD5E1"/>
            </a:solidFill>
            <a:prstDash val="solid"/>
          </a:ln>
        </p:spPr>
      </p:sp>
      <p:sp>
        <p:nvSpPr>
          <p:cNvPr id="39" name="Text 37"/>
          <p:cNvSpPr/>
          <p:nvPr/>
        </p:nvSpPr>
        <p:spPr>
          <a:xfrm>
            <a:off x="1792224" y="5120640"/>
            <a:ext cx="3319272" cy="22860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prioritize transformation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Experimental Setup</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8 / 12</a:t>
            </a:r>
            <a:endParaRPr lang="en-US" sz="850" dirty="0"/>
          </a:p>
        </p:txBody>
      </p:sp>
      <p:sp>
        <p:nvSpPr>
          <p:cNvPr id="5" name="Shape 3"/>
          <p:cNvSpPr/>
          <p:nvPr/>
        </p:nvSpPr>
        <p:spPr>
          <a:xfrm>
            <a:off x="685800" y="1051560"/>
            <a:ext cx="1965960" cy="457200"/>
          </a:xfrm>
          <a:prstGeom prst="rect">
            <a:avLst/>
          </a:prstGeom>
          <a:solidFill>
            <a:srgbClr val="0F3D5E"/>
          </a:solidFill>
          <a:ln w="9525">
            <a:solidFill>
              <a:srgbClr val="CBD5E1"/>
            </a:solidFill>
            <a:prstDash val="solid"/>
          </a:ln>
        </p:spPr>
      </p:sp>
      <p:sp>
        <p:nvSpPr>
          <p:cNvPr id="6" name="Text 4"/>
          <p:cNvSpPr/>
          <p:nvPr/>
        </p:nvSpPr>
        <p:spPr>
          <a:xfrm>
            <a:off x="740664" y="1097280"/>
            <a:ext cx="1856232" cy="36576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Component</a:t>
            </a:r>
            <a:endParaRPr lang="en-US" sz="1100" dirty="0"/>
          </a:p>
        </p:txBody>
      </p:sp>
      <p:sp>
        <p:nvSpPr>
          <p:cNvPr id="7" name="Shape 5"/>
          <p:cNvSpPr/>
          <p:nvPr/>
        </p:nvSpPr>
        <p:spPr>
          <a:xfrm>
            <a:off x="2651760" y="1051560"/>
            <a:ext cx="4754880" cy="457200"/>
          </a:xfrm>
          <a:prstGeom prst="rect">
            <a:avLst/>
          </a:prstGeom>
          <a:solidFill>
            <a:srgbClr val="0F3D5E"/>
          </a:solidFill>
          <a:ln w="9525">
            <a:solidFill>
              <a:srgbClr val="CBD5E1"/>
            </a:solidFill>
            <a:prstDash val="solid"/>
          </a:ln>
        </p:spPr>
      </p:sp>
      <p:sp>
        <p:nvSpPr>
          <p:cNvPr id="8" name="Text 6"/>
          <p:cNvSpPr/>
          <p:nvPr/>
        </p:nvSpPr>
        <p:spPr>
          <a:xfrm>
            <a:off x="2706624" y="1097280"/>
            <a:ext cx="4645152" cy="36576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Configuration</a:t>
            </a:r>
            <a:endParaRPr lang="en-US" sz="1100" dirty="0"/>
          </a:p>
        </p:txBody>
      </p:sp>
      <p:sp>
        <p:nvSpPr>
          <p:cNvPr id="9" name="Shape 7"/>
          <p:cNvSpPr/>
          <p:nvPr/>
        </p:nvSpPr>
        <p:spPr>
          <a:xfrm>
            <a:off x="685800" y="1508760"/>
            <a:ext cx="1965960" cy="457200"/>
          </a:xfrm>
          <a:prstGeom prst="rect">
            <a:avLst/>
          </a:prstGeom>
          <a:solidFill>
            <a:srgbClr val="FFFFFF"/>
          </a:solidFill>
          <a:ln w="9525">
            <a:solidFill>
              <a:srgbClr val="CBD5E1"/>
            </a:solidFill>
            <a:prstDash val="solid"/>
          </a:ln>
        </p:spPr>
      </p:sp>
      <p:sp>
        <p:nvSpPr>
          <p:cNvPr id="10" name="Text 8"/>
          <p:cNvSpPr/>
          <p:nvPr/>
        </p:nvSpPr>
        <p:spPr>
          <a:xfrm>
            <a:off x="740664" y="15544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Framework</a:t>
            </a:r>
            <a:endParaRPr lang="en-US" sz="1050" dirty="0"/>
          </a:p>
        </p:txBody>
      </p:sp>
      <p:sp>
        <p:nvSpPr>
          <p:cNvPr id="11" name="Shape 9"/>
          <p:cNvSpPr/>
          <p:nvPr/>
        </p:nvSpPr>
        <p:spPr>
          <a:xfrm>
            <a:off x="2651760" y="1508760"/>
            <a:ext cx="4754880" cy="457200"/>
          </a:xfrm>
          <a:prstGeom prst="rect">
            <a:avLst/>
          </a:prstGeom>
          <a:solidFill>
            <a:srgbClr val="FFFFFF"/>
          </a:solidFill>
          <a:ln w="9525">
            <a:solidFill>
              <a:srgbClr val="CBD5E1"/>
            </a:solidFill>
            <a:prstDash val="solid"/>
          </a:ln>
        </p:spPr>
      </p:sp>
      <p:sp>
        <p:nvSpPr>
          <p:cNvPr id="12" name="Text 10"/>
          <p:cNvSpPr/>
          <p:nvPr/>
        </p:nvSpPr>
        <p:spPr>
          <a:xfrm>
            <a:off x="2706624" y="15544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PyTorch / torchvision</a:t>
            </a:r>
            <a:endParaRPr lang="en-US" sz="1050" dirty="0"/>
          </a:p>
        </p:txBody>
      </p:sp>
      <p:sp>
        <p:nvSpPr>
          <p:cNvPr id="13" name="Shape 11"/>
          <p:cNvSpPr/>
          <p:nvPr/>
        </p:nvSpPr>
        <p:spPr>
          <a:xfrm>
            <a:off x="685800" y="1965960"/>
            <a:ext cx="1965960" cy="457200"/>
          </a:xfrm>
          <a:prstGeom prst="rect">
            <a:avLst/>
          </a:prstGeom>
          <a:solidFill>
            <a:srgbClr val="F8FAFC"/>
          </a:solidFill>
          <a:ln w="9525">
            <a:solidFill>
              <a:srgbClr val="CBD5E1"/>
            </a:solidFill>
            <a:prstDash val="solid"/>
          </a:ln>
        </p:spPr>
      </p:sp>
      <p:sp>
        <p:nvSpPr>
          <p:cNvPr id="14" name="Text 12"/>
          <p:cNvSpPr/>
          <p:nvPr/>
        </p:nvSpPr>
        <p:spPr>
          <a:xfrm>
            <a:off x="740664" y="20116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Backbone</a:t>
            </a:r>
            <a:endParaRPr lang="en-US" sz="1050" dirty="0"/>
          </a:p>
        </p:txBody>
      </p:sp>
      <p:sp>
        <p:nvSpPr>
          <p:cNvPr id="15" name="Shape 13"/>
          <p:cNvSpPr/>
          <p:nvPr/>
        </p:nvSpPr>
        <p:spPr>
          <a:xfrm>
            <a:off x="2651760" y="1965960"/>
            <a:ext cx="4754880" cy="457200"/>
          </a:xfrm>
          <a:prstGeom prst="rect">
            <a:avLst/>
          </a:prstGeom>
          <a:solidFill>
            <a:srgbClr val="F8FAFC"/>
          </a:solidFill>
          <a:ln w="9525">
            <a:solidFill>
              <a:srgbClr val="CBD5E1"/>
            </a:solidFill>
            <a:prstDash val="solid"/>
          </a:ln>
        </p:spPr>
      </p:sp>
      <p:sp>
        <p:nvSpPr>
          <p:cNvPr id="16" name="Text 14"/>
          <p:cNvSpPr/>
          <p:nvPr/>
        </p:nvSpPr>
        <p:spPr>
          <a:xfrm>
            <a:off x="2706624" y="20116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EfficientNet-B0, ImageNet pretrained</a:t>
            </a:r>
            <a:endParaRPr lang="en-US" sz="1050" dirty="0"/>
          </a:p>
        </p:txBody>
      </p:sp>
      <p:sp>
        <p:nvSpPr>
          <p:cNvPr id="17" name="Shape 15"/>
          <p:cNvSpPr/>
          <p:nvPr/>
        </p:nvSpPr>
        <p:spPr>
          <a:xfrm>
            <a:off x="685800" y="2423160"/>
            <a:ext cx="1965960" cy="457200"/>
          </a:xfrm>
          <a:prstGeom prst="rect">
            <a:avLst/>
          </a:prstGeom>
          <a:solidFill>
            <a:srgbClr val="FFFFFF"/>
          </a:solidFill>
          <a:ln w="9525">
            <a:solidFill>
              <a:srgbClr val="CBD5E1"/>
            </a:solidFill>
            <a:prstDash val="solid"/>
          </a:ln>
        </p:spPr>
      </p:sp>
      <p:sp>
        <p:nvSpPr>
          <p:cNvPr id="18" name="Text 16"/>
          <p:cNvSpPr/>
          <p:nvPr/>
        </p:nvSpPr>
        <p:spPr>
          <a:xfrm>
            <a:off x="740664" y="24688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Input</a:t>
            </a:r>
            <a:endParaRPr lang="en-US" sz="1050" dirty="0"/>
          </a:p>
        </p:txBody>
      </p:sp>
      <p:sp>
        <p:nvSpPr>
          <p:cNvPr id="19" name="Shape 17"/>
          <p:cNvSpPr/>
          <p:nvPr/>
        </p:nvSpPr>
        <p:spPr>
          <a:xfrm>
            <a:off x="2651760" y="2423160"/>
            <a:ext cx="4754880" cy="457200"/>
          </a:xfrm>
          <a:prstGeom prst="rect">
            <a:avLst/>
          </a:prstGeom>
          <a:solidFill>
            <a:srgbClr val="FFFFFF"/>
          </a:solidFill>
          <a:ln w="9525">
            <a:solidFill>
              <a:srgbClr val="CBD5E1"/>
            </a:solidFill>
            <a:prstDash val="solid"/>
          </a:ln>
        </p:spPr>
      </p:sp>
      <p:sp>
        <p:nvSpPr>
          <p:cNvPr id="20" name="Text 18"/>
          <p:cNvSpPr/>
          <p:nvPr/>
        </p:nvSpPr>
        <p:spPr>
          <a:xfrm>
            <a:off x="2706624" y="24688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224 x 224 RGB images</a:t>
            </a:r>
            <a:endParaRPr lang="en-US" sz="1050" dirty="0"/>
          </a:p>
        </p:txBody>
      </p:sp>
      <p:sp>
        <p:nvSpPr>
          <p:cNvPr id="21" name="Shape 19"/>
          <p:cNvSpPr/>
          <p:nvPr/>
        </p:nvSpPr>
        <p:spPr>
          <a:xfrm>
            <a:off x="685800" y="2880360"/>
            <a:ext cx="1965960" cy="457200"/>
          </a:xfrm>
          <a:prstGeom prst="rect">
            <a:avLst/>
          </a:prstGeom>
          <a:solidFill>
            <a:srgbClr val="F8FAFC"/>
          </a:solidFill>
          <a:ln w="9525">
            <a:solidFill>
              <a:srgbClr val="CBD5E1"/>
            </a:solidFill>
            <a:prstDash val="solid"/>
          </a:ln>
        </p:spPr>
      </p:sp>
      <p:sp>
        <p:nvSpPr>
          <p:cNvPr id="22" name="Text 20"/>
          <p:cNvSpPr/>
          <p:nvPr/>
        </p:nvSpPr>
        <p:spPr>
          <a:xfrm>
            <a:off x="740664" y="29260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Augmentation</a:t>
            </a:r>
            <a:endParaRPr lang="en-US" sz="1050" dirty="0"/>
          </a:p>
        </p:txBody>
      </p:sp>
      <p:sp>
        <p:nvSpPr>
          <p:cNvPr id="23" name="Shape 21"/>
          <p:cNvSpPr/>
          <p:nvPr/>
        </p:nvSpPr>
        <p:spPr>
          <a:xfrm>
            <a:off x="2651760" y="2880360"/>
            <a:ext cx="4754880" cy="457200"/>
          </a:xfrm>
          <a:prstGeom prst="rect">
            <a:avLst/>
          </a:prstGeom>
          <a:solidFill>
            <a:srgbClr val="F8FAFC"/>
          </a:solidFill>
          <a:ln w="9525">
            <a:solidFill>
              <a:srgbClr val="CBD5E1"/>
            </a:solidFill>
            <a:prstDash val="solid"/>
          </a:ln>
        </p:spPr>
      </p:sp>
      <p:sp>
        <p:nvSpPr>
          <p:cNvPr id="24" name="Text 22"/>
          <p:cNvSpPr/>
          <p:nvPr/>
        </p:nvSpPr>
        <p:spPr>
          <a:xfrm>
            <a:off x="2706624" y="29260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Resize, horizontal flip, rotation, color jitter, normalization</a:t>
            </a:r>
            <a:endParaRPr lang="en-US" sz="1050" dirty="0"/>
          </a:p>
        </p:txBody>
      </p:sp>
      <p:sp>
        <p:nvSpPr>
          <p:cNvPr id="25" name="Shape 23"/>
          <p:cNvSpPr/>
          <p:nvPr/>
        </p:nvSpPr>
        <p:spPr>
          <a:xfrm>
            <a:off x="685800" y="3337560"/>
            <a:ext cx="1965960" cy="457200"/>
          </a:xfrm>
          <a:prstGeom prst="rect">
            <a:avLst/>
          </a:prstGeom>
          <a:solidFill>
            <a:srgbClr val="FFFFFF"/>
          </a:solidFill>
          <a:ln w="9525">
            <a:solidFill>
              <a:srgbClr val="CBD5E1"/>
            </a:solidFill>
            <a:prstDash val="solid"/>
          </a:ln>
        </p:spPr>
      </p:sp>
      <p:sp>
        <p:nvSpPr>
          <p:cNvPr id="26" name="Text 24"/>
          <p:cNvSpPr/>
          <p:nvPr/>
        </p:nvSpPr>
        <p:spPr>
          <a:xfrm>
            <a:off x="740664" y="33832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Optimizer</a:t>
            </a:r>
            <a:endParaRPr lang="en-US" sz="1050" dirty="0"/>
          </a:p>
        </p:txBody>
      </p:sp>
      <p:sp>
        <p:nvSpPr>
          <p:cNvPr id="27" name="Shape 25"/>
          <p:cNvSpPr/>
          <p:nvPr/>
        </p:nvSpPr>
        <p:spPr>
          <a:xfrm>
            <a:off x="2651760" y="3337560"/>
            <a:ext cx="4754880" cy="457200"/>
          </a:xfrm>
          <a:prstGeom prst="rect">
            <a:avLst/>
          </a:prstGeom>
          <a:solidFill>
            <a:srgbClr val="FFFFFF"/>
          </a:solidFill>
          <a:ln w="9525">
            <a:solidFill>
              <a:srgbClr val="CBD5E1"/>
            </a:solidFill>
            <a:prstDash val="solid"/>
          </a:ln>
        </p:spPr>
      </p:sp>
      <p:sp>
        <p:nvSpPr>
          <p:cNvPr id="28" name="Text 26"/>
          <p:cNvSpPr/>
          <p:nvPr/>
        </p:nvSpPr>
        <p:spPr>
          <a:xfrm>
            <a:off x="2706624" y="33832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Adam, learning rate 0.0005, weight decay 1e-4</a:t>
            </a:r>
            <a:endParaRPr lang="en-US" sz="1050" dirty="0"/>
          </a:p>
        </p:txBody>
      </p:sp>
      <p:sp>
        <p:nvSpPr>
          <p:cNvPr id="29" name="Shape 27"/>
          <p:cNvSpPr/>
          <p:nvPr/>
        </p:nvSpPr>
        <p:spPr>
          <a:xfrm>
            <a:off x="685800" y="3794760"/>
            <a:ext cx="1965960" cy="457200"/>
          </a:xfrm>
          <a:prstGeom prst="rect">
            <a:avLst/>
          </a:prstGeom>
          <a:solidFill>
            <a:srgbClr val="F8FAFC"/>
          </a:solidFill>
          <a:ln w="9525">
            <a:solidFill>
              <a:srgbClr val="CBD5E1"/>
            </a:solidFill>
            <a:prstDash val="solid"/>
          </a:ln>
        </p:spPr>
      </p:sp>
      <p:sp>
        <p:nvSpPr>
          <p:cNvPr id="30" name="Text 28"/>
          <p:cNvSpPr/>
          <p:nvPr/>
        </p:nvSpPr>
        <p:spPr>
          <a:xfrm>
            <a:off x="740664" y="38404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Loss</a:t>
            </a:r>
            <a:endParaRPr lang="en-US" sz="1050" dirty="0"/>
          </a:p>
        </p:txBody>
      </p:sp>
      <p:sp>
        <p:nvSpPr>
          <p:cNvPr id="31" name="Shape 29"/>
          <p:cNvSpPr/>
          <p:nvPr/>
        </p:nvSpPr>
        <p:spPr>
          <a:xfrm>
            <a:off x="2651760" y="3794760"/>
            <a:ext cx="4754880" cy="457200"/>
          </a:xfrm>
          <a:prstGeom prst="rect">
            <a:avLst/>
          </a:prstGeom>
          <a:solidFill>
            <a:srgbClr val="F8FAFC"/>
          </a:solidFill>
          <a:ln w="9525">
            <a:solidFill>
              <a:srgbClr val="CBD5E1"/>
            </a:solidFill>
            <a:prstDash val="solid"/>
          </a:ln>
        </p:spPr>
      </p:sp>
      <p:sp>
        <p:nvSpPr>
          <p:cNvPr id="32" name="Text 30"/>
          <p:cNvSpPr/>
          <p:nvPr/>
        </p:nvSpPr>
        <p:spPr>
          <a:xfrm>
            <a:off x="2706624" y="38404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Cross-Entropy for both heads</a:t>
            </a:r>
            <a:endParaRPr lang="en-US" sz="1050" dirty="0"/>
          </a:p>
        </p:txBody>
      </p:sp>
      <p:sp>
        <p:nvSpPr>
          <p:cNvPr id="33" name="Shape 31"/>
          <p:cNvSpPr/>
          <p:nvPr/>
        </p:nvSpPr>
        <p:spPr>
          <a:xfrm>
            <a:off x="685800" y="4251960"/>
            <a:ext cx="1965960" cy="457200"/>
          </a:xfrm>
          <a:prstGeom prst="rect">
            <a:avLst/>
          </a:prstGeom>
          <a:solidFill>
            <a:srgbClr val="FFFFFF"/>
          </a:solidFill>
          <a:ln w="9525">
            <a:solidFill>
              <a:srgbClr val="CBD5E1"/>
            </a:solidFill>
            <a:prstDash val="solid"/>
          </a:ln>
        </p:spPr>
      </p:sp>
      <p:sp>
        <p:nvSpPr>
          <p:cNvPr id="34" name="Text 32"/>
          <p:cNvSpPr/>
          <p:nvPr/>
        </p:nvSpPr>
        <p:spPr>
          <a:xfrm>
            <a:off x="740664" y="42976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Batch / epochs</a:t>
            </a:r>
            <a:endParaRPr lang="en-US" sz="1050" dirty="0"/>
          </a:p>
        </p:txBody>
      </p:sp>
      <p:sp>
        <p:nvSpPr>
          <p:cNvPr id="35" name="Shape 33"/>
          <p:cNvSpPr/>
          <p:nvPr/>
        </p:nvSpPr>
        <p:spPr>
          <a:xfrm>
            <a:off x="2651760" y="4251960"/>
            <a:ext cx="4754880" cy="457200"/>
          </a:xfrm>
          <a:prstGeom prst="rect">
            <a:avLst/>
          </a:prstGeom>
          <a:solidFill>
            <a:srgbClr val="FFFFFF"/>
          </a:solidFill>
          <a:ln w="9525">
            <a:solidFill>
              <a:srgbClr val="CBD5E1"/>
            </a:solidFill>
            <a:prstDash val="solid"/>
          </a:ln>
        </p:spPr>
      </p:sp>
      <p:sp>
        <p:nvSpPr>
          <p:cNvPr id="36" name="Text 34"/>
          <p:cNvSpPr/>
          <p:nvPr/>
        </p:nvSpPr>
        <p:spPr>
          <a:xfrm>
            <a:off x="2706624" y="42976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32 / 10</a:t>
            </a:r>
            <a:endParaRPr lang="en-US" sz="1050" dirty="0"/>
          </a:p>
        </p:txBody>
      </p:sp>
      <p:sp>
        <p:nvSpPr>
          <p:cNvPr id="37" name="Shape 35"/>
          <p:cNvSpPr/>
          <p:nvPr/>
        </p:nvSpPr>
        <p:spPr>
          <a:xfrm>
            <a:off x="685800" y="4709160"/>
            <a:ext cx="1965960" cy="457200"/>
          </a:xfrm>
          <a:prstGeom prst="rect">
            <a:avLst/>
          </a:prstGeom>
          <a:solidFill>
            <a:srgbClr val="F8FAFC"/>
          </a:solidFill>
          <a:ln w="9525">
            <a:solidFill>
              <a:srgbClr val="CBD5E1"/>
            </a:solidFill>
            <a:prstDash val="solid"/>
          </a:ln>
        </p:spPr>
      </p:sp>
      <p:sp>
        <p:nvSpPr>
          <p:cNvPr id="38" name="Text 36"/>
          <p:cNvSpPr/>
          <p:nvPr/>
        </p:nvSpPr>
        <p:spPr>
          <a:xfrm>
            <a:off x="740664" y="47548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Training setup</a:t>
            </a:r>
            <a:endParaRPr lang="en-US" sz="1050" dirty="0"/>
          </a:p>
        </p:txBody>
      </p:sp>
      <p:sp>
        <p:nvSpPr>
          <p:cNvPr id="39" name="Shape 37"/>
          <p:cNvSpPr/>
          <p:nvPr/>
        </p:nvSpPr>
        <p:spPr>
          <a:xfrm>
            <a:off x="2651760" y="4709160"/>
            <a:ext cx="4754880" cy="457200"/>
          </a:xfrm>
          <a:prstGeom prst="rect">
            <a:avLst/>
          </a:prstGeom>
          <a:solidFill>
            <a:srgbClr val="F8FAFC"/>
          </a:solidFill>
          <a:ln w="9525">
            <a:solidFill>
              <a:srgbClr val="CBD5E1"/>
            </a:solidFill>
            <a:prstDash val="solid"/>
          </a:ln>
        </p:spPr>
      </p:sp>
      <p:sp>
        <p:nvSpPr>
          <p:cNvPr id="40" name="Text 38"/>
          <p:cNvSpPr/>
          <p:nvPr/>
        </p:nvSpPr>
        <p:spPr>
          <a:xfrm>
            <a:off x="2706624" y="47548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Baseline on original images; multi-task on all transformations</a:t>
            </a:r>
            <a:endParaRPr lang="en-US" sz="1050" dirty="0"/>
          </a:p>
        </p:txBody>
      </p:sp>
      <p:sp>
        <p:nvSpPr>
          <p:cNvPr id="41" name="Shape 39"/>
          <p:cNvSpPr/>
          <p:nvPr/>
        </p:nvSpPr>
        <p:spPr>
          <a:xfrm>
            <a:off x="685800" y="5166360"/>
            <a:ext cx="1965960" cy="457200"/>
          </a:xfrm>
          <a:prstGeom prst="rect">
            <a:avLst/>
          </a:prstGeom>
          <a:solidFill>
            <a:srgbClr val="FFFFFF"/>
          </a:solidFill>
          <a:ln w="9525">
            <a:solidFill>
              <a:srgbClr val="CBD5E1"/>
            </a:solidFill>
            <a:prstDash val="solid"/>
          </a:ln>
        </p:spPr>
      </p:sp>
      <p:sp>
        <p:nvSpPr>
          <p:cNvPr id="42" name="Text 40"/>
          <p:cNvSpPr/>
          <p:nvPr/>
        </p:nvSpPr>
        <p:spPr>
          <a:xfrm>
            <a:off x="740664" y="5212080"/>
            <a:ext cx="185623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Split strategy</a:t>
            </a:r>
            <a:endParaRPr lang="en-US" sz="1050" dirty="0"/>
          </a:p>
        </p:txBody>
      </p:sp>
      <p:sp>
        <p:nvSpPr>
          <p:cNvPr id="43" name="Shape 41"/>
          <p:cNvSpPr/>
          <p:nvPr/>
        </p:nvSpPr>
        <p:spPr>
          <a:xfrm>
            <a:off x="2651760" y="5166360"/>
            <a:ext cx="4754880" cy="457200"/>
          </a:xfrm>
          <a:prstGeom prst="rect">
            <a:avLst/>
          </a:prstGeom>
          <a:solidFill>
            <a:srgbClr val="FFFFFF"/>
          </a:solidFill>
          <a:ln w="9525">
            <a:solidFill>
              <a:srgbClr val="CBD5E1"/>
            </a:solidFill>
            <a:prstDash val="solid"/>
          </a:ln>
        </p:spPr>
      </p:sp>
      <p:sp>
        <p:nvSpPr>
          <p:cNvPr id="44" name="Text 42"/>
          <p:cNvSpPr/>
          <p:nvPr/>
        </p:nvSpPr>
        <p:spPr>
          <a:xfrm>
            <a:off x="2706624" y="5212080"/>
            <a:ext cx="4645152" cy="365760"/>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ptos" pitchFamily="34" charset="0"/>
                <a:ea typeface="Aptos" pitchFamily="34" charset="-122"/>
                <a:cs typeface="Aptos" pitchFamily="34" charset="-120"/>
              </a:rPr>
              <a:t>80% train / 20% validation, random_state=42</a:t>
            </a:r>
            <a:endParaRPr lang="en-US" sz="1050" dirty="0"/>
          </a:p>
        </p:txBody>
      </p:sp>
      <p:sp>
        <p:nvSpPr>
          <p:cNvPr id="45" name="Shape 43"/>
          <p:cNvSpPr/>
          <p:nvPr/>
        </p:nvSpPr>
        <p:spPr>
          <a:xfrm>
            <a:off x="8001000" y="1417320"/>
            <a:ext cx="2697480" cy="914400"/>
          </a:xfrm>
          <a:prstGeom prst="roundRect">
            <a:avLst>
              <a:gd name="adj" fmla="val 12000"/>
            </a:avLst>
          </a:prstGeom>
          <a:solidFill>
            <a:srgbClr val="F8FAFC"/>
          </a:solidFill>
          <a:ln w="12700">
            <a:solidFill>
              <a:srgbClr val="F8FAFC">
                <a:alpha val="0"/>
              </a:srgbClr>
            </a:solidFill>
            <a:prstDash val="solid"/>
          </a:ln>
        </p:spPr>
      </p:sp>
      <p:sp>
        <p:nvSpPr>
          <p:cNvPr id="46" name="Text 44"/>
          <p:cNvSpPr/>
          <p:nvPr/>
        </p:nvSpPr>
        <p:spPr>
          <a:xfrm>
            <a:off x="8110728" y="1527048"/>
            <a:ext cx="2478024" cy="694944"/>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Baseline</a:t>
            </a:r>
            <a:endParaRPr lang="en-US" sz="1400" dirty="0"/>
          </a:p>
          <a:p>
            <a:pPr algn="ctr" indent="0" marL="0">
              <a:buNone/>
            </a:pPr>
            <a:r>
              <a:rPr lang="en-US" sz="1400" b="1" dirty="0">
                <a:solidFill>
                  <a:srgbClr val="111827"/>
                </a:solidFill>
                <a:latin typeface="Aptos" pitchFamily="34" charset="0"/>
                <a:ea typeface="Aptos" pitchFamily="34" charset="-122"/>
                <a:cs typeface="Aptos" pitchFamily="34" charset="-120"/>
              </a:rPr>
              <a:t>real/fake only</a:t>
            </a:r>
            <a:endParaRPr lang="en-US" sz="1400" dirty="0"/>
          </a:p>
          <a:p>
            <a:pPr algn="ctr" indent="0" marL="0">
              <a:buNone/>
            </a:pPr>
            <a:r>
              <a:rPr lang="en-US" sz="1400" b="1" dirty="0">
                <a:solidFill>
                  <a:srgbClr val="111827"/>
                </a:solidFill>
                <a:latin typeface="Aptos" pitchFamily="34" charset="0"/>
                <a:ea typeface="Aptos" pitchFamily="34" charset="-122"/>
                <a:cs typeface="Aptos" pitchFamily="34" charset="-120"/>
              </a:rPr>
              <a:t>original images</a:t>
            </a:r>
            <a:endParaRPr lang="en-US" sz="1400" dirty="0"/>
          </a:p>
        </p:txBody>
      </p:sp>
      <p:sp>
        <p:nvSpPr>
          <p:cNvPr id="47" name="Shape 45"/>
          <p:cNvSpPr/>
          <p:nvPr/>
        </p:nvSpPr>
        <p:spPr>
          <a:xfrm>
            <a:off x="8001000" y="2880360"/>
            <a:ext cx="2697480" cy="960120"/>
          </a:xfrm>
          <a:prstGeom prst="roundRect">
            <a:avLst>
              <a:gd name="adj" fmla="val 11429"/>
            </a:avLst>
          </a:prstGeom>
          <a:solidFill>
            <a:srgbClr val="0F3D5E"/>
          </a:solidFill>
          <a:ln w="12700">
            <a:solidFill>
              <a:srgbClr val="0F3D5E">
                <a:alpha val="0"/>
              </a:srgbClr>
            </a:solidFill>
            <a:prstDash val="solid"/>
          </a:ln>
        </p:spPr>
      </p:sp>
      <p:sp>
        <p:nvSpPr>
          <p:cNvPr id="48" name="Text 46"/>
          <p:cNvSpPr/>
          <p:nvPr/>
        </p:nvSpPr>
        <p:spPr>
          <a:xfrm>
            <a:off x="8110728" y="2990088"/>
            <a:ext cx="2478024" cy="74066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Multi-task</a:t>
            </a:r>
            <a:endParaRPr lang="en-US" sz="1400" dirty="0"/>
          </a:p>
          <a:p>
            <a:pPr algn="ctr" indent="0" marL="0">
              <a:buNone/>
            </a:pPr>
            <a:r>
              <a:rPr lang="en-US" sz="1400" b="1" dirty="0">
                <a:solidFill>
                  <a:srgbClr val="FFFFFF"/>
                </a:solidFill>
                <a:latin typeface="Aptos" pitchFamily="34" charset="0"/>
                <a:ea typeface="Aptos" pitchFamily="34" charset="-122"/>
                <a:cs typeface="Aptos" pitchFamily="34" charset="-120"/>
              </a:rPr>
              <a:t>real/fake + transform</a:t>
            </a:r>
            <a:endParaRPr lang="en-US" sz="1400" dirty="0"/>
          </a:p>
          <a:p>
            <a:pPr algn="ctr" indent="0" marL="0">
              <a:buNone/>
            </a:pPr>
            <a:r>
              <a:rPr lang="en-US" sz="1400" b="1" dirty="0">
                <a:solidFill>
                  <a:srgbClr val="FFFFFF"/>
                </a:solidFill>
                <a:latin typeface="Aptos" pitchFamily="34" charset="0"/>
                <a:ea typeface="Aptos" pitchFamily="34" charset="-122"/>
                <a:cs typeface="Aptos" pitchFamily="34" charset="-120"/>
              </a:rPr>
              <a:t>all categories</a:t>
            </a:r>
            <a:endParaRPr lang="en-US" sz="1400" dirty="0"/>
          </a:p>
        </p:txBody>
      </p:sp>
      <p:sp>
        <p:nvSpPr>
          <p:cNvPr id="49" name="Shape 47"/>
          <p:cNvSpPr/>
          <p:nvPr/>
        </p:nvSpPr>
        <p:spPr>
          <a:xfrm>
            <a:off x="9345168" y="2359152"/>
            <a:ext cx="0" cy="493776"/>
          </a:xfrm>
          <a:prstGeom prst="line">
            <a:avLst/>
          </a:prstGeom>
          <a:noFill/>
          <a:ln w="25400">
            <a:solidFill>
              <a:srgbClr val="0F3D5E"/>
            </a:solidFill>
            <a:prstDash val="solid"/>
            <a:headEnd type="none"/>
            <a:tailEnd type="triangle"/>
          </a:ln>
        </p:spPr>
      </p:sp>
      <p:sp>
        <p:nvSpPr>
          <p:cNvPr id="50" name="Text 48"/>
          <p:cNvSpPr/>
          <p:nvPr/>
        </p:nvSpPr>
        <p:spPr>
          <a:xfrm>
            <a:off x="594360" y="6272784"/>
            <a:ext cx="786384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Training configuration extracted from the implementation notebook.</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Baseline Results</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9 / 12</a:t>
            </a:r>
            <a:endParaRPr lang="en-US" sz="850" dirty="0"/>
          </a:p>
        </p:txBody>
      </p:sp>
      <p:sp>
        <p:nvSpPr>
          <p:cNvPr id="5" name="Text 3"/>
          <p:cNvSpPr/>
          <p:nvPr/>
        </p:nvSpPr>
        <p:spPr>
          <a:xfrm>
            <a:off x="685800" y="960120"/>
            <a:ext cx="384048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SINGLE-TASK REAL/FAKE ON ORIGINAL IMAGES</a:t>
            </a:r>
            <a:endParaRPr lang="en-US" sz="900" dirty="0"/>
          </a:p>
        </p:txBody>
      </p:sp>
      <p:sp>
        <p:nvSpPr>
          <p:cNvPr id="6" name="Text 4"/>
          <p:cNvSpPr/>
          <p:nvPr/>
        </p:nvSpPr>
        <p:spPr>
          <a:xfrm>
            <a:off x="685800" y="1280160"/>
            <a:ext cx="4846320" cy="2011680"/>
          </a:xfrm>
          <a:prstGeom prst="rect">
            <a:avLst/>
          </a:prstGeom>
          <a:noFill/>
          <a:ln/>
        </p:spPr>
        <p:txBody>
          <a:bodyPr wrap="square" rtlCol="0" anchor="ctr">
            <a:normAutofit/>
          </a:bodyPr>
          <a:lstStyle/>
          <a:p>
            <a:r>
              <a:rPr lang="en-US" sz="1550" dirty="0">
                <a:solidFill>
                  <a:srgbClr val="111827"/>
                </a:solidFill>
                <a:latin typeface="Aptos" pitchFamily="34" charset="0"/>
                <a:ea typeface="Aptos" pitchFamily="34" charset="-122"/>
                <a:cs typeface="Aptos" pitchFamily="34" charset="-120"/>
              </a:rPr>
              <a:t>Peak validation accuracy: 87.64% at epoch 4.</a:t>
            </a:r>
            <a:endParaRPr lang="en-US" sz="1550" dirty="0"/>
          </a:p>
          <a:p>
            <a:r>
              <a:rPr lang="en-US" sz="1550" dirty="0">
                <a:solidFill>
                  <a:srgbClr val="111827"/>
                </a:solidFill>
                <a:latin typeface="Aptos" pitchFamily="34" charset="0"/>
                <a:ea typeface="Aptos" pitchFamily="34" charset="-122"/>
                <a:cs typeface="Aptos" pitchFamily="34" charset="-120"/>
              </a:rPr>
              <a:t>Final validation accuracy: 86.27% at epoch 10.</a:t>
            </a:r>
            <a:endParaRPr lang="en-US" sz="1550" dirty="0"/>
          </a:p>
          <a:p>
            <a:r>
              <a:rPr lang="en-US" sz="1550" dirty="0">
                <a:solidFill>
                  <a:srgbClr val="111827"/>
                </a:solidFill>
                <a:latin typeface="Aptos" pitchFamily="34" charset="0"/>
                <a:ea typeface="Aptos" pitchFamily="34" charset="-122"/>
                <a:cs typeface="Aptos" pitchFamily="34" charset="-120"/>
              </a:rPr>
              <a:t>Training accuracy reaches about 97.5% by the end.</a:t>
            </a:r>
            <a:endParaRPr lang="en-US" sz="1550" dirty="0"/>
          </a:p>
          <a:p>
            <a:r>
              <a:rPr lang="en-US" sz="1550" dirty="0">
                <a:solidFill>
                  <a:srgbClr val="111827"/>
                </a:solidFill>
                <a:latin typeface="Aptos" pitchFamily="34" charset="0"/>
                <a:ea typeface="Aptos" pitchFamily="34" charset="-122"/>
                <a:cs typeface="Aptos" pitchFamily="34" charset="-120"/>
              </a:rPr>
              <a:t>The train-validation gap indicates overfitting and limited generalization.</a:t>
            </a:r>
            <a:endParaRPr lang="en-US" sz="1550" dirty="0"/>
          </a:p>
        </p:txBody>
      </p:sp>
      <p:graphicFrame>
        <p:nvGraphicFramePr>
          <p:cNvPr id="7" name="Chart 0" descr=""/>
          <p:cNvGraphicFramePr/>
          <p:nvPr/>
        </p:nvGraphicFramePr>
        <p:xfrm>
          <a:off x="5715000" y="1207008"/>
          <a:ext cx="5623560" cy="2971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914400" y="4434840"/>
            <a:ext cx="10287000" cy="621792"/>
          </a:xfrm>
          <a:prstGeom prst="roundRect">
            <a:avLst>
              <a:gd name="adj" fmla="val 17647"/>
            </a:avLst>
          </a:prstGeom>
          <a:solidFill>
            <a:srgbClr val="B91C1C"/>
          </a:solidFill>
          <a:ln w="12700">
            <a:solidFill>
              <a:srgbClr val="B91C1C">
                <a:alpha val="0"/>
              </a:srgbClr>
            </a:solidFill>
            <a:prstDash val="solid"/>
          </a:ln>
        </p:spPr>
      </p:sp>
      <p:sp>
        <p:nvSpPr>
          <p:cNvPr id="9" name="Text 6"/>
          <p:cNvSpPr/>
          <p:nvPr/>
        </p:nvSpPr>
        <p:spPr>
          <a:xfrm>
            <a:off x="1024128" y="4544568"/>
            <a:ext cx="10067544" cy="40233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Main message: the baseline learns the training distribution, but the validation curve plateaus early.</a:t>
            </a:r>
            <a:endParaRPr lang="en-US" sz="1500" dirty="0"/>
          </a:p>
        </p:txBody>
      </p:sp>
      <p:sp>
        <p:nvSpPr>
          <p:cNvPr id="10" name="Text 7"/>
          <p:cNvSpPr/>
          <p:nvPr/>
        </p:nvSpPr>
        <p:spPr>
          <a:xfrm>
            <a:off x="594360" y="6272784"/>
            <a:ext cx="786384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Baseline values from the PDF analysis: peak 87.64%, final 86.27%, train around 97.5%.</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Multi-Task Results and Ablation Study</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10 / 12</a:t>
            </a:r>
            <a:endParaRPr lang="en-US" sz="850" dirty="0"/>
          </a:p>
        </p:txBody>
      </p:sp>
      <p:sp>
        <p:nvSpPr>
          <p:cNvPr id="5" name="Shape 3"/>
          <p:cNvSpPr/>
          <p:nvPr/>
        </p:nvSpPr>
        <p:spPr>
          <a:xfrm>
            <a:off x="502920" y="960120"/>
            <a:ext cx="640080" cy="457200"/>
          </a:xfrm>
          <a:prstGeom prst="rect">
            <a:avLst/>
          </a:prstGeom>
          <a:solidFill>
            <a:srgbClr val="0F3D5E"/>
          </a:solidFill>
          <a:ln w="9525">
            <a:solidFill>
              <a:srgbClr val="CBD5E1"/>
            </a:solidFill>
            <a:prstDash val="solid"/>
          </a:ln>
        </p:spPr>
      </p:sp>
      <p:sp>
        <p:nvSpPr>
          <p:cNvPr id="6" name="Text 4"/>
          <p:cNvSpPr/>
          <p:nvPr/>
        </p:nvSpPr>
        <p:spPr>
          <a:xfrm>
            <a:off x="557784" y="1005840"/>
            <a:ext cx="530352" cy="3657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alpha</a:t>
            </a:r>
            <a:endParaRPr lang="en-US" sz="950" dirty="0"/>
          </a:p>
        </p:txBody>
      </p:sp>
      <p:sp>
        <p:nvSpPr>
          <p:cNvPr id="7" name="Shape 5"/>
          <p:cNvSpPr/>
          <p:nvPr/>
        </p:nvSpPr>
        <p:spPr>
          <a:xfrm>
            <a:off x="1143000" y="960120"/>
            <a:ext cx="1325880" cy="457200"/>
          </a:xfrm>
          <a:prstGeom prst="rect">
            <a:avLst/>
          </a:prstGeom>
          <a:solidFill>
            <a:srgbClr val="0F3D5E"/>
          </a:solidFill>
          <a:ln w="9525">
            <a:solidFill>
              <a:srgbClr val="CBD5E1"/>
            </a:solidFill>
            <a:prstDash val="solid"/>
          </a:ln>
        </p:spPr>
      </p:sp>
      <p:sp>
        <p:nvSpPr>
          <p:cNvPr id="8" name="Text 6"/>
          <p:cNvSpPr/>
          <p:nvPr/>
        </p:nvSpPr>
        <p:spPr>
          <a:xfrm>
            <a:off x="1197864" y="1005840"/>
            <a:ext cx="1216152" cy="3657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Main focus</a:t>
            </a:r>
            <a:endParaRPr lang="en-US" sz="950" dirty="0"/>
          </a:p>
        </p:txBody>
      </p:sp>
      <p:sp>
        <p:nvSpPr>
          <p:cNvPr id="9" name="Shape 7"/>
          <p:cNvSpPr/>
          <p:nvPr/>
        </p:nvSpPr>
        <p:spPr>
          <a:xfrm>
            <a:off x="2468880" y="960120"/>
            <a:ext cx="1005840" cy="457200"/>
          </a:xfrm>
          <a:prstGeom prst="rect">
            <a:avLst/>
          </a:prstGeom>
          <a:solidFill>
            <a:srgbClr val="0F3D5E"/>
          </a:solidFill>
          <a:ln w="9525">
            <a:solidFill>
              <a:srgbClr val="CBD5E1"/>
            </a:solidFill>
            <a:prstDash val="solid"/>
          </a:ln>
        </p:spPr>
      </p:sp>
      <p:sp>
        <p:nvSpPr>
          <p:cNvPr id="10" name="Text 8"/>
          <p:cNvSpPr/>
          <p:nvPr/>
        </p:nvSpPr>
        <p:spPr>
          <a:xfrm>
            <a:off x="2523744" y="1005840"/>
            <a:ext cx="896112" cy="3657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RF Acc best</a:t>
            </a:r>
            <a:endParaRPr lang="en-US" sz="950" dirty="0"/>
          </a:p>
        </p:txBody>
      </p:sp>
      <p:sp>
        <p:nvSpPr>
          <p:cNvPr id="11" name="Shape 9"/>
          <p:cNvSpPr/>
          <p:nvPr/>
        </p:nvSpPr>
        <p:spPr>
          <a:xfrm>
            <a:off x="3474720" y="960120"/>
            <a:ext cx="1097280" cy="457200"/>
          </a:xfrm>
          <a:prstGeom prst="rect">
            <a:avLst/>
          </a:prstGeom>
          <a:solidFill>
            <a:srgbClr val="0F3D5E"/>
          </a:solidFill>
          <a:ln w="9525">
            <a:solidFill>
              <a:srgbClr val="CBD5E1"/>
            </a:solidFill>
            <a:prstDash val="solid"/>
          </a:ln>
        </p:spPr>
      </p:sp>
      <p:sp>
        <p:nvSpPr>
          <p:cNvPr id="12" name="Text 10"/>
          <p:cNvSpPr/>
          <p:nvPr/>
        </p:nvSpPr>
        <p:spPr>
          <a:xfrm>
            <a:off x="3529584" y="1005840"/>
            <a:ext cx="987552" cy="3657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Trans Acc best</a:t>
            </a:r>
            <a:endParaRPr lang="en-US" sz="950" dirty="0"/>
          </a:p>
        </p:txBody>
      </p:sp>
      <p:sp>
        <p:nvSpPr>
          <p:cNvPr id="13" name="Shape 11"/>
          <p:cNvSpPr/>
          <p:nvPr/>
        </p:nvSpPr>
        <p:spPr>
          <a:xfrm>
            <a:off x="4572000" y="960120"/>
            <a:ext cx="1645920" cy="457200"/>
          </a:xfrm>
          <a:prstGeom prst="rect">
            <a:avLst/>
          </a:prstGeom>
          <a:solidFill>
            <a:srgbClr val="0F3D5E"/>
          </a:solidFill>
          <a:ln w="9525">
            <a:solidFill>
              <a:srgbClr val="CBD5E1"/>
            </a:solidFill>
            <a:prstDash val="solid"/>
          </a:ln>
        </p:spPr>
      </p:sp>
      <p:sp>
        <p:nvSpPr>
          <p:cNvPr id="14" name="Text 12"/>
          <p:cNvSpPr/>
          <p:nvPr/>
        </p:nvSpPr>
        <p:spPr>
          <a:xfrm>
            <a:off x="4626864" y="1005840"/>
            <a:ext cx="1536192" cy="3657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Interpretation</a:t>
            </a:r>
            <a:endParaRPr lang="en-US" sz="950" dirty="0"/>
          </a:p>
        </p:txBody>
      </p:sp>
      <p:sp>
        <p:nvSpPr>
          <p:cNvPr id="15" name="Shape 13"/>
          <p:cNvSpPr/>
          <p:nvPr/>
        </p:nvSpPr>
        <p:spPr>
          <a:xfrm>
            <a:off x="502920" y="1417320"/>
            <a:ext cx="640080" cy="457200"/>
          </a:xfrm>
          <a:prstGeom prst="rect">
            <a:avLst/>
          </a:prstGeom>
          <a:solidFill>
            <a:srgbClr val="FFFFFF"/>
          </a:solidFill>
          <a:ln w="9525">
            <a:solidFill>
              <a:srgbClr val="CBD5E1"/>
            </a:solidFill>
            <a:prstDash val="solid"/>
          </a:ln>
        </p:spPr>
      </p:sp>
      <p:sp>
        <p:nvSpPr>
          <p:cNvPr id="16" name="Text 14"/>
          <p:cNvSpPr/>
          <p:nvPr/>
        </p:nvSpPr>
        <p:spPr>
          <a:xfrm>
            <a:off x="557784" y="1463040"/>
            <a:ext cx="5303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1.0</a:t>
            </a:r>
            <a:endParaRPr lang="en-US" sz="950" dirty="0"/>
          </a:p>
        </p:txBody>
      </p:sp>
      <p:sp>
        <p:nvSpPr>
          <p:cNvPr id="17" name="Shape 15"/>
          <p:cNvSpPr/>
          <p:nvPr/>
        </p:nvSpPr>
        <p:spPr>
          <a:xfrm>
            <a:off x="1143000" y="1417320"/>
            <a:ext cx="1325880" cy="457200"/>
          </a:xfrm>
          <a:prstGeom prst="rect">
            <a:avLst/>
          </a:prstGeom>
          <a:solidFill>
            <a:srgbClr val="FFFFFF"/>
          </a:solidFill>
          <a:ln w="9525">
            <a:solidFill>
              <a:srgbClr val="CBD5E1"/>
            </a:solidFill>
            <a:prstDash val="solid"/>
          </a:ln>
        </p:spPr>
      </p:sp>
      <p:sp>
        <p:nvSpPr>
          <p:cNvPr id="18" name="Text 16"/>
          <p:cNvSpPr/>
          <p:nvPr/>
        </p:nvSpPr>
        <p:spPr>
          <a:xfrm>
            <a:off x="1197864" y="1463040"/>
            <a:ext cx="12161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Real/Fake</a:t>
            </a:r>
            <a:endParaRPr lang="en-US" sz="950" dirty="0"/>
          </a:p>
        </p:txBody>
      </p:sp>
      <p:sp>
        <p:nvSpPr>
          <p:cNvPr id="19" name="Shape 17"/>
          <p:cNvSpPr/>
          <p:nvPr/>
        </p:nvSpPr>
        <p:spPr>
          <a:xfrm>
            <a:off x="2468880" y="1417320"/>
            <a:ext cx="1005840" cy="457200"/>
          </a:xfrm>
          <a:prstGeom prst="rect">
            <a:avLst/>
          </a:prstGeom>
          <a:solidFill>
            <a:srgbClr val="FFFFFF"/>
          </a:solidFill>
          <a:ln w="9525">
            <a:solidFill>
              <a:srgbClr val="CBD5E1"/>
            </a:solidFill>
            <a:prstDash val="solid"/>
          </a:ln>
        </p:spPr>
      </p:sp>
      <p:sp>
        <p:nvSpPr>
          <p:cNvPr id="20" name="Text 18"/>
          <p:cNvSpPr/>
          <p:nvPr/>
        </p:nvSpPr>
        <p:spPr>
          <a:xfrm>
            <a:off x="2523744" y="1463040"/>
            <a:ext cx="89611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87.64%</a:t>
            </a:r>
            <a:endParaRPr lang="en-US" sz="950" dirty="0"/>
          </a:p>
        </p:txBody>
      </p:sp>
      <p:sp>
        <p:nvSpPr>
          <p:cNvPr id="21" name="Shape 19"/>
          <p:cNvSpPr/>
          <p:nvPr/>
        </p:nvSpPr>
        <p:spPr>
          <a:xfrm>
            <a:off x="3474720" y="1417320"/>
            <a:ext cx="1097280" cy="457200"/>
          </a:xfrm>
          <a:prstGeom prst="rect">
            <a:avLst/>
          </a:prstGeom>
          <a:solidFill>
            <a:srgbClr val="FFFFFF"/>
          </a:solidFill>
          <a:ln w="9525">
            <a:solidFill>
              <a:srgbClr val="CBD5E1"/>
            </a:solidFill>
            <a:prstDash val="solid"/>
          </a:ln>
        </p:spPr>
      </p:sp>
      <p:sp>
        <p:nvSpPr>
          <p:cNvPr id="22" name="Text 20"/>
          <p:cNvSpPr/>
          <p:nvPr/>
        </p:nvSpPr>
        <p:spPr>
          <a:xfrm>
            <a:off x="3529584" y="1463040"/>
            <a:ext cx="9875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0%</a:t>
            </a:r>
            <a:endParaRPr lang="en-US" sz="950" dirty="0"/>
          </a:p>
        </p:txBody>
      </p:sp>
      <p:sp>
        <p:nvSpPr>
          <p:cNvPr id="23" name="Shape 21"/>
          <p:cNvSpPr/>
          <p:nvPr/>
        </p:nvSpPr>
        <p:spPr>
          <a:xfrm>
            <a:off x="4572000" y="1417320"/>
            <a:ext cx="1645920" cy="457200"/>
          </a:xfrm>
          <a:prstGeom prst="rect">
            <a:avLst/>
          </a:prstGeom>
          <a:solidFill>
            <a:srgbClr val="FFFFFF"/>
          </a:solidFill>
          <a:ln w="9525">
            <a:solidFill>
              <a:srgbClr val="CBD5E1"/>
            </a:solidFill>
            <a:prstDash val="solid"/>
          </a:ln>
        </p:spPr>
      </p:sp>
      <p:sp>
        <p:nvSpPr>
          <p:cNvPr id="24" name="Text 22"/>
          <p:cNvSpPr/>
          <p:nvPr/>
        </p:nvSpPr>
        <p:spPr>
          <a:xfrm>
            <a:off x="4626864" y="1463040"/>
            <a:ext cx="153619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Baseline; unstable</a:t>
            </a:r>
            <a:endParaRPr lang="en-US" sz="950" dirty="0"/>
          </a:p>
        </p:txBody>
      </p:sp>
      <p:sp>
        <p:nvSpPr>
          <p:cNvPr id="25" name="Shape 23"/>
          <p:cNvSpPr/>
          <p:nvPr/>
        </p:nvSpPr>
        <p:spPr>
          <a:xfrm>
            <a:off x="502920" y="1874520"/>
            <a:ext cx="640080" cy="457200"/>
          </a:xfrm>
          <a:prstGeom prst="rect">
            <a:avLst/>
          </a:prstGeom>
          <a:solidFill>
            <a:srgbClr val="F8FAFC"/>
          </a:solidFill>
          <a:ln w="9525">
            <a:solidFill>
              <a:srgbClr val="CBD5E1"/>
            </a:solidFill>
            <a:prstDash val="solid"/>
          </a:ln>
        </p:spPr>
      </p:sp>
      <p:sp>
        <p:nvSpPr>
          <p:cNvPr id="26" name="Text 24"/>
          <p:cNvSpPr/>
          <p:nvPr/>
        </p:nvSpPr>
        <p:spPr>
          <a:xfrm>
            <a:off x="557784" y="1920240"/>
            <a:ext cx="5303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0.8</a:t>
            </a:r>
            <a:endParaRPr lang="en-US" sz="950" dirty="0"/>
          </a:p>
        </p:txBody>
      </p:sp>
      <p:sp>
        <p:nvSpPr>
          <p:cNvPr id="27" name="Shape 25"/>
          <p:cNvSpPr/>
          <p:nvPr/>
        </p:nvSpPr>
        <p:spPr>
          <a:xfrm>
            <a:off x="1143000" y="1874520"/>
            <a:ext cx="1325880" cy="457200"/>
          </a:xfrm>
          <a:prstGeom prst="rect">
            <a:avLst/>
          </a:prstGeom>
          <a:solidFill>
            <a:srgbClr val="F8FAFC"/>
          </a:solidFill>
          <a:ln w="9525">
            <a:solidFill>
              <a:srgbClr val="CBD5E1"/>
            </a:solidFill>
            <a:prstDash val="solid"/>
          </a:ln>
        </p:spPr>
      </p:sp>
      <p:sp>
        <p:nvSpPr>
          <p:cNvPr id="28" name="Text 26"/>
          <p:cNvSpPr/>
          <p:nvPr/>
        </p:nvSpPr>
        <p:spPr>
          <a:xfrm>
            <a:off x="1197864" y="1920240"/>
            <a:ext cx="12161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Real/Fake</a:t>
            </a:r>
            <a:endParaRPr lang="en-US" sz="950" dirty="0"/>
          </a:p>
        </p:txBody>
      </p:sp>
      <p:sp>
        <p:nvSpPr>
          <p:cNvPr id="29" name="Shape 27"/>
          <p:cNvSpPr/>
          <p:nvPr/>
        </p:nvSpPr>
        <p:spPr>
          <a:xfrm>
            <a:off x="2468880" y="1874520"/>
            <a:ext cx="1005840" cy="457200"/>
          </a:xfrm>
          <a:prstGeom prst="rect">
            <a:avLst/>
          </a:prstGeom>
          <a:solidFill>
            <a:srgbClr val="F8FAFC"/>
          </a:solidFill>
          <a:ln w="9525">
            <a:solidFill>
              <a:srgbClr val="CBD5E1"/>
            </a:solidFill>
            <a:prstDash val="solid"/>
          </a:ln>
        </p:spPr>
      </p:sp>
      <p:sp>
        <p:nvSpPr>
          <p:cNvPr id="30" name="Text 28"/>
          <p:cNvSpPr/>
          <p:nvPr/>
        </p:nvSpPr>
        <p:spPr>
          <a:xfrm>
            <a:off x="2523744" y="1920240"/>
            <a:ext cx="89611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91.25%</a:t>
            </a:r>
            <a:endParaRPr lang="en-US" sz="950" dirty="0"/>
          </a:p>
        </p:txBody>
      </p:sp>
      <p:sp>
        <p:nvSpPr>
          <p:cNvPr id="31" name="Shape 29"/>
          <p:cNvSpPr/>
          <p:nvPr/>
        </p:nvSpPr>
        <p:spPr>
          <a:xfrm>
            <a:off x="3474720" y="1874520"/>
            <a:ext cx="1097280" cy="457200"/>
          </a:xfrm>
          <a:prstGeom prst="rect">
            <a:avLst/>
          </a:prstGeom>
          <a:solidFill>
            <a:srgbClr val="F8FAFC"/>
          </a:solidFill>
          <a:ln w="9525">
            <a:solidFill>
              <a:srgbClr val="CBD5E1"/>
            </a:solidFill>
            <a:prstDash val="solid"/>
          </a:ln>
        </p:spPr>
      </p:sp>
      <p:sp>
        <p:nvSpPr>
          <p:cNvPr id="32" name="Text 30"/>
          <p:cNvSpPr/>
          <p:nvPr/>
        </p:nvSpPr>
        <p:spPr>
          <a:xfrm>
            <a:off x="3529584" y="1920240"/>
            <a:ext cx="9875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80.33%</a:t>
            </a:r>
            <a:endParaRPr lang="en-US" sz="950" dirty="0"/>
          </a:p>
        </p:txBody>
      </p:sp>
      <p:sp>
        <p:nvSpPr>
          <p:cNvPr id="33" name="Shape 31"/>
          <p:cNvSpPr/>
          <p:nvPr/>
        </p:nvSpPr>
        <p:spPr>
          <a:xfrm>
            <a:off x="4572000" y="1874520"/>
            <a:ext cx="1645920" cy="457200"/>
          </a:xfrm>
          <a:prstGeom prst="rect">
            <a:avLst/>
          </a:prstGeom>
          <a:solidFill>
            <a:srgbClr val="F8FAFC"/>
          </a:solidFill>
          <a:ln w="9525">
            <a:solidFill>
              <a:srgbClr val="CBD5E1"/>
            </a:solidFill>
            <a:prstDash val="solid"/>
          </a:ln>
        </p:spPr>
      </p:sp>
      <p:sp>
        <p:nvSpPr>
          <p:cNvPr id="34" name="Text 32"/>
          <p:cNvSpPr/>
          <p:nvPr/>
        </p:nvSpPr>
        <p:spPr>
          <a:xfrm>
            <a:off x="4626864" y="1920240"/>
            <a:ext cx="153619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Best RF performance</a:t>
            </a:r>
            <a:endParaRPr lang="en-US" sz="950" dirty="0"/>
          </a:p>
        </p:txBody>
      </p:sp>
      <p:sp>
        <p:nvSpPr>
          <p:cNvPr id="35" name="Shape 33"/>
          <p:cNvSpPr/>
          <p:nvPr/>
        </p:nvSpPr>
        <p:spPr>
          <a:xfrm>
            <a:off x="502920" y="2331720"/>
            <a:ext cx="640080" cy="457200"/>
          </a:xfrm>
          <a:prstGeom prst="rect">
            <a:avLst/>
          </a:prstGeom>
          <a:solidFill>
            <a:srgbClr val="FFFFFF"/>
          </a:solidFill>
          <a:ln w="9525">
            <a:solidFill>
              <a:srgbClr val="CBD5E1"/>
            </a:solidFill>
            <a:prstDash val="solid"/>
          </a:ln>
        </p:spPr>
      </p:sp>
      <p:sp>
        <p:nvSpPr>
          <p:cNvPr id="36" name="Text 34"/>
          <p:cNvSpPr/>
          <p:nvPr/>
        </p:nvSpPr>
        <p:spPr>
          <a:xfrm>
            <a:off x="557784" y="2377440"/>
            <a:ext cx="5303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0.5</a:t>
            </a:r>
            <a:endParaRPr lang="en-US" sz="950" dirty="0"/>
          </a:p>
        </p:txBody>
      </p:sp>
      <p:sp>
        <p:nvSpPr>
          <p:cNvPr id="37" name="Shape 35"/>
          <p:cNvSpPr/>
          <p:nvPr/>
        </p:nvSpPr>
        <p:spPr>
          <a:xfrm>
            <a:off x="1143000" y="2331720"/>
            <a:ext cx="1325880" cy="457200"/>
          </a:xfrm>
          <a:prstGeom prst="rect">
            <a:avLst/>
          </a:prstGeom>
          <a:solidFill>
            <a:srgbClr val="FFFFFF"/>
          </a:solidFill>
          <a:ln w="9525">
            <a:solidFill>
              <a:srgbClr val="CBD5E1"/>
            </a:solidFill>
            <a:prstDash val="solid"/>
          </a:ln>
        </p:spPr>
      </p:sp>
      <p:sp>
        <p:nvSpPr>
          <p:cNvPr id="38" name="Text 36"/>
          <p:cNvSpPr/>
          <p:nvPr/>
        </p:nvSpPr>
        <p:spPr>
          <a:xfrm>
            <a:off x="1197864" y="2377440"/>
            <a:ext cx="12161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Balanced</a:t>
            </a:r>
            <a:endParaRPr lang="en-US" sz="950" dirty="0"/>
          </a:p>
        </p:txBody>
      </p:sp>
      <p:sp>
        <p:nvSpPr>
          <p:cNvPr id="39" name="Shape 37"/>
          <p:cNvSpPr/>
          <p:nvPr/>
        </p:nvSpPr>
        <p:spPr>
          <a:xfrm>
            <a:off x="2468880" y="2331720"/>
            <a:ext cx="1005840" cy="457200"/>
          </a:xfrm>
          <a:prstGeom prst="rect">
            <a:avLst/>
          </a:prstGeom>
          <a:solidFill>
            <a:srgbClr val="FFFFFF"/>
          </a:solidFill>
          <a:ln w="9525">
            <a:solidFill>
              <a:srgbClr val="CBD5E1"/>
            </a:solidFill>
            <a:prstDash val="solid"/>
          </a:ln>
        </p:spPr>
      </p:sp>
      <p:sp>
        <p:nvSpPr>
          <p:cNvPr id="40" name="Text 38"/>
          <p:cNvSpPr/>
          <p:nvPr/>
        </p:nvSpPr>
        <p:spPr>
          <a:xfrm>
            <a:off x="2523744" y="2377440"/>
            <a:ext cx="89611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90.75%</a:t>
            </a:r>
            <a:endParaRPr lang="en-US" sz="950" dirty="0"/>
          </a:p>
        </p:txBody>
      </p:sp>
      <p:sp>
        <p:nvSpPr>
          <p:cNvPr id="41" name="Shape 39"/>
          <p:cNvSpPr/>
          <p:nvPr/>
        </p:nvSpPr>
        <p:spPr>
          <a:xfrm>
            <a:off x="3474720" y="2331720"/>
            <a:ext cx="1097280" cy="457200"/>
          </a:xfrm>
          <a:prstGeom prst="rect">
            <a:avLst/>
          </a:prstGeom>
          <a:solidFill>
            <a:srgbClr val="FFFFFF"/>
          </a:solidFill>
          <a:ln w="9525">
            <a:solidFill>
              <a:srgbClr val="CBD5E1"/>
            </a:solidFill>
            <a:prstDash val="solid"/>
          </a:ln>
        </p:spPr>
      </p:sp>
      <p:sp>
        <p:nvSpPr>
          <p:cNvPr id="42" name="Text 40"/>
          <p:cNvSpPr/>
          <p:nvPr/>
        </p:nvSpPr>
        <p:spPr>
          <a:xfrm>
            <a:off x="3529584" y="2377440"/>
            <a:ext cx="9875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84.25%</a:t>
            </a:r>
            <a:endParaRPr lang="en-US" sz="950" dirty="0"/>
          </a:p>
        </p:txBody>
      </p:sp>
      <p:sp>
        <p:nvSpPr>
          <p:cNvPr id="43" name="Shape 41"/>
          <p:cNvSpPr/>
          <p:nvPr/>
        </p:nvSpPr>
        <p:spPr>
          <a:xfrm>
            <a:off x="4572000" y="2331720"/>
            <a:ext cx="1645920" cy="457200"/>
          </a:xfrm>
          <a:prstGeom prst="rect">
            <a:avLst/>
          </a:prstGeom>
          <a:solidFill>
            <a:srgbClr val="FFFFFF"/>
          </a:solidFill>
          <a:ln w="9525">
            <a:solidFill>
              <a:srgbClr val="CBD5E1"/>
            </a:solidFill>
            <a:prstDash val="solid"/>
          </a:ln>
        </p:spPr>
      </p:sp>
      <p:sp>
        <p:nvSpPr>
          <p:cNvPr id="44" name="Text 42"/>
          <p:cNvSpPr/>
          <p:nvPr/>
        </p:nvSpPr>
        <p:spPr>
          <a:xfrm>
            <a:off x="4626864" y="2377440"/>
            <a:ext cx="153619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Most balanced/stable</a:t>
            </a:r>
            <a:endParaRPr lang="en-US" sz="950" dirty="0"/>
          </a:p>
        </p:txBody>
      </p:sp>
      <p:sp>
        <p:nvSpPr>
          <p:cNvPr id="45" name="Shape 43"/>
          <p:cNvSpPr/>
          <p:nvPr/>
        </p:nvSpPr>
        <p:spPr>
          <a:xfrm>
            <a:off x="502920" y="2788920"/>
            <a:ext cx="640080" cy="457200"/>
          </a:xfrm>
          <a:prstGeom prst="rect">
            <a:avLst/>
          </a:prstGeom>
          <a:solidFill>
            <a:srgbClr val="F8FAFC"/>
          </a:solidFill>
          <a:ln w="9525">
            <a:solidFill>
              <a:srgbClr val="CBD5E1"/>
            </a:solidFill>
            <a:prstDash val="solid"/>
          </a:ln>
        </p:spPr>
      </p:sp>
      <p:sp>
        <p:nvSpPr>
          <p:cNvPr id="46" name="Text 44"/>
          <p:cNvSpPr/>
          <p:nvPr/>
        </p:nvSpPr>
        <p:spPr>
          <a:xfrm>
            <a:off x="557784" y="2834640"/>
            <a:ext cx="5303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0.2</a:t>
            </a:r>
            <a:endParaRPr lang="en-US" sz="950" dirty="0"/>
          </a:p>
        </p:txBody>
      </p:sp>
      <p:sp>
        <p:nvSpPr>
          <p:cNvPr id="47" name="Shape 45"/>
          <p:cNvSpPr/>
          <p:nvPr/>
        </p:nvSpPr>
        <p:spPr>
          <a:xfrm>
            <a:off x="1143000" y="2788920"/>
            <a:ext cx="1325880" cy="457200"/>
          </a:xfrm>
          <a:prstGeom prst="rect">
            <a:avLst/>
          </a:prstGeom>
          <a:solidFill>
            <a:srgbClr val="F8FAFC"/>
          </a:solidFill>
          <a:ln w="9525">
            <a:solidFill>
              <a:srgbClr val="CBD5E1"/>
            </a:solidFill>
            <a:prstDash val="solid"/>
          </a:ln>
        </p:spPr>
      </p:sp>
      <p:sp>
        <p:nvSpPr>
          <p:cNvPr id="48" name="Text 46"/>
          <p:cNvSpPr/>
          <p:nvPr/>
        </p:nvSpPr>
        <p:spPr>
          <a:xfrm>
            <a:off x="1197864" y="2834640"/>
            <a:ext cx="12161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Transformations</a:t>
            </a:r>
            <a:endParaRPr lang="en-US" sz="950" dirty="0"/>
          </a:p>
        </p:txBody>
      </p:sp>
      <p:sp>
        <p:nvSpPr>
          <p:cNvPr id="49" name="Shape 47"/>
          <p:cNvSpPr/>
          <p:nvPr/>
        </p:nvSpPr>
        <p:spPr>
          <a:xfrm>
            <a:off x="2468880" y="2788920"/>
            <a:ext cx="1005840" cy="457200"/>
          </a:xfrm>
          <a:prstGeom prst="rect">
            <a:avLst/>
          </a:prstGeom>
          <a:solidFill>
            <a:srgbClr val="F8FAFC"/>
          </a:solidFill>
          <a:ln w="9525">
            <a:solidFill>
              <a:srgbClr val="CBD5E1"/>
            </a:solidFill>
            <a:prstDash val="solid"/>
          </a:ln>
        </p:spPr>
      </p:sp>
      <p:sp>
        <p:nvSpPr>
          <p:cNvPr id="50" name="Text 48"/>
          <p:cNvSpPr/>
          <p:nvPr/>
        </p:nvSpPr>
        <p:spPr>
          <a:xfrm>
            <a:off x="2523744" y="2834640"/>
            <a:ext cx="89611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89.33%</a:t>
            </a:r>
            <a:endParaRPr lang="en-US" sz="950" dirty="0"/>
          </a:p>
        </p:txBody>
      </p:sp>
      <p:sp>
        <p:nvSpPr>
          <p:cNvPr id="51" name="Shape 49"/>
          <p:cNvSpPr/>
          <p:nvPr/>
        </p:nvSpPr>
        <p:spPr>
          <a:xfrm>
            <a:off x="3474720" y="2788920"/>
            <a:ext cx="1097280" cy="457200"/>
          </a:xfrm>
          <a:prstGeom prst="rect">
            <a:avLst/>
          </a:prstGeom>
          <a:solidFill>
            <a:srgbClr val="F8FAFC"/>
          </a:solidFill>
          <a:ln w="9525">
            <a:solidFill>
              <a:srgbClr val="CBD5E1"/>
            </a:solidFill>
            <a:prstDash val="solid"/>
          </a:ln>
        </p:spPr>
      </p:sp>
      <p:sp>
        <p:nvSpPr>
          <p:cNvPr id="52" name="Text 50"/>
          <p:cNvSpPr/>
          <p:nvPr/>
        </p:nvSpPr>
        <p:spPr>
          <a:xfrm>
            <a:off x="3529584" y="2834640"/>
            <a:ext cx="98755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84.83%</a:t>
            </a:r>
            <a:endParaRPr lang="en-US" sz="950" dirty="0"/>
          </a:p>
        </p:txBody>
      </p:sp>
      <p:sp>
        <p:nvSpPr>
          <p:cNvPr id="53" name="Shape 51"/>
          <p:cNvSpPr/>
          <p:nvPr/>
        </p:nvSpPr>
        <p:spPr>
          <a:xfrm>
            <a:off x="4572000" y="2788920"/>
            <a:ext cx="1645920" cy="457200"/>
          </a:xfrm>
          <a:prstGeom prst="rect">
            <a:avLst/>
          </a:prstGeom>
          <a:solidFill>
            <a:srgbClr val="F8FAFC"/>
          </a:solidFill>
          <a:ln w="9525">
            <a:solidFill>
              <a:srgbClr val="CBD5E1"/>
            </a:solidFill>
            <a:prstDash val="solid"/>
          </a:ln>
        </p:spPr>
      </p:sp>
      <p:sp>
        <p:nvSpPr>
          <p:cNvPr id="54" name="Text 52"/>
          <p:cNvSpPr/>
          <p:nvPr/>
        </p:nvSpPr>
        <p:spPr>
          <a:xfrm>
            <a:off x="4626864" y="2834640"/>
            <a:ext cx="1536192" cy="365760"/>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Strong transformation task</a:t>
            </a:r>
            <a:endParaRPr lang="en-US" sz="950" dirty="0"/>
          </a:p>
        </p:txBody>
      </p:sp>
      <p:graphicFrame>
        <p:nvGraphicFramePr>
          <p:cNvPr id="55" name="Chart 0" descr=""/>
          <p:cNvGraphicFramePr/>
          <p:nvPr/>
        </p:nvGraphicFramePr>
        <p:xfrm>
          <a:off x="6446520" y="960120"/>
          <a:ext cx="5212080" cy="2697480"/>
        </p:xfrm>
        <a:graphic xmlns:a="http://schemas.openxmlformats.org/drawingml/2006/main">
          <a:graphicData uri="http://schemas.openxmlformats.org/drawingml/2006/chart">
            <c:chart xmlns:c="http://schemas.openxmlformats.org/drawingml/2006/chart" r:id="rId1"/>
          </a:graphicData>
        </a:graphic>
      </p:graphicFrame>
      <p:sp>
        <p:nvSpPr>
          <p:cNvPr id="56" name="Text 53"/>
          <p:cNvSpPr/>
          <p:nvPr/>
        </p:nvSpPr>
        <p:spPr>
          <a:xfrm>
            <a:off x="685800" y="4069080"/>
            <a:ext cx="10652760" cy="1143000"/>
          </a:xfrm>
          <a:prstGeom prst="rect">
            <a:avLst/>
          </a:prstGeom>
          <a:noFill/>
          <a:ln/>
        </p:spPr>
        <p:txBody>
          <a:bodyPr wrap="square" rtlCol="0" anchor="ctr">
            <a:normAutofit/>
          </a:bodyPr>
          <a:lstStyle/>
          <a:p>
            <a:r>
              <a:rPr lang="en-US" sz="1400" dirty="0">
                <a:solidFill>
                  <a:srgbClr val="111827"/>
                </a:solidFill>
                <a:latin typeface="Aptos" pitchFamily="34" charset="0"/>
                <a:ea typeface="Aptos" pitchFamily="34" charset="-122"/>
                <a:cs typeface="Aptos" pitchFamily="34" charset="-120"/>
              </a:rPr>
              <a:t>All multi-task configurations improve RF accuracy over the baseline.</a:t>
            </a:r>
            <a:endParaRPr lang="en-US" sz="1400" dirty="0"/>
          </a:p>
          <a:p>
            <a:r>
              <a:rPr lang="en-US" sz="1400" dirty="0">
                <a:solidFill>
                  <a:srgbClr val="111827"/>
                </a:solidFill>
                <a:latin typeface="Aptos" pitchFamily="34" charset="0"/>
                <a:ea typeface="Aptos" pitchFamily="34" charset="-122"/>
                <a:cs typeface="Aptos" pitchFamily="34" charset="-120"/>
              </a:rPr>
              <a:t>alpha = 0.8 gives the best real/fake performance.</a:t>
            </a:r>
            <a:endParaRPr lang="en-US" sz="1400" dirty="0"/>
          </a:p>
          <a:p>
            <a:r>
              <a:rPr lang="en-US" sz="1400" dirty="0">
                <a:solidFill>
                  <a:srgbClr val="111827"/>
                </a:solidFill>
                <a:latin typeface="Aptos" pitchFamily="34" charset="0"/>
                <a:ea typeface="Aptos" pitchFamily="34" charset="-122"/>
                <a:cs typeface="Aptos" pitchFamily="34" charset="-120"/>
              </a:rPr>
              <a:t>alpha = 0.5 is the most balanced and stable configuration.</a:t>
            </a:r>
            <a:endParaRPr lang="en-US" sz="1400" dirty="0"/>
          </a:p>
          <a:p>
            <a:r>
              <a:rPr lang="en-US" sz="1400" dirty="0">
                <a:solidFill>
                  <a:srgbClr val="111827"/>
                </a:solidFill>
                <a:latin typeface="Aptos" pitchFamily="34" charset="0"/>
                <a:ea typeface="Aptos" pitchFamily="34" charset="-122"/>
                <a:cs typeface="Aptos" pitchFamily="34" charset="-120"/>
              </a:rPr>
              <a:t>alpha = 0.2 improves transformation recognition but gives less priority to RF.</a:t>
            </a:r>
            <a:endParaRPr lang="en-US" sz="1400" dirty="0"/>
          </a:p>
        </p:txBody>
      </p:sp>
      <p:sp>
        <p:nvSpPr>
          <p:cNvPr id="57" name="Text 54"/>
          <p:cNvSpPr/>
          <p:nvPr/>
        </p:nvSpPr>
        <p:spPr>
          <a:xfrm>
            <a:off x="594360" y="6272784"/>
            <a:ext cx="786384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Ablation values and interpretation from the PDF analysis.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Robustness and Additional Analysis</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11 / 12</a:t>
            </a:r>
            <a:endParaRPr lang="en-US" sz="850" dirty="0"/>
          </a:p>
        </p:txBody>
      </p:sp>
      <p:sp>
        <p:nvSpPr>
          <p:cNvPr id="5" name="Text 3"/>
          <p:cNvSpPr/>
          <p:nvPr/>
        </p:nvSpPr>
        <p:spPr>
          <a:xfrm>
            <a:off x="685800" y="960120"/>
            <a:ext cx="301752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ARTIFACT-AWARE VARIANT</a:t>
            </a:r>
            <a:endParaRPr lang="en-US" sz="900" dirty="0"/>
          </a:p>
        </p:txBody>
      </p:sp>
      <p:sp>
        <p:nvSpPr>
          <p:cNvPr id="6" name="Text 4"/>
          <p:cNvSpPr/>
          <p:nvPr/>
        </p:nvSpPr>
        <p:spPr>
          <a:xfrm>
            <a:off x="685800" y="1261872"/>
            <a:ext cx="4069080" cy="2148840"/>
          </a:xfrm>
          <a:prstGeom prst="rect">
            <a:avLst/>
          </a:prstGeom>
          <a:noFill/>
          <a:ln/>
        </p:spPr>
        <p:txBody>
          <a:bodyPr wrap="square" rtlCol="0" anchor="ctr">
            <a:normAutofit/>
          </a:bodyPr>
          <a:lstStyle/>
          <a:p>
            <a:r>
              <a:rPr lang="en-US" sz="1520" dirty="0">
                <a:solidFill>
                  <a:srgbClr val="111827"/>
                </a:solidFill>
                <a:latin typeface="Aptos" pitchFamily="34" charset="0"/>
                <a:ea typeface="Aptos" pitchFamily="34" charset="-122"/>
                <a:cs typeface="Aptos" pitchFamily="34" charset="-120"/>
              </a:rPr>
              <a:t>Adds a residual/high-frequency branch to the standard RGB EfficientNet path.</a:t>
            </a:r>
            <a:endParaRPr lang="en-US" sz="1520" dirty="0"/>
          </a:p>
          <a:p>
            <a:r>
              <a:rPr lang="en-US" sz="1520" dirty="0">
                <a:solidFill>
                  <a:srgbClr val="111827"/>
                </a:solidFill>
                <a:latin typeface="Aptos" pitchFamily="34" charset="0"/>
                <a:ea typeface="Aptos" pitchFamily="34" charset="-122"/>
                <a:cs typeface="Aptos" pitchFamily="34" charset="-120"/>
              </a:rPr>
              <a:t>The branch targets compression, blur, re-sampling traces, and redigitalization noise.</a:t>
            </a:r>
            <a:endParaRPr lang="en-US" sz="1520" dirty="0"/>
          </a:p>
          <a:p>
            <a:r>
              <a:rPr lang="en-US" sz="1520" dirty="0">
                <a:solidFill>
                  <a:srgbClr val="111827"/>
                </a:solidFill>
                <a:latin typeface="Aptos" pitchFamily="34" charset="0"/>
                <a:ea typeface="Aptos" pitchFamily="34" charset="-122"/>
                <a:cs typeface="Aptos" pitchFamily="34" charset="-120"/>
              </a:rPr>
              <a:t>Overall accuracy is not always higher, but the robustness gap is reduced.</a:t>
            </a:r>
            <a:endParaRPr lang="en-US" sz="1520" dirty="0"/>
          </a:p>
          <a:p>
            <a:r>
              <a:rPr lang="en-US" sz="1520" dirty="0">
                <a:solidFill>
                  <a:srgbClr val="111827"/>
                </a:solidFill>
                <a:latin typeface="Aptos" pitchFamily="34" charset="0"/>
                <a:ea typeface="Aptos" pitchFamily="34" charset="-122"/>
                <a:cs typeface="Aptos" pitchFamily="34" charset="-120"/>
              </a:rPr>
              <a:t>Robustness drop: standard 0.0322; artifact-aware 0.0166.</a:t>
            </a:r>
            <a:endParaRPr lang="en-US" sz="1520" dirty="0"/>
          </a:p>
        </p:txBody>
      </p:sp>
      <p:sp>
        <p:nvSpPr>
          <p:cNvPr id="7" name="Shape 5"/>
          <p:cNvSpPr/>
          <p:nvPr/>
        </p:nvSpPr>
        <p:spPr>
          <a:xfrm>
            <a:off x="6080760" y="1920240"/>
            <a:ext cx="822960" cy="0"/>
          </a:xfrm>
          <a:prstGeom prst="line">
            <a:avLst/>
          </a:prstGeom>
          <a:noFill/>
          <a:ln w="25400">
            <a:solidFill>
              <a:srgbClr val="0F3D5E"/>
            </a:solidFill>
            <a:prstDash val="solid"/>
            <a:headEnd type="none"/>
            <a:tailEnd type="triangle"/>
          </a:ln>
        </p:spPr>
      </p:sp>
      <p:sp>
        <p:nvSpPr>
          <p:cNvPr id="8" name="Shape 6"/>
          <p:cNvSpPr/>
          <p:nvPr/>
        </p:nvSpPr>
        <p:spPr>
          <a:xfrm>
            <a:off x="6080760" y="2926080"/>
            <a:ext cx="822960" cy="0"/>
          </a:xfrm>
          <a:prstGeom prst="line">
            <a:avLst/>
          </a:prstGeom>
          <a:noFill/>
          <a:ln w="25400">
            <a:solidFill>
              <a:srgbClr val="D97706"/>
            </a:solidFill>
            <a:prstDash val="solid"/>
            <a:headEnd type="none"/>
            <a:tailEnd type="triangle"/>
          </a:ln>
        </p:spPr>
      </p:sp>
      <p:sp>
        <p:nvSpPr>
          <p:cNvPr id="9" name="Shape 7"/>
          <p:cNvSpPr/>
          <p:nvPr/>
        </p:nvSpPr>
        <p:spPr>
          <a:xfrm>
            <a:off x="8229600" y="2423160"/>
            <a:ext cx="822960" cy="0"/>
          </a:xfrm>
          <a:prstGeom prst="line">
            <a:avLst/>
          </a:prstGeom>
          <a:noFill/>
          <a:ln w="25400">
            <a:solidFill>
              <a:srgbClr val="15803D"/>
            </a:solidFill>
            <a:prstDash val="solid"/>
            <a:headEnd type="none"/>
            <a:tailEnd type="triangle"/>
          </a:ln>
        </p:spPr>
      </p:sp>
      <p:sp>
        <p:nvSpPr>
          <p:cNvPr id="10" name="Shape 8"/>
          <p:cNvSpPr/>
          <p:nvPr/>
        </p:nvSpPr>
        <p:spPr>
          <a:xfrm>
            <a:off x="5166360" y="1600200"/>
            <a:ext cx="914400" cy="640080"/>
          </a:xfrm>
          <a:prstGeom prst="roundRect">
            <a:avLst>
              <a:gd name="adj" fmla="val 14286"/>
            </a:avLst>
          </a:prstGeom>
          <a:solidFill>
            <a:srgbClr val="F8FAFC"/>
          </a:solidFill>
          <a:ln w="12700">
            <a:solidFill>
              <a:srgbClr val="CBD5E1"/>
            </a:solidFill>
            <a:prstDash val="solid"/>
          </a:ln>
        </p:spPr>
      </p:sp>
      <p:sp>
        <p:nvSpPr>
          <p:cNvPr id="11" name="Text 9"/>
          <p:cNvSpPr/>
          <p:nvPr/>
        </p:nvSpPr>
        <p:spPr>
          <a:xfrm>
            <a:off x="5239512" y="1673352"/>
            <a:ext cx="768096" cy="493776"/>
          </a:xfrm>
          <a:prstGeom prst="rect">
            <a:avLst/>
          </a:prstGeom>
          <a:noFill/>
          <a:ln/>
        </p:spPr>
        <p:txBody>
          <a:bodyPr wrap="square" lIns="0" tIns="0" rIns="0" bIns="0" rtlCol="0" anchor="ctr">
            <a:normAutofit/>
          </a:bodyPr>
          <a:lstStyle/>
          <a:p>
            <a:pPr algn="ctr" indent="0" marL="0">
              <a:buNone/>
            </a:pPr>
            <a:r>
              <a:rPr lang="en-US" sz="1100" b="1" dirty="0">
                <a:solidFill>
                  <a:srgbClr val="111827"/>
                </a:solidFill>
                <a:latin typeface="Aptos" pitchFamily="34" charset="0"/>
                <a:ea typeface="Aptos" pitchFamily="34" charset="-122"/>
                <a:cs typeface="Aptos" pitchFamily="34" charset="-120"/>
              </a:rPr>
              <a:t>RGB image</a:t>
            </a:r>
            <a:endParaRPr lang="en-US" sz="1100" dirty="0"/>
          </a:p>
        </p:txBody>
      </p:sp>
      <p:sp>
        <p:nvSpPr>
          <p:cNvPr id="12" name="Shape 10"/>
          <p:cNvSpPr/>
          <p:nvPr/>
        </p:nvSpPr>
        <p:spPr>
          <a:xfrm>
            <a:off x="5166360" y="2606040"/>
            <a:ext cx="914400" cy="640080"/>
          </a:xfrm>
          <a:prstGeom prst="roundRect">
            <a:avLst>
              <a:gd name="adj" fmla="val 14286"/>
            </a:avLst>
          </a:prstGeom>
          <a:solidFill>
            <a:srgbClr val="FEF3C7"/>
          </a:solidFill>
          <a:ln w="12700">
            <a:solidFill>
              <a:srgbClr val="CBD5E1"/>
            </a:solidFill>
            <a:prstDash val="solid"/>
          </a:ln>
        </p:spPr>
      </p:sp>
      <p:sp>
        <p:nvSpPr>
          <p:cNvPr id="13" name="Text 11"/>
          <p:cNvSpPr/>
          <p:nvPr/>
        </p:nvSpPr>
        <p:spPr>
          <a:xfrm>
            <a:off x="5239512" y="2679192"/>
            <a:ext cx="768096" cy="493776"/>
          </a:xfrm>
          <a:prstGeom prst="rect">
            <a:avLst/>
          </a:prstGeom>
          <a:noFill/>
          <a:ln/>
        </p:spPr>
        <p:txBody>
          <a:bodyPr wrap="square" lIns="0" tIns="0" rIns="0" bIns="0" rtlCol="0" anchor="ctr">
            <a:normAutofit/>
          </a:bodyPr>
          <a:lstStyle/>
          <a:p>
            <a:pPr algn="ctr" indent="0" marL="0">
              <a:buNone/>
            </a:pPr>
            <a:r>
              <a:rPr lang="en-US" sz="1100" b="1" dirty="0">
                <a:solidFill>
                  <a:srgbClr val="92400E"/>
                </a:solidFill>
                <a:latin typeface="Aptos" pitchFamily="34" charset="0"/>
                <a:ea typeface="Aptos" pitchFamily="34" charset="-122"/>
                <a:cs typeface="Aptos" pitchFamily="34" charset="-120"/>
              </a:rPr>
              <a:t>Residual</a:t>
            </a:r>
            <a:endParaRPr lang="en-US" sz="1100" dirty="0"/>
          </a:p>
          <a:p>
            <a:pPr algn="ctr" indent="0" marL="0">
              <a:buNone/>
            </a:pPr>
            <a:r>
              <a:rPr lang="en-US" sz="1100" b="1" dirty="0">
                <a:solidFill>
                  <a:srgbClr val="92400E"/>
                </a:solidFill>
                <a:latin typeface="Aptos" pitchFamily="34" charset="0"/>
                <a:ea typeface="Aptos" pitchFamily="34" charset="-122"/>
                <a:cs typeface="Aptos" pitchFamily="34" charset="-120"/>
              </a:rPr>
              <a:t>image</a:t>
            </a:r>
            <a:endParaRPr lang="en-US" sz="1100" dirty="0"/>
          </a:p>
        </p:txBody>
      </p:sp>
      <p:sp>
        <p:nvSpPr>
          <p:cNvPr id="14" name="Shape 12"/>
          <p:cNvSpPr/>
          <p:nvPr/>
        </p:nvSpPr>
        <p:spPr>
          <a:xfrm>
            <a:off x="6903720" y="1600200"/>
            <a:ext cx="1325880" cy="640080"/>
          </a:xfrm>
          <a:prstGeom prst="roundRect">
            <a:avLst>
              <a:gd name="adj" fmla="val 14286"/>
            </a:avLst>
          </a:prstGeom>
          <a:solidFill>
            <a:srgbClr val="DBEAFE"/>
          </a:solidFill>
          <a:ln w="12700">
            <a:solidFill>
              <a:srgbClr val="CBD5E1"/>
            </a:solidFill>
            <a:prstDash val="solid"/>
          </a:ln>
        </p:spPr>
      </p:sp>
      <p:sp>
        <p:nvSpPr>
          <p:cNvPr id="15" name="Text 13"/>
          <p:cNvSpPr/>
          <p:nvPr/>
        </p:nvSpPr>
        <p:spPr>
          <a:xfrm>
            <a:off x="6976872" y="1673352"/>
            <a:ext cx="1179576" cy="493776"/>
          </a:xfrm>
          <a:prstGeom prst="rect">
            <a:avLst/>
          </a:prstGeom>
          <a:noFill/>
          <a:ln/>
        </p:spPr>
        <p:txBody>
          <a:bodyPr wrap="square" lIns="0" tIns="0" rIns="0" bIns="0" rtlCol="0" anchor="ctr">
            <a:normAutofit/>
          </a:bodyPr>
          <a:lstStyle/>
          <a:p>
            <a:pPr algn="ctr" indent="0" marL="0">
              <a:buNone/>
            </a:pPr>
            <a:r>
              <a:rPr lang="en-US" sz="1100" b="1" dirty="0">
                <a:solidFill>
                  <a:srgbClr val="0F3D5E"/>
                </a:solidFill>
                <a:latin typeface="Aptos" pitchFamily="34" charset="0"/>
                <a:ea typeface="Aptos" pitchFamily="34" charset="-122"/>
                <a:cs typeface="Aptos" pitchFamily="34" charset="-120"/>
              </a:rPr>
              <a:t>EffNet-B0</a:t>
            </a:r>
            <a:endParaRPr lang="en-US" sz="1100" dirty="0"/>
          </a:p>
        </p:txBody>
      </p:sp>
      <p:sp>
        <p:nvSpPr>
          <p:cNvPr id="16" name="Shape 14"/>
          <p:cNvSpPr/>
          <p:nvPr/>
        </p:nvSpPr>
        <p:spPr>
          <a:xfrm>
            <a:off x="6903720" y="2606040"/>
            <a:ext cx="1325880" cy="640080"/>
          </a:xfrm>
          <a:prstGeom prst="roundRect">
            <a:avLst>
              <a:gd name="adj" fmla="val 14286"/>
            </a:avLst>
          </a:prstGeom>
          <a:solidFill>
            <a:srgbClr val="FEF3C7"/>
          </a:solidFill>
          <a:ln w="12700">
            <a:solidFill>
              <a:srgbClr val="CBD5E1"/>
            </a:solidFill>
            <a:prstDash val="solid"/>
          </a:ln>
        </p:spPr>
      </p:sp>
      <p:sp>
        <p:nvSpPr>
          <p:cNvPr id="17" name="Text 15"/>
          <p:cNvSpPr/>
          <p:nvPr/>
        </p:nvSpPr>
        <p:spPr>
          <a:xfrm>
            <a:off x="6976872" y="2679192"/>
            <a:ext cx="1179576" cy="493776"/>
          </a:xfrm>
          <a:prstGeom prst="rect">
            <a:avLst/>
          </a:prstGeom>
          <a:noFill/>
          <a:ln/>
        </p:spPr>
        <p:txBody>
          <a:bodyPr wrap="square" lIns="0" tIns="0" rIns="0" bIns="0" rtlCol="0" anchor="ctr">
            <a:normAutofit/>
          </a:bodyPr>
          <a:lstStyle/>
          <a:p>
            <a:pPr algn="ctr" indent="0" marL="0">
              <a:buNone/>
            </a:pPr>
            <a:r>
              <a:rPr lang="en-US" sz="1100" b="1" dirty="0">
                <a:solidFill>
                  <a:srgbClr val="92400E"/>
                </a:solidFill>
                <a:latin typeface="Aptos" pitchFamily="34" charset="0"/>
                <a:ea typeface="Aptos" pitchFamily="34" charset="-122"/>
                <a:cs typeface="Aptos" pitchFamily="34" charset="-120"/>
              </a:rPr>
              <a:t>Small CNN</a:t>
            </a:r>
            <a:endParaRPr lang="en-US" sz="1100" dirty="0"/>
          </a:p>
        </p:txBody>
      </p:sp>
      <p:sp>
        <p:nvSpPr>
          <p:cNvPr id="18" name="Shape 16"/>
          <p:cNvSpPr/>
          <p:nvPr/>
        </p:nvSpPr>
        <p:spPr>
          <a:xfrm>
            <a:off x="9052560" y="2011680"/>
            <a:ext cx="1325880" cy="822960"/>
          </a:xfrm>
          <a:prstGeom prst="roundRect">
            <a:avLst>
              <a:gd name="adj" fmla="val 11111"/>
            </a:avLst>
          </a:prstGeom>
          <a:solidFill>
            <a:srgbClr val="ECFDF5"/>
          </a:solidFill>
          <a:ln w="12700">
            <a:solidFill>
              <a:srgbClr val="CBD5E1"/>
            </a:solidFill>
            <a:prstDash val="solid"/>
          </a:ln>
        </p:spPr>
      </p:sp>
      <p:sp>
        <p:nvSpPr>
          <p:cNvPr id="19" name="Text 17"/>
          <p:cNvSpPr/>
          <p:nvPr/>
        </p:nvSpPr>
        <p:spPr>
          <a:xfrm>
            <a:off x="9125712" y="2084832"/>
            <a:ext cx="1179576" cy="676656"/>
          </a:xfrm>
          <a:prstGeom prst="rect">
            <a:avLst/>
          </a:prstGeom>
          <a:noFill/>
          <a:ln/>
        </p:spPr>
        <p:txBody>
          <a:bodyPr wrap="square" lIns="0" tIns="0" rIns="0" bIns="0" rtlCol="0" anchor="ctr">
            <a:normAutofit/>
          </a:bodyPr>
          <a:lstStyle/>
          <a:p>
            <a:pPr algn="ctr" indent="0" marL="0">
              <a:buNone/>
            </a:pPr>
            <a:r>
              <a:rPr lang="en-US" sz="1100" b="1" dirty="0">
                <a:solidFill>
                  <a:srgbClr val="15803D"/>
                </a:solidFill>
                <a:latin typeface="Aptos" pitchFamily="34" charset="0"/>
                <a:ea typeface="Aptos" pitchFamily="34" charset="-122"/>
                <a:cs typeface="Aptos" pitchFamily="34" charset="-120"/>
              </a:rPr>
              <a:t>Fusion +</a:t>
            </a:r>
            <a:endParaRPr lang="en-US" sz="1100" dirty="0"/>
          </a:p>
          <a:p>
            <a:pPr algn="ctr" indent="0" marL="0">
              <a:buNone/>
            </a:pPr>
            <a:r>
              <a:rPr lang="en-US" sz="1100" b="1" dirty="0">
                <a:solidFill>
                  <a:srgbClr val="15803D"/>
                </a:solidFill>
                <a:latin typeface="Aptos" pitchFamily="34" charset="0"/>
                <a:ea typeface="Aptos" pitchFamily="34" charset="-122"/>
                <a:cs typeface="Aptos" pitchFamily="34" charset="-120"/>
              </a:rPr>
              <a:t>two heads</a:t>
            </a:r>
            <a:endParaRPr lang="en-US" sz="1100" dirty="0"/>
          </a:p>
        </p:txBody>
      </p:sp>
      <p:graphicFrame>
        <p:nvGraphicFramePr>
          <p:cNvPr id="20" name="Chart 0" descr=""/>
          <p:cNvGraphicFramePr/>
          <p:nvPr/>
        </p:nvGraphicFramePr>
        <p:xfrm>
          <a:off x="5166360" y="3794760"/>
          <a:ext cx="6355080" cy="187452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868680" y="4663440"/>
            <a:ext cx="3886200" cy="566928"/>
          </a:xfrm>
          <a:prstGeom prst="roundRect">
            <a:avLst>
              <a:gd name="adj" fmla="val 19355"/>
            </a:avLst>
          </a:prstGeom>
          <a:solidFill>
            <a:srgbClr val="15803D"/>
          </a:solidFill>
          <a:ln w="12700">
            <a:solidFill>
              <a:srgbClr val="15803D">
                <a:alpha val="0"/>
              </a:srgbClr>
            </a:solidFill>
            <a:prstDash val="solid"/>
          </a:ln>
        </p:spPr>
      </p:sp>
      <p:sp>
        <p:nvSpPr>
          <p:cNvPr id="22" name="Text 19"/>
          <p:cNvSpPr/>
          <p:nvPr/>
        </p:nvSpPr>
        <p:spPr>
          <a:xfrm>
            <a:off x="978408" y="4773168"/>
            <a:ext cx="3666744" cy="34747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Lower drop = more consistent across original and degraded images</a:t>
            </a:r>
            <a:endParaRPr lang="en-US" sz="1400" dirty="0"/>
          </a:p>
        </p:txBody>
      </p:sp>
      <p:sp>
        <p:nvSpPr>
          <p:cNvPr id="23" name="Text 20"/>
          <p:cNvSpPr/>
          <p:nvPr/>
        </p:nvSpPr>
        <p:spPr>
          <a:xfrm>
            <a:off x="594360" y="6272784"/>
            <a:ext cx="786384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Artifact-aware architecture and robustness drop extracted from the notebook.</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10881360" cy="411480"/>
          </a:xfrm>
          <a:prstGeom prst="rect">
            <a:avLst/>
          </a:prstGeom>
          <a:noFill/>
          <a:ln/>
        </p:spPr>
        <p:txBody>
          <a:bodyPr wrap="square" lIns="0" tIns="0" rIns="0" bIns="0" rtlCol="0" anchor="ctr"/>
          <a:lstStyle/>
          <a:p>
            <a:pPr indent="0" marL="0">
              <a:buNone/>
            </a:pPr>
            <a:r>
              <a:rPr lang="en-US" sz="2900" b="1" dirty="0">
                <a:solidFill>
                  <a:srgbClr val="111827"/>
                </a:solidFill>
                <a:latin typeface="Aptos Display" pitchFamily="34" charset="0"/>
                <a:ea typeface="Aptos Display" pitchFamily="34" charset="-122"/>
                <a:cs typeface="Aptos Display" pitchFamily="34" charset="-120"/>
              </a:rPr>
              <a:t>Conclusions, Future Work, and References</a:t>
            </a:r>
            <a:endParaRPr lang="en-US" sz="2900" dirty="0"/>
          </a:p>
        </p:txBody>
      </p:sp>
      <p:sp>
        <p:nvSpPr>
          <p:cNvPr id="3" name="Shape 1"/>
          <p:cNvSpPr/>
          <p:nvPr/>
        </p:nvSpPr>
        <p:spPr>
          <a:xfrm>
            <a:off x="502920" y="6473952"/>
            <a:ext cx="11201400" cy="0"/>
          </a:xfrm>
          <a:prstGeom prst="line">
            <a:avLst/>
          </a:prstGeom>
          <a:noFill/>
          <a:ln w="9525">
            <a:solidFill>
              <a:srgbClr val="D1D5DB"/>
            </a:solidFill>
            <a:prstDash val="solid"/>
          </a:ln>
        </p:spPr>
      </p:sp>
      <p:sp>
        <p:nvSpPr>
          <p:cNvPr id="4" name="Text 2"/>
          <p:cNvSpPr/>
          <p:nvPr/>
        </p:nvSpPr>
        <p:spPr>
          <a:xfrm>
            <a:off x="9921240" y="6537960"/>
            <a:ext cx="1737360" cy="201168"/>
          </a:xfrm>
          <a:prstGeom prst="rect">
            <a:avLst/>
          </a:prstGeom>
          <a:noFill/>
          <a:ln/>
        </p:spPr>
        <p:txBody>
          <a:bodyPr wrap="square" lIns="0" tIns="0" rIns="0" bIns="0" rtlCol="0" anchor="ctr"/>
          <a:lstStyle/>
          <a:p>
            <a:pPr algn="r" indent="0" marL="0">
              <a:buNone/>
            </a:pPr>
            <a:r>
              <a:rPr lang="en-US" sz="850" dirty="0">
                <a:solidFill>
                  <a:srgbClr val="4B5563"/>
                </a:solidFill>
                <a:latin typeface="Aptos" pitchFamily="34" charset="0"/>
                <a:ea typeface="Aptos" pitchFamily="34" charset="-122"/>
                <a:cs typeface="Aptos" pitchFamily="34" charset="-120"/>
              </a:rPr>
              <a:t>Slide 12 / 12</a:t>
            </a:r>
            <a:endParaRPr lang="en-US" sz="850" dirty="0"/>
          </a:p>
        </p:txBody>
      </p:sp>
      <p:sp>
        <p:nvSpPr>
          <p:cNvPr id="5" name="Text 3"/>
          <p:cNvSpPr/>
          <p:nvPr/>
        </p:nvSpPr>
        <p:spPr>
          <a:xfrm>
            <a:off x="685800" y="914400"/>
            <a:ext cx="1920240" cy="219456"/>
          </a:xfrm>
          <a:prstGeom prst="rect">
            <a:avLst/>
          </a:prstGeom>
          <a:noFill/>
          <a:ln/>
        </p:spPr>
        <p:txBody>
          <a:bodyPr wrap="square" lIns="0" tIns="0" rIns="0" bIns="0" rtlCol="0" anchor="ctr"/>
          <a:lstStyle/>
          <a:p>
            <a:pPr indent="0" marL="0">
              <a:buNone/>
            </a:pPr>
            <a:r>
              <a:rPr lang="en-US" sz="900" b="1" dirty="0">
                <a:solidFill>
                  <a:srgbClr val="15803D"/>
                </a:solidFill>
                <a:latin typeface="Aptos" pitchFamily="34" charset="0"/>
                <a:ea typeface="Aptos" pitchFamily="34" charset="-122"/>
                <a:cs typeface="Aptos" pitchFamily="34" charset="-120"/>
              </a:rPr>
              <a:t>CONCLUSIONS</a:t>
            </a:r>
            <a:endParaRPr lang="en-US" sz="900" dirty="0"/>
          </a:p>
        </p:txBody>
      </p:sp>
      <p:sp>
        <p:nvSpPr>
          <p:cNvPr id="6" name="Text 4"/>
          <p:cNvSpPr/>
          <p:nvPr/>
        </p:nvSpPr>
        <p:spPr>
          <a:xfrm>
            <a:off x="685800" y="1216152"/>
            <a:ext cx="5212080" cy="1600200"/>
          </a:xfrm>
          <a:prstGeom prst="rect">
            <a:avLst/>
          </a:prstGeom>
          <a:noFill/>
          <a:ln/>
        </p:spPr>
        <p:txBody>
          <a:bodyPr wrap="square" rtlCol="0" anchor="ctr">
            <a:normAutofit/>
          </a:bodyPr>
          <a:lstStyle/>
          <a:p>
            <a:r>
              <a:rPr lang="en-US" sz="1420" dirty="0">
                <a:solidFill>
                  <a:srgbClr val="111827"/>
                </a:solidFill>
                <a:latin typeface="Aptos" pitchFamily="34" charset="0"/>
                <a:ea typeface="Aptos" pitchFamily="34" charset="-122"/>
                <a:cs typeface="Aptos" pitchFamily="34" charset="-120"/>
              </a:rPr>
              <a:t>Multi-Task Learning improves robustness compared with the single-task baseline.</a:t>
            </a:r>
            <a:endParaRPr lang="en-US" sz="1420" dirty="0"/>
          </a:p>
          <a:p>
            <a:r>
              <a:rPr lang="en-US" sz="1420" dirty="0">
                <a:solidFill>
                  <a:srgbClr val="111827"/>
                </a:solidFill>
                <a:latin typeface="Aptos" pitchFamily="34" charset="0"/>
                <a:ea typeface="Aptos" pitchFamily="34" charset="-122"/>
                <a:cs typeface="Aptos" pitchFamily="34" charset="-120"/>
              </a:rPr>
              <a:t>Transformation recognition acts as a useful regularizer.</a:t>
            </a:r>
            <a:endParaRPr lang="en-US" sz="1420" dirty="0"/>
          </a:p>
          <a:p>
            <a:r>
              <a:rPr lang="en-US" sz="1420" dirty="0">
                <a:solidFill>
                  <a:srgbClr val="111827"/>
                </a:solidFill>
                <a:latin typeface="Aptos" pitchFamily="34" charset="0"/>
                <a:ea typeface="Aptos" pitchFamily="34" charset="-122"/>
                <a:cs typeface="Aptos" pitchFamily="34" charset="-120"/>
              </a:rPr>
              <a:t>Best real/fake accuracy: alpha = 0.8 with 91.25%.</a:t>
            </a:r>
            <a:endParaRPr lang="en-US" sz="1420" dirty="0"/>
          </a:p>
          <a:p>
            <a:r>
              <a:rPr lang="en-US" sz="1420" dirty="0">
                <a:solidFill>
                  <a:srgbClr val="111827"/>
                </a:solidFill>
                <a:latin typeface="Aptos" pitchFamily="34" charset="0"/>
                <a:ea typeface="Aptos" pitchFamily="34" charset="-122"/>
                <a:cs typeface="Aptos" pitchFamily="34" charset="-120"/>
              </a:rPr>
              <a:t>Most balanced configuration: alpha = 0.5.</a:t>
            </a:r>
            <a:endParaRPr lang="en-US" sz="1420" dirty="0"/>
          </a:p>
        </p:txBody>
      </p:sp>
      <p:sp>
        <p:nvSpPr>
          <p:cNvPr id="7" name="Text 5"/>
          <p:cNvSpPr/>
          <p:nvPr/>
        </p:nvSpPr>
        <p:spPr>
          <a:xfrm>
            <a:off x="685800" y="3063240"/>
            <a:ext cx="2103120" cy="219456"/>
          </a:xfrm>
          <a:prstGeom prst="rect">
            <a:avLst/>
          </a:prstGeom>
          <a:noFill/>
          <a:ln/>
        </p:spPr>
        <p:txBody>
          <a:bodyPr wrap="square" lIns="0" tIns="0" rIns="0" bIns="0" rtlCol="0" anchor="ctr"/>
          <a:lstStyle/>
          <a:p>
            <a:pPr indent="0" marL="0">
              <a:buNone/>
            </a:pPr>
            <a:r>
              <a:rPr lang="en-US" sz="900" b="1" dirty="0">
                <a:solidFill>
                  <a:srgbClr val="D97706"/>
                </a:solidFill>
                <a:latin typeface="Aptos" pitchFamily="34" charset="0"/>
                <a:ea typeface="Aptos" pitchFamily="34" charset="-122"/>
                <a:cs typeface="Aptos" pitchFamily="34" charset="-120"/>
              </a:rPr>
              <a:t>FUTURE WORK</a:t>
            </a:r>
            <a:endParaRPr lang="en-US" sz="900" dirty="0"/>
          </a:p>
        </p:txBody>
      </p:sp>
      <p:sp>
        <p:nvSpPr>
          <p:cNvPr id="8" name="Text 6"/>
          <p:cNvSpPr/>
          <p:nvPr/>
        </p:nvSpPr>
        <p:spPr>
          <a:xfrm>
            <a:off x="685800" y="3364992"/>
            <a:ext cx="5212080" cy="1600200"/>
          </a:xfrm>
          <a:prstGeom prst="rect">
            <a:avLst/>
          </a:prstGeom>
          <a:noFill/>
          <a:ln/>
        </p:spPr>
        <p:txBody>
          <a:bodyPr wrap="square" rtlCol="0" anchor="ctr">
            <a:normAutofit/>
          </a:bodyPr>
          <a:lstStyle/>
          <a:p>
            <a:r>
              <a:rPr lang="en-US" sz="1420" dirty="0">
                <a:solidFill>
                  <a:srgbClr val="111827"/>
                </a:solidFill>
                <a:latin typeface="Aptos" pitchFamily="34" charset="0"/>
                <a:ea typeface="Aptos" pitchFamily="34" charset="-122"/>
                <a:cs typeface="Aptos" pitchFamily="34" charset="-120"/>
              </a:rPr>
              <a:t>Train on a larger subset or full RRDataset.</a:t>
            </a:r>
            <a:endParaRPr lang="en-US" sz="1420" dirty="0"/>
          </a:p>
          <a:p>
            <a:r>
              <a:rPr lang="en-US" sz="1420" dirty="0">
                <a:solidFill>
                  <a:srgbClr val="111827"/>
                </a:solidFill>
                <a:latin typeface="Aptos" pitchFamily="34" charset="0"/>
                <a:ea typeface="Aptos" pitchFamily="34" charset="-122"/>
                <a:cs typeface="Aptos" pitchFamily="34" charset="-120"/>
              </a:rPr>
              <a:t>Add stronger cross-validation and confusion matrices.</a:t>
            </a:r>
            <a:endParaRPr lang="en-US" sz="1420" dirty="0"/>
          </a:p>
          <a:p>
            <a:r>
              <a:rPr lang="en-US" sz="1420" dirty="0">
                <a:solidFill>
                  <a:srgbClr val="111827"/>
                </a:solidFill>
                <a:latin typeface="Aptos" pitchFamily="34" charset="0"/>
                <a:ea typeface="Aptos" pitchFamily="34" charset="-122"/>
                <a:cs typeface="Aptos" pitchFamily="34" charset="-120"/>
              </a:rPr>
              <a:t>Test additional architectures and unseen post-processing pipelines.</a:t>
            </a:r>
            <a:endParaRPr lang="en-US" sz="1420" dirty="0"/>
          </a:p>
          <a:p>
            <a:r>
              <a:rPr lang="en-US" sz="1420" dirty="0">
                <a:solidFill>
                  <a:srgbClr val="111827"/>
                </a:solidFill>
                <a:latin typeface="Aptos" pitchFamily="34" charset="0"/>
                <a:ea typeface="Aptos" pitchFamily="34" charset="-122"/>
                <a:cs typeface="Aptos" pitchFamily="34" charset="-120"/>
              </a:rPr>
              <a:t>Improve artifact-aware modeling and per-transformation error analysis.</a:t>
            </a:r>
            <a:endParaRPr lang="en-US" sz="1420" dirty="0"/>
          </a:p>
        </p:txBody>
      </p:sp>
      <p:sp>
        <p:nvSpPr>
          <p:cNvPr id="9" name="Text 7"/>
          <p:cNvSpPr/>
          <p:nvPr/>
        </p:nvSpPr>
        <p:spPr>
          <a:xfrm>
            <a:off x="6400800" y="914400"/>
            <a:ext cx="1828800" cy="219456"/>
          </a:xfrm>
          <a:prstGeom prst="rect">
            <a:avLst/>
          </a:prstGeom>
          <a:noFill/>
          <a:ln/>
        </p:spPr>
        <p:txBody>
          <a:bodyPr wrap="square" lIns="0" tIns="0" rIns="0" bIns="0" rtlCol="0" anchor="ctr"/>
          <a:lstStyle/>
          <a:p>
            <a:pPr indent="0" marL="0">
              <a:buNone/>
            </a:pPr>
            <a:r>
              <a:rPr lang="en-US" sz="900" b="1" dirty="0">
                <a:solidFill>
                  <a:srgbClr val="0F3D5E"/>
                </a:solidFill>
                <a:latin typeface="Aptos" pitchFamily="34" charset="0"/>
                <a:ea typeface="Aptos" pitchFamily="34" charset="-122"/>
                <a:cs typeface="Aptos" pitchFamily="34" charset="-120"/>
              </a:rPr>
              <a:t>REFERENCES</a:t>
            </a:r>
            <a:endParaRPr lang="en-US" sz="900" dirty="0"/>
          </a:p>
        </p:txBody>
      </p:sp>
      <p:sp>
        <p:nvSpPr>
          <p:cNvPr id="10" name="Text 8"/>
          <p:cNvSpPr/>
          <p:nvPr/>
        </p:nvSpPr>
        <p:spPr>
          <a:xfrm>
            <a:off x="6400800" y="1234440"/>
            <a:ext cx="4754880" cy="1554480"/>
          </a:xfrm>
          <a:prstGeom prst="rect">
            <a:avLst/>
          </a:prstGeom>
          <a:noFill/>
          <a:ln/>
        </p:spPr>
        <p:txBody>
          <a:bodyPr wrap="square" lIns="0" tIns="0" rIns="0" bIns="0" rtlCol="0" anchor="ctr">
            <a:normAutofit/>
          </a:bodyPr>
          <a:lstStyle/>
          <a:p>
            <a:pPr indent="0" marL="0">
              <a:buNone/>
            </a:pPr>
            <a:r>
              <a:rPr lang="en-US" sz="1250" dirty="0">
                <a:solidFill>
                  <a:srgbClr val="111827"/>
                </a:solidFill>
                <a:latin typeface="Aptos" pitchFamily="34" charset="0"/>
                <a:ea typeface="Aptos" pitchFamily="34" charset="-122"/>
                <a:cs typeface="Aptos" pitchFamily="34" charset="-120"/>
              </a:rPr>
              <a:t>Li et al., "Bridging the Gap Between Ideal and Real-world Evaluation: Benchmarking AI-Generated Image Detection in Challenging Scenarios", ICCV 2025.</a:t>
            </a:r>
            <a:endParaRPr lang="en-US" sz="1250" dirty="0"/>
          </a:p>
          <a:p>
            <a:pPr indent="0" marL="0">
              <a:buNone/>
            </a:pPr>
            <a:endParaRPr lang="en-US" sz="1250" dirty="0"/>
          </a:p>
          <a:p>
            <a:pPr indent="0" marL="0">
              <a:buNone/>
            </a:pPr>
            <a:r>
              <a:rPr lang="en-US" sz="1250" dirty="0">
                <a:solidFill>
                  <a:srgbClr val="111827"/>
                </a:solidFill>
                <a:latin typeface="Aptos" pitchFamily="34" charset="0"/>
                <a:ea typeface="Aptos" pitchFamily="34" charset="-122"/>
                <a:cs typeface="Aptos" pitchFamily="34" charset="-120"/>
              </a:rPr>
              <a:t>Shao et al., "Detecting and Grounding Multi-modal Media Manipulation", CVPR 2023.</a:t>
            </a:r>
            <a:endParaRPr lang="en-US" sz="1250" dirty="0"/>
          </a:p>
        </p:txBody>
      </p:sp>
      <p:sp>
        <p:nvSpPr>
          <p:cNvPr id="11" name="Text 9"/>
          <p:cNvSpPr/>
          <p:nvPr/>
        </p:nvSpPr>
        <p:spPr>
          <a:xfrm>
            <a:off x="6400800" y="3246120"/>
            <a:ext cx="2286000" cy="219456"/>
          </a:xfrm>
          <a:prstGeom prst="rect">
            <a:avLst/>
          </a:prstGeom>
          <a:noFill/>
          <a:ln/>
        </p:spPr>
        <p:txBody>
          <a:bodyPr wrap="square" lIns="0" tIns="0" rIns="0" bIns="0" rtlCol="0" anchor="ctr"/>
          <a:lstStyle/>
          <a:p>
            <a:pPr indent="0" marL="0">
              <a:buNone/>
            </a:pPr>
            <a:r>
              <a:rPr lang="en-US" sz="900" b="1" dirty="0">
                <a:solidFill>
                  <a:srgbClr val="6D28D9"/>
                </a:solidFill>
                <a:latin typeface="Aptos" pitchFamily="34" charset="0"/>
                <a:ea typeface="Aptos" pitchFamily="34" charset="-122"/>
                <a:cs typeface="Aptos" pitchFamily="34" charset="-120"/>
              </a:rPr>
              <a:t>EXPORT CHECKLIST</a:t>
            </a:r>
            <a:endParaRPr lang="en-US" sz="900" dirty="0"/>
          </a:p>
        </p:txBody>
      </p:sp>
      <p:sp>
        <p:nvSpPr>
          <p:cNvPr id="12" name="Text 10"/>
          <p:cNvSpPr/>
          <p:nvPr/>
        </p:nvSpPr>
        <p:spPr>
          <a:xfrm>
            <a:off x="6400800" y="3520440"/>
            <a:ext cx="4754880" cy="1325880"/>
          </a:xfrm>
          <a:prstGeom prst="rect">
            <a:avLst/>
          </a:prstGeom>
          <a:noFill/>
          <a:ln/>
        </p:spPr>
        <p:txBody>
          <a:bodyPr wrap="square" rtlCol="0" anchor="ctr">
            <a:normAutofit/>
          </a:bodyPr>
          <a:lstStyle/>
          <a:p>
            <a:r>
              <a:rPr lang="en-US" sz="1400" dirty="0">
                <a:solidFill>
                  <a:srgbClr val="111827"/>
                </a:solidFill>
                <a:latin typeface="Aptos" pitchFamily="34" charset="0"/>
                <a:ea typeface="Aptos" pitchFamily="34" charset="-122"/>
                <a:cs typeface="Aptos" pitchFamily="34" charset="-120"/>
              </a:rPr>
              <a:t>Save as PowerPoint (.pptx).</a:t>
            </a:r>
            <a:endParaRPr lang="en-US" sz="1400" dirty="0"/>
          </a:p>
          <a:p>
            <a:r>
              <a:rPr lang="en-US" sz="1400" dirty="0">
                <a:solidFill>
                  <a:srgbClr val="111827"/>
                </a:solidFill>
                <a:latin typeface="Aptos" pitchFamily="34" charset="0"/>
                <a:ea typeface="Aptos" pitchFamily="34" charset="-122"/>
                <a:cs typeface="Aptos" pitchFamily="34" charset="-120"/>
              </a:rPr>
              <a:t>Export as PDF.</a:t>
            </a:r>
            <a:endParaRPr lang="en-US" sz="1400" dirty="0"/>
          </a:p>
          <a:p>
            <a:r>
              <a:rPr lang="en-US" sz="1400" dirty="0">
                <a:solidFill>
                  <a:srgbClr val="111827"/>
                </a:solidFill>
                <a:latin typeface="Aptos" pitchFamily="34" charset="0"/>
                <a:ea typeface="Aptos" pitchFamily="34" charset="-122"/>
                <a:cs typeface="Aptos" pitchFamily="34" charset="-120"/>
              </a:rPr>
              <a:t>Upload the presentation to GitHub.</a:t>
            </a:r>
            <a:endParaRPr lang="en-US" sz="1400" dirty="0"/>
          </a:p>
          <a:p>
            <a:r>
              <a:rPr lang="en-US" sz="1400" dirty="0">
                <a:solidFill>
                  <a:srgbClr val="111827"/>
                </a:solidFill>
                <a:latin typeface="Aptos" pitchFamily="34" charset="0"/>
                <a:ea typeface="Aptos" pitchFamily="34" charset="-122"/>
                <a:cs typeface="Aptos" pitchFamily="34" charset="-120"/>
              </a:rPr>
              <a:t>Copy the final file to a USB drive.</a:t>
            </a:r>
            <a:endParaRPr lang="en-US" sz="1400" dirty="0"/>
          </a:p>
        </p:txBody>
      </p:sp>
      <p:sp>
        <p:nvSpPr>
          <p:cNvPr id="13" name="Shape 11"/>
          <p:cNvSpPr/>
          <p:nvPr/>
        </p:nvSpPr>
        <p:spPr>
          <a:xfrm>
            <a:off x="914400" y="5440680"/>
            <a:ext cx="10424160" cy="502920"/>
          </a:xfrm>
          <a:prstGeom prst="roundRect">
            <a:avLst>
              <a:gd name="adj" fmla="val 21818"/>
            </a:avLst>
          </a:prstGeom>
          <a:solidFill>
            <a:srgbClr val="0F3D5E"/>
          </a:solidFill>
          <a:ln w="12700">
            <a:solidFill>
              <a:srgbClr val="0F3D5E">
                <a:alpha val="0"/>
              </a:srgbClr>
            </a:solidFill>
            <a:prstDash val="solid"/>
          </a:ln>
        </p:spPr>
      </p:sp>
      <p:sp>
        <p:nvSpPr>
          <p:cNvPr id="14" name="Text 12"/>
          <p:cNvSpPr/>
          <p:nvPr/>
        </p:nvSpPr>
        <p:spPr>
          <a:xfrm>
            <a:off x="1024128" y="5550408"/>
            <a:ext cx="10204704" cy="28346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Final takeaway: image history is not a distraction - it is a useful forensic cue.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Computer Vision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Joint Detection of AI-Generated Images and Post-Processing Alterations</dc:title>
  <dc:subject>Joint Detection of AI-Generated Images and Post-Processing Alterations in Real-World Scenarios</dc:subject>
  <dc:creator>Samuele Civale and Alexandru Vivian Pita</dc:creator>
  <cp:lastModifiedBy>Samuele Civale and Alexandru Vivian Pita</cp:lastModifiedBy>
  <cp:revision>1</cp:revision>
  <dcterms:created xsi:type="dcterms:W3CDTF">2026-06-08T16:19:50Z</dcterms:created>
  <dcterms:modified xsi:type="dcterms:W3CDTF">2026-06-08T16:19:50Z</dcterms:modified>
</cp:coreProperties>
</file>