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1675"/>
  <p:notesSz cx="6858000" cy="12191675"/>
  <p:embeddedFontLst>
    <p:embeddedFont>
      <p:font typeface="Play"/>
      <p:regular r:id="rId17"/>
      <p:bold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Play-regular.fntdata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schemas.openxmlformats.org/officeDocument/2006/relationships/font" Target="fonts/Play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" name="Google Shape;4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0" name="Google Shape;5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9" name="Google Shape;6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" name="Google Shape;8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6" name="Google Shape;13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3" name="Google Shape;16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9" name="Google Shape;18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5" name="Google Shape;20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4" name="Google Shape;23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3" name="Google Shape;26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2" name="Google Shape;31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685800" y="960120"/>
            <a:ext cx="107899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700"/>
              <a:buFont typeface="Play"/>
              <a:buNone/>
            </a:pPr>
            <a:r>
              <a:rPr b="1" i="0" lang="en-US" sz="37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Joint Detection of AI-Generated Images</a:t>
            </a:r>
            <a:endParaRPr b="0" i="0" sz="3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700"/>
              <a:buFont typeface="Play"/>
              <a:buNone/>
            </a:pPr>
            <a:r>
              <a:rPr b="1" i="0" lang="en-US" sz="37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and Post-Processing Alterations</a:t>
            </a:r>
            <a:endParaRPr b="0" i="0" sz="3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713232" y="2331720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Computer Vision Project — A.A. 2025–2026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713232" y="2743200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Samuele Civale · Alexandru Vivian Pita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713232" y="5257800"/>
            <a:ext cx="6766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Two forensic questions, one multi-task model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" name="Google Shape;20;p3"/>
          <p:cNvCxnSpPr/>
          <p:nvPr/>
        </p:nvCxnSpPr>
        <p:spPr>
          <a:xfrm>
            <a:off x="7909560" y="4800600"/>
            <a:ext cx="3337560" cy="0"/>
          </a:xfrm>
          <a:prstGeom prst="straightConnector1">
            <a:avLst/>
          </a:prstGeom>
          <a:noFill/>
          <a:ln cap="flat" cmpd="sng" w="50800">
            <a:solidFill>
              <a:srgbClr val="00B8B0">
                <a:alpha val="90196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p3"/>
          <p:cNvSpPr/>
          <p:nvPr/>
        </p:nvSpPr>
        <p:spPr>
          <a:xfrm>
            <a:off x="8138160" y="342900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7B8A"/>
                </a:solidFill>
                <a:latin typeface="Arial"/>
                <a:ea typeface="Arial"/>
                <a:cs typeface="Arial"/>
                <a:sym typeface="Arial"/>
              </a:rPr>
              <a:t>Real or AI?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9144000" y="397764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Which alteration?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" name="Google Shape;23;p3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3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1/12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Outline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822960" y="1463040"/>
            <a:ext cx="320040" cy="320040"/>
          </a:xfrm>
          <a:prstGeom prst="rect">
            <a:avLst/>
          </a:prstGeom>
          <a:solidFill>
            <a:srgbClr val="007B8A"/>
          </a:solidFill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1325880" y="1444752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Problem and motivation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822960" y="2084832"/>
            <a:ext cx="320040" cy="320040"/>
          </a:xfrm>
          <a:prstGeom prst="rect">
            <a:avLst/>
          </a:prstGeom>
          <a:solidFill>
            <a:srgbClr val="007B8A"/>
          </a:solidFill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1325880" y="2066544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State of the art and gap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22960" y="2706624"/>
            <a:ext cx="320040" cy="320040"/>
          </a:xfrm>
          <a:prstGeom prst="rect">
            <a:avLst/>
          </a:prstGeom>
          <a:solidFill>
            <a:srgbClr val="007B8A"/>
          </a:solidFill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1325880" y="2688336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Dataset and label space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822960" y="3328416"/>
            <a:ext cx="320040" cy="320040"/>
          </a:xfrm>
          <a:prstGeom prst="rect">
            <a:avLst/>
          </a:prstGeom>
          <a:solidFill>
            <a:srgbClr val="007B8A"/>
          </a:solidFill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1325880" y="3310128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Proposed multi-task method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822960" y="3950208"/>
            <a:ext cx="320040" cy="320040"/>
          </a:xfrm>
          <a:prstGeom prst="rect">
            <a:avLst/>
          </a:prstGeom>
          <a:solidFill>
            <a:srgbClr val="007B8A"/>
          </a:solidFill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1325880" y="3931920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Experimental setup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22960" y="4572000"/>
            <a:ext cx="320040" cy="320040"/>
          </a:xfrm>
          <a:prstGeom prst="rect">
            <a:avLst/>
          </a:prstGeom>
          <a:solidFill>
            <a:srgbClr val="007B8A"/>
          </a:solidFill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325880" y="4553712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Results and error analysis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822960" y="5193792"/>
            <a:ext cx="320040" cy="320040"/>
          </a:xfrm>
          <a:prstGeom prst="rect">
            <a:avLst/>
          </a:prstGeom>
          <a:solidFill>
            <a:srgbClr val="007B8A"/>
          </a:solidFill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325880" y="5175504"/>
            <a:ext cx="4937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Conclusions and future work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5" name="Google Shape;45;p4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" name="Google Shape;46;p4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2/12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5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Problem Statement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548640" y="868680"/>
            <a:ext cx="10424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Real-world images are rarely clean generator outputs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685800" y="1417320"/>
            <a:ext cx="2011680" cy="329184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007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Forensic Question 1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685800" y="1847088"/>
            <a:ext cx="27432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Is the image real or AI-generated?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685800" y="2907792"/>
            <a:ext cx="2011680" cy="329184"/>
          </a:xfrm>
          <a:prstGeom prst="rect">
            <a:avLst/>
          </a:prstGeom>
          <a:solidFill>
            <a:srgbClr val="EA580C"/>
          </a:solidFill>
          <a:ln cap="flat" cmpd="sng" w="952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Forensic Question 2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685800" y="3337560"/>
            <a:ext cx="3291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Which post-processing condition was applied?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4709160" y="1920240"/>
            <a:ext cx="1005840" cy="347472"/>
          </a:xfrm>
          <a:prstGeom prst="rect">
            <a:avLst/>
          </a:prstGeom>
          <a:solidFill>
            <a:srgbClr val="F6FBFC"/>
          </a:solidFill>
          <a:ln cap="flat" cmpd="sng" w="9525">
            <a:solidFill>
              <a:srgbClr val="00B8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Image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6080760" y="1920240"/>
            <a:ext cx="1737360" cy="347472"/>
          </a:xfrm>
          <a:prstGeom prst="rect">
            <a:avLst/>
          </a:prstGeom>
          <a:solidFill>
            <a:srgbClr val="F6FBFC"/>
          </a:solidFill>
          <a:ln cap="flat" cmpd="sng" w="9525">
            <a:solidFill>
              <a:srgbClr val="00B8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Platform transfer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8229600" y="1920240"/>
            <a:ext cx="1737360" cy="347472"/>
          </a:xfrm>
          <a:prstGeom prst="rect">
            <a:avLst/>
          </a:prstGeom>
          <a:solidFill>
            <a:srgbClr val="F6FBFC"/>
          </a:solidFill>
          <a:ln cap="flat" cmpd="sng" w="9525">
            <a:solidFill>
              <a:srgbClr val="00B8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Re-digitalization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1" name="Google Shape;61;p5"/>
          <p:cNvCxnSpPr/>
          <p:nvPr/>
        </p:nvCxnSpPr>
        <p:spPr>
          <a:xfrm>
            <a:off x="5779008" y="2093976"/>
            <a:ext cx="228600" cy="0"/>
          </a:xfrm>
          <a:prstGeom prst="straightConnector1">
            <a:avLst/>
          </a:prstGeom>
          <a:noFill/>
          <a:ln cap="flat" cmpd="sng" w="25400">
            <a:solidFill>
              <a:srgbClr val="007B8A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62" name="Google Shape;62;p5"/>
          <p:cNvCxnSpPr/>
          <p:nvPr/>
        </p:nvCxnSpPr>
        <p:spPr>
          <a:xfrm>
            <a:off x="7936992" y="2093976"/>
            <a:ext cx="228600" cy="0"/>
          </a:xfrm>
          <a:prstGeom prst="straightConnector1">
            <a:avLst/>
          </a:prstGeom>
          <a:noFill/>
          <a:ln cap="flat" cmpd="sng" w="25400">
            <a:solidFill>
              <a:srgbClr val="007B8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3" name="Google Shape;63;p5"/>
          <p:cNvSpPr/>
          <p:nvPr/>
        </p:nvSpPr>
        <p:spPr>
          <a:xfrm>
            <a:off x="4709160" y="2971800"/>
            <a:ext cx="53035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Post-processing can hide, distort, or introduce forensic traces. A robust detector should reason about both authenticity and alteration.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" name="Google Shape;64;p5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5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3/12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State of the Art and Project Gap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548640" y="868680"/>
            <a:ext cx="10424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From clean binary detection to real-world robustness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6"/>
          <p:cNvSpPr/>
          <p:nvPr/>
        </p:nvSpPr>
        <p:spPr>
          <a:xfrm>
            <a:off x="685800" y="14173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rPr>
              <a:t>Typical setup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4" name="Google Shape;74;p6"/>
          <p:cNvCxnSpPr/>
          <p:nvPr/>
        </p:nvCxnSpPr>
        <p:spPr>
          <a:xfrm>
            <a:off x="685800" y="1810512"/>
            <a:ext cx="3017520" cy="0"/>
          </a:xfrm>
          <a:prstGeom prst="straightConnector1">
            <a:avLst/>
          </a:prstGeom>
          <a:noFill/>
          <a:ln cap="flat" cmpd="sng" w="38100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" name="Google Shape;75;p6"/>
          <p:cNvSpPr/>
          <p:nvPr/>
        </p:nvSpPr>
        <p:spPr>
          <a:xfrm>
            <a:off x="685800" y="2057400"/>
            <a:ext cx="306324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Binary detector trained and tested on clean images directly sourced from generators.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4434840" y="14173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Main limitation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" name="Google Shape;77;p6"/>
          <p:cNvCxnSpPr/>
          <p:nvPr/>
        </p:nvCxnSpPr>
        <p:spPr>
          <a:xfrm>
            <a:off x="4434840" y="1810512"/>
            <a:ext cx="3017520" cy="0"/>
          </a:xfrm>
          <a:prstGeom prst="straightConnector1">
            <a:avLst/>
          </a:prstGeom>
          <a:noFill/>
          <a:ln cap="flat" cmpd="sng" w="381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" name="Google Shape;78;p6"/>
          <p:cNvSpPr/>
          <p:nvPr/>
        </p:nvSpPr>
        <p:spPr>
          <a:xfrm>
            <a:off x="4434840" y="2057400"/>
            <a:ext cx="306324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Images online undergo transfer, compression, resizing, or re-capture artifacts.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8183880" y="141732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007B8A"/>
                </a:solidFill>
                <a:latin typeface="Arial"/>
                <a:ea typeface="Arial"/>
                <a:cs typeface="Arial"/>
                <a:sym typeface="Arial"/>
              </a:rPr>
              <a:t>This project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0" name="Google Shape;80;p6"/>
          <p:cNvCxnSpPr/>
          <p:nvPr/>
        </p:nvCxnSpPr>
        <p:spPr>
          <a:xfrm>
            <a:off x="8183880" y="1810512"/>
            <a:ext cx="3017520" cy="0"/>
          </a:xfrm>
          <a:prstGeom prst="straightConnector1">
            <a:avLst/>
          </a:prstGeom>
          <a:noFill/>
          <a:ln cap="flat" cmpd="sng" w="38100">
            <a:solidFill>
              <a:srgbClr val="007B8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6"/>
          <p:cNvSpPr/>
          <p:nvPr/>
        </p:nvSpPr>
        <p:spPr>
          <a:xfrm>
            <a:off x="8183880" y="2057400"/>
            <a:ext cx="306324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 unified model predicts authenticity and the post-processing condition jointly.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914400" y="48463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7B8A"/>
                </a:solidFill>
                <a:latin typeface="Arial"/>
                <a:ea typeface="Arial"/>
                <a:cs typeface="Arial"/>
                <a:sym typeface="Arial"/>
              </a:rPr>
              <a:t>Novelty in the implementation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3657600" y="4754880"/>
            <a:ext cx="7223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Loss-weight ablation, per-transformation breakdown, cross-class analysis, and an optional artifact-aware residual branch.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4" name="Google Shape;84;p6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" name="Google Shape;85;p6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4/12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Dataset and Label Space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7"/>
          <p:cNvSpPr/>
          <p:nvPr/>
        </p:nvSpPr>
        <p:spPr>
          <a:xfrm>
            <a:off x="548640" y="868680"/>
            <a:ext cx="10424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RRDataset subset balanced by transformation and authenticity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691274" y="1422799"/>
            <a:ext cx="1207500" cy="414600"/>
          </a:xfrm>
          <a:prstGeom prst="rect">
            <a:avLst/>
          </a:prstGeom>
          <a:solidFill>
            <a:srgbClr val="007B8A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5"/>
              <a:buFont typeface="Arial"/>
              <a:buNone/>
            </a:pPr>
            <a:r>
              <a:rPr b="1" i="0" lang="en-US" sz="124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Transformation</a:t>
            </a:r>
            <a:endParaRPr b="0" i="0" sz="12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1910854" y="1422799"/>
            <a:ext cx="1207500" cy="414600"/>
          </a:xfrm>
          <a:prstGeom prst="rect">
            <a:avLst/>
          </a:prstGeom>
          <a:solidFill>
            <a:srgbClr val="007B8A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5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3130434" y="1422799"/>
            <a:ext cx="1207500" cy="414600"/>
          </a:xfrm>
          <a:prstGeom prst="rect">
            <a:avLst/>
          </a:prstGeom>
          <a:solidFill>
            <a:srgbClr val="007B8A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5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4350015" y="1422799"/>
            <a:ext cx="1207500" cy="414600"/>
          </a:xfrm>
          <a:prstGeom prst="rect">
            <a:avLst/>
          </a:prstGeom>
          <a:solidFill>
            <a:srgbClr val="007B8A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45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7"/>
          <p:cNvSpPr/>
          <p:nvPr/>
        </p:nvSpPr>
        <p:spPr>
          <a:xfrm>
            <a:off x="691274" y="1849654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original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1910854" y="1849654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130434" y="1849654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4350015" y="1849654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2000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691274" y="2276508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transfer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1910854" y="2276508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3130434" y="2276508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4350015" y="2276508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2000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691274" y="2703362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redigital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1910854" y="2703362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3130434" y="2703362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4350015" y="2703362"/>
            <a:ext cx="1207500" cy="414600"/>
          </a:xfrm>
          <a:prstGeom prst="rect">
            <a:avLst/>
          </a:prstGeom>
          <a:solidFill>
            <a:srgbClr val="FFFFFF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0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2000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691274" y="3130216"/>
            <a:ext cx="1207500" cy="414600"/>
          </a:xfrm>
          <a:prstGeom prst="rect">
            <a:avLst/>
          </a:prstGeom>
          <a:solidFill>
            <a:srgbClr val="F6FBFC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1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1910854" y="3130216"/>
            <a:ext cx="1207500" cy="414600"/>
          </a:xfrm>
          <a:prstGeom prst="rect">
            <a:avLst/>
          </a:prstGeom>
          <a:solidFill>
            <a:srgbClr val="F6FBFC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1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3000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3130434" y="3130216"/>
            <a:ext cx="1207500" cy="414600"/>
          </a:xfrm>
          <a:prstGeom prst="rect">
            <a:avLst/>
          </a:prstGeom>
          <a:solidFill>
            <a:srgbClr val="F6FBFC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1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3000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4350015" y="3130216"/>
            <a:ext cx="1207500" cy="414600"/>
          </a:xfrm>
          <a:prstGeom prst="rect">
            <a:avLst/>
          </a:prstGeom>
          <a:solidFill>
            <a:srgbClr val="F6FBFC"/>
          </a:solidFill>
          <a:ln cap="flat" cmpd="sng" w="1057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45"/>
              <a:buFont typeface="Arial"/>
              <a:buNone/>
            </a:pPr>
            <a:r>
              <a:rPr b="1" i="0" lang="en-US" sz="144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6000</a:t>
            </a:r>
            <a:endParaRPr b="0" i="0" sz="144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5715000" y="1508760"/>
            <a:ext cx="1417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7B8A"/>
                </a:solidFill>
                <a:latin typeface="Arial"/>
                <a:ea typeface="Arial"/>
                <a:cs typeface="Arial"/>
                <a:sym typeface="Arial"/>
              </a:rPr>
              <a:t>6,000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5715000" y="1920240"/>
            <a:ext cx="1417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balanced images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7452360" y="150876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7452360" y="1920240"/>
            <a:ext cx="1645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authenticity classes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9372600" y="150876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D4ED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9372600" y="1920240"/>
            <a:ext cx="1508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alteration settings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5806440" y="2834640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Two outputs per input image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5806450" y="3310124"/>
            <a:ext cx="1853100" cy="502800"/>
          </a:xfrm>
          <a:prstGeom prst="rect">
            <a:avLst/>
          </a:prstGeom>
          <a:solidFill>
            <a:srgbClr val="007B8A"/>
          </a:solidFill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real / AI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8001000" y="3310124"/>
            <a:ext cx="2805900" cy="5028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original / transfer / redigital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5811925" y="4165999"/>
            <a:ext cx="1518600" cy="417600"/>
          </a:xfrm>
          <a:prstGeom prst="rect">
            <a:avLst/>
          </a:prstGeom>
          <a:solidFill>
            <a:srgbClr val="007B8A"/>
          </a:solidFill>
          <a:ln cap="flat" cmpd="sng" w="107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5"/>
              <a:buFont typeface="Arial"/>
              <a:buNone/>
            </a:pPr>
            <a:r>
              <a:rPr b="1" i="0" lang="en-US" sz="135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Split</a:t>
            </a:r>
            <a:endParaRPr b="0" i="0" sz="135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7342976" y="4165999"/>
            <a:ext cx="1518600" cy="417600"/>
          </a:xfrm>
          <a:prstGeom prst="rect">
            <a:avLst/>
          </a:prstGeom>
          <a:solidFill>
            <a:srgbClr val="007B8A"/>
          </a:solidFill>
          <a:ln cap="flat" cmpd="sng" w="107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5"/>
              <a:buFont typeface="Arial"/>
              <a:buNone/>
            </a:pPr>
            <a:r>
              <a:rPr b="1" i="0" lang="en-US" sz="135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Images</a:t>
            </a:r>
            <a:endParaRPr b="0" i="0" sz="135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8874026" y="4165999"/>
            <a:ext cx="1518600" cy="417600"/>
          </a:xfrm>
          <a:prstGeom prst="rect">
            <a:avLst/>
          </a:prstGeom>
          <a:solidFill>
            <a:srgbClr val="007B8A"/>
          </a:solidFill>
          <a:ln cap="flat" cmpd="sng" w="107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5"/>
              <a:buFont typeface="Arial"/>
              <a:buNone/>
            </a:pPr>
            <a:r>
              <a:rPr b="1" i="0" lang="en-US" sz="135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transformation</a:t>
            </a:r>
            <a:endParaRPr b="0" i="0" sz="135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5811925" y="4596070"/>
            <a:ext cx="1518600" cy="417600"/>
          </a:xfrm>
          <a:prstGeom prst="rect">
            <a:avLst/>
          </a:prstGeom>
          <a:solidFill>
            <a:srgbClr val="FFFFFF"/>
          </a:solidFill>
          <a:ln cap="flat" cmpd="sng" w="107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5"/>
              <a:buFont typeface="Arial"/>
              <a:buNone/>
            </a:pPr>
            <a:r>
              <a:rPr b="0" i="0" lang="en-US" sz="135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Train</a:t>
            </a:r>
            <a:endParaRPr b="0" i="0" sz="135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7342976" y="4596070"/>
            <a:ext cx="1518600" cy="417600"/>
          </a:xfrm>
          <a:prstGeom prst="rect">
            <a:avLst/>
          </a:prstGeom>
          <a:solidFill>
            <a:srgbClr val="FFFFFF"/>
          </a:solidFill>
          <a:ln cap="flat" cmpd="sng" w="107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5"/>
              <a:buFont typeface="Arial"/>
              <a:buNone/>
            </a:pPr>
            <a:r>
              <a:rPr b="0" i="0" lang="en-US" sz="135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4800</a:t>
            </a:r>
            <a:endParaRPr b="0" i="0" sz="135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8874026" y="4596070"/>
            <a:ext cx="1518600" cy="417600"/>
          </a:xfrm>
          <a:prstGeom prst="rect">
            <a:avLst/>
          </a:prstGeom>
          <a:solidFill>
            <a:srgbClr val="FFFFFF"/>
          </a:solidFill>
          <a:ln cap="flat" cmpd="sng" w="107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5"/>
              <a:buFont typeface="Arial"/>
              <a:buNone/>
            </a:pPr>
            <a:r>
              <a:rPr b="0" i="0" lang="en-US" sz="135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1600</a:t>
            </a:r>
            <a:endParaRPr b="0" i="0" sz="135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5811925" y="5026140"/>
            <a:ext cx="1518600" cy="417600"/>
          </a:xfrm>
          <a:prstGeom prst="rect">
            <a:avLst/>
          </a:prstGeom>
          <a:solidFill>
            <a:srgbClr val="FFFFFF"/>
          </a:solidFill>
          <a:ln cap="flat" cmpd="sng" w="107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5"/>
              <a:buFont typeface="Arial"/>
              <a:buNone/>
            </a:pPr>
            <a:r>
              <a:rPr b="0" i="0" lang="en-US" sz="135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Validation</a:t>
            </a:r>
            <a:endParaRPr b="0" i="0" sz="135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7"/>
          <p:cNvSpPr/>
          <p:nvPr/>
        </p:nvSpPr>
        <p:spPr>
          <a:xfrm>
            <a:off x="7342976" y="5026140"/>
            <a:ext cx="1518600" cy="417600"/>
          </a:xfrm>
          <a:prstGeom prst="rect">
            <a:avLst/>
          </a:prstGeom>
          <a:solidFill>
            <a:srgbClr val="FFFFFF"/>
          </a:solidFill>
          <a:ln cap="flat" cmpd="sng" w="107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5"/>
              <a:buFont typeface="Arial"/>
              <a:buNone/>
            </a:pPr>
            <a:r>
              <a:rPr b="0" i="0" lang="en-US" sz="135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1200</a:t>
            </a:r>
            <a:endParaRPr b="0" i="0" sz="135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8874026" y="5026140"/>
            <a:ext cx="1518600" cy="417600"/>
          </a:xfrm>
          <a:prstGeom prst="rect">
            <a:avLst/>
          </a:prstGeom>
          <a:solidFill>
            <a:srgbClr val="FFFFFF"/>
          </a:solidFill>
          <a:ln cap="flat" cmpd="sng" w="107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5" lIns="475" spcFirstLastPara="1" rIns="475" wrap="square" tIns="4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55"/>
              <a:buFont typeface="Arial"/>
              <a:buNone/>
            </a:pPr>
            <a:r>
              <a:rPr b="0" i="0" lang="en-US" sz="1355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400</a:t>
            </a:r>
            <a:endParaRPr b="0" i="0" sz="135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" name="Google Shape;131;p7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" name="Google Shape;132;p7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5/12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8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Proposed Method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530340" y="946468"/>
            <a:ext cx="10424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Shared EfficientNet-B0 backbone with two classification heads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2427720" y="1965960"/>
            <a:ext cx="1554600" cy="457200"/>
          </a:xfrm>
          <a:prstGeom prst="rect">
            <a:avLst/>
          </a:prstGeom>
          <a:solidFill>
            <a:srgbClr val="F6FBFC"/>
          </a:solidFill>
          <a:ln cap="flat" cmpd="sng" w="9525">
            <a:solidFill>
              <a:srgbClr val="00B8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Input image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4530840" y="1783080"/>
            <a:ext cx="2103000" cy="822900"/>
          </a:xfrm>
          <a:prstGeom prst="rect">
            <a:avLst/>
          </a:prstGeom>
          <a:solidFill>
            <a:srgbClr val="007B8A"/>
          </a:solidFill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EfficientNet-B0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feature extractor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7502640" y="1325880"/>
            <a:ext cx="2011800" cy="731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Real/Fake head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classes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7502640" y="2560320"/>
            <a:ext cx="2011800" cy="731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Transformation head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classes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4" name="Google Shape;144;p8"/>
          <p:cNvCxnSpPr/>
          <p:nvPr/>
        </p:nvCxnSpPr>
        <p:spPr>
          <a:xfrm>
            <a:off x="4027920" y="2194560"/>
            <a:ext cx="411600" cy="0"/>
          </a:xfrm>
          <a:prstGeom prst="straightConnector1">
            <a:avLst/>
          </a:prstGeom>
          <a:noFill/>
          <a:ln cap="flat" cmpd="sng" w="25400">
            <a:solidFill>
              <a:srgbClr val="111827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45" name="Google Shape;145;p8"/>
          <p:cNvCxnSpPr/>
          <p:nvPr/>
        </p:nvCxnSpPr>
        <p:spPr>
          <a:xfrm flipH="1" rot="10800000">
            <a:off x="6771120" y="1691760"/>
            <a:ext cx="640200" cy="502800"/>
          </a:xfrm>
          <a:prstGeom prst="straightConnector1">
            <a:avLst/>
          </a:prstGeom>
          <a:noFill/>
          <a:ln cap="flat" cmpd="sng" w="25400">
            <a:solidFill>
              <a:srgbClr val="111827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146" name="Google Shape;146;p8"/>
          <p:cNvCxnSpPr/>
          <p:nvPr/>
        </p:nvCxnSpPr>
        <p:spPr>
          <a:xfrm>
            <a:off x="6771120" y="2194560"/>
            <a:ext cx="640200" cy="685800"/>
          </a:xfrm>
          <a:prstGeom prst="straightConnector1">
            <a:avLst/>
          </a:prstGeom>
          <a:noFill/>
          <a:ln cap="flat" cmpd="sng" w="25400">
            <a:solidFill>
              <a:srgbClr val="111827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47" name="Google Shape;147;p8"/>
          <p:cNvSpPr/>
          <p:nvPr/>
        </p:nvSpPr>
        <p:spPr>
          <a:xfrm>
            <a:off x="2235532" y="3963618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7B8A"/>
                </a:solidFill>
                <a:latin typeface="Arial"/>
                <a:ea typeface="Arial"/>
                <a:cs typeface="Arial"/>
                <a:sym typeface="Arial"/>
              </a:rPr>
              <a:t>Training objective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530339" y="4430488"/>
            <a:ext cx="6153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 = α CE(real/fake) + (1 − α) CE(transformation)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6771125" y="3791426"/>
            <a:ext cx="1771200" cy="432600"/>
          </a:xfrm>
          <a:prstGeom prst="rect">
            <a:avLst/>
          </a:prstGeom>
          <a:solidFill>
            <a:srgbClr val="007B8A"/>
          </a:solidFill>
          <a:ln cap="flat" cmpd="sng" w="120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25" lIns="525" spcFirstLastPara="1" rIns="525" wrap="square" tIns="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22"/>
              <a:buFont typeface="Arial"/>
              <a:buNone/>
            </a:pPr>
            <a:r>
              <a:rPr b="1" i="0" lang="en-US" sz="132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α</a:t>
            </a:r>
            <a:endParaRPr b="0" i="0" sz="1322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8556266" y="3791426"/>
            <a:ext cx="1771200" cy="432600"/>
          </a:xfrm>
          <a:prstGeom prst="rect">
            <a:avLst/>
          </a:prstGeom>
          <a:solidFill>
            <a:srgbClr val="007B8A"/>
          </a:solidFill>
          <a:ln cap="flat" cmpd="sng" w="120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25" lIns="525" spcFirstLastPara="1" rIns="525" wrap="square" tIns="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22"/>
              <a:buFont typeface="Arial"/>
              <a:buNone/>
            </a:pPr>
            <a:r>
              <a:rPr b="1" i="0" lang="en-US" sz="1322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Effect</a:t>
            </a:r>
            <a:endParaRPr b="0" i="0" sz="1322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6771125" y="4237707"/>
            <a:ext cx="1771200" cy="432600"/>
          </a:xfrm>
          <a:prstGeom prst="rect">
            <a:avLst/>
          </a:prstGeom>
          <a:solidFill>
            <a:srgbClr val="FFFFFF"/>
          </a:solidFill>
          <a:ln cap="flat" cmpd="sng" w="120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25" lIns="525" spcFirstLastPara="1" rIns="525" wrap="square" tIns="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22"/>
              <a:buFont typeface="Arial"/>
              <a:buNone/>
            </a:pPr>
            <a:r>
              <a:rPr b="0" i="0" lang="en-US" sz="1322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0.2</a:t>
            </a:r>
            <a:endParaRPr b="0" i="0" sz="1322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8556266" y="4237707"/>
            <a:ext cx="1771200" cy="432600"/>
          </a:xfrm>
          <a:prstGeom prst="rect">
            <a:avLst/>
          </a:prstGeom>
          <a:solidFill>
            <a:srgbClr val="FFFFFF"/>
          </a:solidFill>
          <a:ln cap="flat" cmpd="sng" w="120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25" lIns="525" spcFirstLastPara="1" rIns="525" wrap="square" tIns="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22"/>
              <a:buFont typeface="Arial"/>
              <a:buNone/>
            </a:pPr>
            <a:r>
              <a:rPr b="0" i="0" lang="en-US" sz="1322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more transformation weight</a:t>
            </a:r>
            <a:endParaRPr b="0" i="0" sz="1322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6771125" y="4683988"/>
            <a:ext cx="1771200" cy="432600"/>
          </a:xfrm>
          <a:prstGeom prst="rect">
            <a:avLst/>
          </a:prstGeom>
          <a:solidFill>
            <a:srgbClr val="FFFFFF"/>
          </a:solidFill>
          <a:ln cap="flat" cmpd="sng" w="120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25" lIns="525" spcFirstLastPara="1" rIns="525" wrap="square" tIns="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22"/>
              <a:buFont typeface="Arial"/>
              <a:buNone/>
            </a:pPr>
            <a:r>
              <a:rPr b="0" i="0" lang="en-US" sz="1322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0.5</a:t>
            </a:r>
            <a:endParaRPr b="0" i="0" sz="1322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8556266" y="4683988"/>
            <a:ext cx="1771200" cy="432600"/>
          </a:xfrm>
          <a:prstGeom prst="rect">
            <a:avLst/>
          </a:prstGeom>
          <a:solidFill>
            <a:srgbClr val="FFFFFF"/>
          </a:solidFill>
          <a:ln cap="flat" cmpd="sng" w="120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25" lIns="525" spcFirstLastPara="1" rIns="525" wrap="square" tIns="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22"/>
              <a:buFont typeface="Arial"/>
              <a:buNone/>
            </a:pPr>
            <a:r>
              <a:rPr b="0" i="0" lang="en-US" sz="1322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balanced objective</a:t>
            </a:r>
            <a:endParaRPr b="0" i="0" sz="1322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6771125" y="5130268"/>
            <a:ext cx="1771200" cy="432600"/>
          </a:xfrm>
          <a:prstGeom prst="rect">
            <a:avLst/>
          </a:prstGeom>
          <a:solidFill>
            <a:srgbClr val="FFFFFF"/>
          </a:solidFill>
          <a:ln cap="flat" cmpd="sng" w="120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25" lIns="525" spcFirstLastPara="1" rIns="525" wrap="square" tIns="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22"/>
              <a:buFont typeface="Arial"/>
              <a:buNone/>
            </a:pPr>
            <a:r>
              <a:rPr b="0" i="0" lang="en-US" sz="1322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0.8</a:t>
            </a:r>
            <a:endParaRPr b="0" i="0" sz="1322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8556266" y="5130268"/>
            <a:ext cx="1771200" cy="432600"/>
          </a:xfrm>
          <a:prstGeom prst="rect">
            <a:avLst/>
          </a:prstGeom>
          <a:solidFill>
            <a:srgbClr val="FFFFFF"/>
          </a:solidFill>
          <a:ln cap="flat" cmpd="sng" w="120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25" lIns="525" spcFirstLastPara="1" rIns="525" wrap="square" tIns="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22"/>
              <a:buFont typeface="Arial"/>
              <a:buNone/>
            </a:pPr>
            <a:r>
              <a:rPr b="0" i="0" lang="en-US" sz="1322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more real/fake weight</a:t>
            </a:r>
            <a:endParaRPr b="0" i="0" sz="1322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961350" y="5656755"/>
            <a:ext cx="9875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Optional variant: an artifact-aware branch processes high-frequency residuals before feature fusion.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8" name="Google Shape;158;p8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8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6/12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Experimental Setup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548640" y="868680"/>
            <a:ext cx="10424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Colab/PyTorch pipeline with deterministic validation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691286" y="1422806"/>
            <a:ext cx="2503627" cy="472353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Component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3205886" y="1422806"/>
            <a:ext cx="2503627" cy="472353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Configuration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691286" y="1906132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Framework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3205886" y="1906132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PyTorch + torchvision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691286" y="2389458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Backbone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3205886" y="2389458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EfficientNet-B0, ImageNet weights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691286" y="2872784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Image size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9"/>
          <p:cNvSpPr/>
          <p:nvPr/>
        </p:nvSpPr>
        <p:spPr>
          <a:xfrm>
            <a:off x="3205886" y="2872784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224 × 224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9"/>
          <p:cNvSpPr/>
          <p:nvPr/>
        </p:nvSpPr>
        <p:spPr>
          <a:xfrm>
            <a:off x="691286" y="3356109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Optimizer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3205886" y="3356109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Adam, lr = 5e-4, weight decay = 1e-4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691286" y="3839435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Training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3205886" y="3839435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10 epochs per run, batch size 32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691286" y="4322761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Device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3205886" y="4322761"/>
            <a:ext cx="2503627" cy="472353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CUDA, mixed precision enabled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6400800" y="1508760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7B8A"/>
                </a:solidFill>
                <a:latin typeface="Arial"/>
                <a:ea typeface="Arial"/>
                <a:cs typeface="Arial"/>
                <a:sym typeface="Arial"/>
              </a:rPr>
              <a:t>Validation transform is deterministic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6400800" y="2011680"/>
            <a:ext cx="4389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Training uses augmentation: horizontal flip, rotation, brightness/contrast jitter. Validation uses only resize, tensor conversion, and ImageNet normalization.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6400800" y="3657600"/>
            <a:ext cx="4251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This prevents validation metrics from depending on random augmentations and makes alpha comparisons meaningful.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4" name="Google Shape;184;p9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5" name="Google Shape;185;p9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7/12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Baseline Performance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548640" y="868680"/>
            <a:ext cx="10424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Single-task models establish reference points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notebook_assets/cell_34_out_21.png" id="193" name="Google Shape;19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246367"/>
            <a:ext cx="4892040" cy="276506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notebook_assets/cell_34_out_43.png" id="194" name="Google Shape;194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7920" y="1246367"/>
            <a:ext cx="4892040" cy="276506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0"/>
          <p:cNvSpPr/>
          <p:nvPr/>
        </p:nvSpPr>
        <p:spPr>
          <a:xfrm>
            <a:off x="1188720" y="457200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7B8A"/>
                </a:solidFill>
                <a:latin typeface="Arial"/>
                <a:ea typeface="Arial"/>
                <a:cs typeface="Arial"/>
                <a:sym typeface="Arial"/>
              </a:rPr>
              <a:t>89.92%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1188720" y="4983480"/>
            <a:ext cx="1828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final RF-only accuracy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0"/>
          <p:cNvSpPr/>
          <p:nvPr/>
        </p:nvSpPr>
        <p:spPr>
          <a:xfrm>
            <a:off x="3657600" y="457200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86.08%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3657600" y="4983480"/>
            <a:ext cx="23774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final transformation-only accuracy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6583680" y="4617720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Training curves show strong learning, but validation accuracy saturates and oscillates: the task is not solved by clean single-task training alone.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0" name="Google Shape;200;p10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p10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8/12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Loss-Weight Ablation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1"/>
          <p:cNvSpPr/>
          <p:nvPr/>
        </p:nvSpPr>
        <p:spPr>
          <a:xfrm>
            <a:off x="548640" y="868680"/>
            <a:ext cx="10424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Balanced alpha gives the best final mean accuracy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notebook_assets/cell_50_out_00.png" id="209" name="Google Shape;20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21202"/>
            <a:ext cx="5074920" cy="2872596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1"/>
          <p:cNvSpPr/>
          <p:nvPr/>
        </p:nvSpPr>
        <p:spPr>
          <a:xfrm>
            <a:off x="6406286" y="1514246"/>
            <a:ext cx="1029300" cy="377700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α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7446416" y="1514246"/>
            <a:ext cx="1029157" cy="37764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RF acc.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8486546" y="1514246"/>
            <a:ext cx="1029157" cy="37764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Trans acc.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9526676" y="1514246"/>
            <a:ext cx="1029157" cy="37764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Mean acc.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6406286" y="190286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0.2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1"/>
          <p:cNvSpPr/>
          <p:nvPr/>
        </p:nvSpPr>
        <p:spPr>
          <a:xfrm>
            <a:off x="7446416" y="190286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89.17%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1"/>
          <p:cNvSpPr/>
          <p:nvPr/>
        </p:nvSpPr>
        <p:spPr>
          <a:xfrm>
            <a:off x="8486546" y="190286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84.75%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9526676" y="190286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86.96%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1"/>
          <p:cNvSpPr/>
          <p:nvPr/>
        </p:nvSpPr>
        <p:spPr>
          <a:xfrm>
            <a:off x="6406286" y="229148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0.5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1"/>
          <p:cNvSpPr/>
          <p:nvPr/>
        </p:nvSpPr>
        <p:spPr>
          <a:xfrm>
            <a:off x="7446416" y="229148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91.17%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8486546" y="229148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83.42%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9526676" y="229148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87.29%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6406286" y="268010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0.8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1"/>
          <p:cNvSpPr/>
          <p:nvPr/>
        </p:nvSpPr>
        <p:spPr>
          <a:xfrm>
            <a:off x="7446416" y="268010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90.67%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1"/>
          <p:cNvSpPr/>
          <p:nvPr/>
        </p:nvSpPr>
        <p:spPr>
          <a:xfrm>
            <a:off x="8486546" y="268010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81.17%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1"/>
          <p:cNvSpPr/>
          <p:nvPr/>
        </p:nvSpPr>
        <p:spPr>
          <a:xfrm>
            <a:off x="9526676" y="2680106"/>
            <a:ext cx="1029157" cy="37764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85.92%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6537960" y="3749040"/>
            <a:ext cx="1783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7B8A"/>
                </a:solidFill>
                <a:latin typeface="Arial"/>
                <a:ea typeface="Arial"/>
                <a:cs typeface="Arial"/>
                <a:sym typeface="Arial"/>
              </a:rPr>
              <a:t>α = 0.5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6537960" y="4160520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selected model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1"/>
          <p:cNvSpPr/>
          <p:nvPr/>
        </p:nvSpPr>
        <p:spPr>
          <a:xfrm>
            <a:off x="8595360" y="3749040"/>
            <a:ext cx="2514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Higher α protects real/fake accuracy but hurts transformation recognition. Lower α has the opposite effect.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9" name="Google Shape;229;p11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0" name="Google Shape;230;p11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9/12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Selected Multi-Task Model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2"/>
          <p:cNvSpPr/>
          <p:nvPr/>
        </p:nvSpPr>
        <p:spPr>
          <a:xfrm>
            <a:off x="548640" y="868680"/>
            <a:ext cx="10424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Detailed breakdown for alpha = 0.5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2"/>
          <p:cNvSpPr/>
          <p:nvPr/>
        </p:nvSpPr>
        <p:spPr>
          <a:xfrm>
            <a:off x="777240" y="1417320"/>
            <a:ext cx="1920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7B8A"/>
                </a:solidFill>
                <a:latin typeface="Arial"/>
                <a:ea typeface="Arial"/>
                <a:cs typeface="Arial"/>
                <a:sym typeface="Arial"/>
              </a:rPr>
              <a:t>91.17%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777240" y="182880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real/fake accuracy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3063240" y="1417320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EA580C"/>
                </a:solidFill>
                <a:latin typeface="Arial"/>
                <a:ea typeface="Arial"/>
                <a:cs typeface="Arial"/>
                <a:sym typeface="Arial"/>
              </a:rPr>
              <a:t>83.42%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3063240" y="1828800"/>
            <a:ext cx="2148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transformation accuracy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5623560" y="141732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580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87.29%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2"/>
          <p:cNvSpPr/>
          <p:nvPr/>
        </p:nvSpPr>
        <p:spPr>
          <a:xfrm>
            <a:off x="5623560" y="182880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mean accuracy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782726" y="2885846"/>
            <a:ext cx="1421587" cy="36621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Condition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2215286" y="2885846"/>
            <a:ext cx="1421587" cy="36621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RF acc.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2"/>
          <p:cNvSpPr/>
          <p:nvPr/>
        </p:nvSpPr>
        <p:spPr>
          <a:xfrm>
            <a:off x="3647846" y="2885846"/>
            <a:ext cx="1421587" cy="36621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Trans acc.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2"/>
          <p:cNvSpPr/>
          <p:nvPr/>
        </p:nvSpPr>
        <p:spPr>
          <a:xfrm>
            <a:off x="782726" y="3263036"/>
            <a:ext cx="1421587" cy="36621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original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2"/>
          <p:cNvSpPr/>
          <p:nvPr/>
        </p:nvSpPr>
        <p:spPr>
          <a:xfrm>
            <a:off x="2215286" y="3263036"/>
            <a:ext cx="1421587" cy="36621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91.50%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2"/>
          <p:cNvSpPr/>
          <p:nvPr/>
        </p:nvSpPr>
        <p:spPr>
          <a:xfrm>
            <a:off x="3647846" y="3263036"/>
            <a:ext cx="1421587" cy="36621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83.75%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2"/>
          <p:cNvSpPr/>
          <p:nvPr/>
        </p:nvSpPr>
        <p:spPr>
          <a:xfrm>
            <a:off x="782726" y="3640226"/>
            <a:ext cx="1421587" cy="36621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redigital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2"/>
          <p:cNvSpPr/>
          <p:nvPr/>
        </p:nvSpPr>
        <p:spPr>
          <a:xfrm>
            <a:off x="2215286" y="3640226"/>
            <a:ext cx="1421587" cy="36621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89.25%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3647846" y="3640226"/>
            <a:ext cx="1421587" cy="36621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77.25%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2"/>
          <p:cNvSpPr/>
          <p:nvPr/>
        </p:nvSpPr>
        <p:spPr>
          <a:xfrm>
            <a:off x="782726" y="4017416"/>
            <a:ext cx="1421587" cy="36621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transfer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2"/>
          <p:cNvSpPr/>
          <p:nvPr/>
        </p:nvSpPr>
        <p:spPr>
          <a:xfrm>
            <a:off x="2215286" y="4017416"/>
            <a:ext cx="1421587" cy="36621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92.75%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2"/>
          <p:cNvSpPr/>
          <p:nvPr/>
        </p:nvSpPr>
        <p:spPr>
          <a:xfrm>
            <a:off x="3647846" y="4017416"/>
            <a:ext cx="1421587" cy="36621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89.25%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6" name="Google Shape;25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06440" y="2560320"/>
            <a:ext cx="5029200" cy="242316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12"/>
          <p:cNvSpPr/>
          <p:nvPr/>
        </p:nvSpPr>
        <p:spPr>
          <a:xfrm>
            <a:off x="5897880" y="52578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Redigital is the most harmful condition, especially for recognizing the transformation.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8" name="Google Shape;258;p12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9" name="Google Shape;259;p12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10/12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3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Error Analysis and Artifact-Aware Variant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3"/>
          <p:cNvSpPr/>
          <p:nvPr/>
        </p:nvSpPr>
        <p:spPr>
          <a:xfrm>
            <a:off x="548640" y="868680"/>
            <a:ext cx="10424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Main failure mode: redigital is confused with original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3"/>
          <p:cNvSpPr/>
          <p:nvPr/>
        </p:nvSpPr>
        <p:spPr>
          <a:xfrm>
            <a:off x="645566" y="1331366"/>
            <a:ext cx="1010107" cy="40050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RF confusion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3"/>
          <p:cNvSpPr/>
          <p:nvPr/>
        </p:nvSpPr>
        <p:spPr>
          <a:xfrm>
            <a:off x="1666646" y="1331366"/>
            <a:ext cx="1010107" cy="40050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pred real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2687726" y="1331366"/>
            <a:ext cx="1010107" cy="40050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pred AI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3"/>
          <p:cNvSpPr/>
          <p:nvPr/>
        </p:nvSpPr>
        <p:spPr>
          <a:xfrm>
            <a:off x="645566" y="1742846"/>
            <a:ext cx="1010107" cy="40050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true real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1666646" y="1742846"/>
            <a:ext cx="1010107" cy="40050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550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3"/>
          <p:cNvSpPr/>
          <p:nvPr/>
        </p:nvSpPr>
        <p:spPr>
          <a:xfrm>
            <a:off x="2687726" y="1742846"/>
            <a:ext cx="1010107" cy="40050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645566" y="2154326"/>
            <a:ext cx="1010107" cy="40050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true AI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3"/>
          <p:cNvSpPr/>
          <p:nvPr/>
        </p:nvSpPr>
        <p:spPr>
          <a:xfrm>
            <a:off x="1666646" y="2154326"/>
            <a:ext cx="1010107" cy="40050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3"/>
          <p:cNvSpPr/>
          <p:nvPr/>
        </p:nvSpPr>
        <p:spPr>
          <a:xfrm>
            <a:off x="2687726" y="2154326"/>
            <a:ext cx="1010107" cy="40050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544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4166006" y="1331366"/>
            <a:ext cx="1280617" cy="38907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Transformation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3"/>
          <p:cNvSpPr/>
          <p:nvPr/>
        </p:nvSpPr>
        <p:spPr>
          <a:xfrm>
            <a:off x="5457596" y="1331366"/>
            <a:ext cx="1280617" cy="38907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pred original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3"/>
          <p:cNvSpPr/>
          <p:nvPr/>
        </p:nvSpPr>
        <p:spPr>
          <a:xfrm>
            <a:off x="6749186" y="1331366"/>
            <a:ext cx="1280617" cy="38907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pred transfer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3"/>
          <p:cNvSpPr/>
          <p:nvPr/>
        </p:nvSpPr>
        <p:spPr>
          <a:xfrm>
            <a:off x="8040776" y="1331366"/>
            <a:ext cx="1280617" cy="38907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pred redigital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3"/>
          <p:cNvSpPr/>
          <p:nvPr/>
        </p:nvSpPr>
        <p:spPr>
          <a:xfrm>
            <a:off x="4166006" y="173141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true original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3"/>
          <p:cNvSpPr/>
          <p:nvPr/>
        </p:nvSpPr>
        <p:spPr>
          <a:xfrm>
            <a:off x="5457596" y="173141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335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3"/>
          <p:cNvSpPr/>
          <p:nvPr/>
        </p:nvSpPr>
        <p:spPr>
          <a:xfrm>
            <a:off x="6749186" y="173141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3"/>
          <p:cNvSpPr/>
          <p:nvPr/>
        </p:nvSpPr>
        <p:spPr>
          <a:xfrm>
            <a:off x="8040776" y="173141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3"/>
          <p:cNvSpPr/>
          <p:nvPr/>
        </p:nvSpPr>
        <p:spPr>
          <a:xfrm>
            <a:off x="4166006" y="213146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true transfer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3"/>
          <p:cNvSpPr/>
          <p:nvPr/>
        </p:nvSpPr>
        <p:spPr>
          <a:xfrm>
            <a:off x="5457596" y="213146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3"/>
          <p:cNvSpPr/>
          <p:nvPr/>
        </p:nvSpPr>
        <p:spPr>
          <a:xfrm>
            <a:off x="6749186" y="213146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357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3"/>
          <p:cNvSpPr/>
          <p:nvPr/>
        </p:nvSpPr>
        <p:spPr>
          <a:xfrm>
            <a:off x="8040776" y="213146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3"/>
          <p:cNvSpPr/>
          <p:nvPr/>
        </p:nvSpPr>
        <p:spPr>
          <a:xfrm>
            <a:off x="4166006" y="253151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true redigital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5457596" y="253151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3"/>
          <p:cNvSpPr/>
          <p:nvPr/>
        </p:nvSpPr>
        <p:spPr>
          <a:xfrm>
            <a:off x="6749186" y="253151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8040776" y="2531516"/>
            <a:ext cx="1280617" cy="38907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309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640080" y="3063240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The binary classifier is balanced: 50 real→AI and 56 AI→real errors.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4206240" y="32461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B91C1C"/>
                </a:solidFill>
                <a:latin typeface="Arial"/>
                <a:ea typeface="Arial"/>
                <a:cs typeface="Arial"/>
                <a:sym typeface="Arial"/>
              </a:rPr>
              <a:t>Transformation errors are asymmetric: 76 redigital images are predicted as original.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1925726" y="4348886"/>
            <a:ext cx="1657807" cy="38526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Model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3594506" y="4348886"/>
            <a:ext cx="1657807" cy="38526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RF acc.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5263286" y="4348886"/>
            <a:ext cx="1657807" cy="38526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Trans acc.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6932066" y="4348886"/>
            <a:ext cx="1657807" cy="385267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1925726" y="4745126"/>
            <a:ext cx="1657807" cy="38526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Standard α=.5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3"/>
          <p:cNvSpPr/>
          <p:nvPr/>
        </p:nvSpPr>
        <p:spPr>
          <a:xfrm>
            <a:off x="3594506" y="4745126"/>
            <a:ext cx="1657807" cy="38526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91.17%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5263286" y="4745126"/>
            <a:ext cx="1657807" cy="38526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83.42%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6932066" y="4745126"/>
            <a:ext cx="1657807" cy="38526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87.29%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1925726" y="5141366"/>
            <a:ext cx="1657807" cy="38526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Artifact-aware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3"/>
          <p:cNvSpPr/>
          <p:nvPr/>
        </p:nvSpPr>
        <p:spPr>
          <a:xfrm>
            <a:off x="3594506" y="5141366"/>
            <a:ext cx="1657807" cy="38526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90.08%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5263286" y="5141366"/>
            <a:ext cx="1657807" cy="38526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84.17%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3"/>
          <p:cNvSpPr/>
          <p:nvPr/>
        </p:nvSpPr>
        <p:spPr>
          <a:xfrm>
            <a:off x="6932066" y="5141366"/>
            <a:ext cx="1657807" cy="38526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25" lIns="425" spcFirstLastPara="1" rIns="425" wrap="square" tIns="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87.13%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3"/>
          <p:cNvSpPr/>
          <p:nvPr/>
        </p:nvSpPr>
        <p:spPr>
          <a:xfrm>
            <a:off x="1920240" y="5715000"/>
            <a:ext cx="7132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Artifact-aware improves transformation accuracy slightly, but does not outperform the standard model overall.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07" name="Google Shape;307;p13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8" name="Google Shape;308;p13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11/12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4"/>
          <p:cNvSpPr/>
          <p:nvPr/>
        </p:nvSpPr>
        <p:spPr>
          <a:xfrm>
            <a:off x="530352" y="32004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B8A"/>
              </a:buClr>
              <a:buSzPts val="3100"/>
              <a:buFont typeface="Play"/>
              <a:buNone/>
            </a:pP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Conclusions</a:t>
            </a:r>
            <a:r>
              <a:rPr b="1" lang="en-US" sz="3100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, Limitations and </a:t>
            </a:r>
            <a:r>
              <a:rPr b="1" i="0" lang="en-US" sz="3100" u="none" cap="none" strike="noStrike">
                <a:solidFill>
                  <a:srgbClr val="007B8A"/>
                </a:solidFill>
                <a:latin typeface="Play"/>
                <a:ea typeface="Play"/>
                <a:cs typeface="Play"/>
                <a:sym typeface="Play"/>
              </a:rPr>
              <a:t>Future Work</a:t>
            </a:r>
            <a:endParaRPr b="0" i="0" sz="3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4"/>
          <p:cNvSpPr/>
          <p:nvPr/>
        </p:nvSpPr>
        <p:spPr>
          <a:xfrm>
            <a:off x="548640" y="868680"/>
            <a:ext cx="10424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The joint formulation is useful, but task competition remains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4"/>
          <p:cNvSpPr/>
          <p:nvPr/>
        </p:nvSpPr>
        <p:spPr>
          <a:xfrm>
            <a:off x="731520" y="1234440"/>
            <a:ext cx="1463040" cy="329184"/>
          </a:xfrm>
          <a:prstGeom prst="rect">
            <a:avLst/>
          </a:prstGeom>
          <a:solidFill>
            <a:srgbClr val="007B8A"/>
          </a:solidFill>
          <a:ln cap="flat" cmpd="sng" w="9525">
            <a:solidFill>
              <a:srgbClr val="007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findings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4"/>
          <p:cNvSpPr/>
          <p:nvPr/>
        </p:nvSpPr>
        <p:spPr>
          <a:xfrm>
            <a:off x="777240" y="1783080"/>
            <a:ext cx="53035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• Best trade-off: standard multi-task model with α = 0.5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• Real/fake detection benefits from the auxiliary transformation task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• Transformation classification is still stronger when trained alone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• Redigital is the most difficult condition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4"/>
          <p:cNvSpPr/>
          <p:nvPr/>
        </p:nvSpPr>
        <p:spPr>
          <a:xfrm>
            <a:off x="6583680" y="1234440"/>
            <a:ext cx="1463040" cy="329184"/>
          </a:xfrm>
          <a:prstGeom prst="rect">
            <a:avLst/>
          </a:prstGeom>
          <a:solidFill>
            <a:srgbClr val="EA580C"/>
          </a:solidFill>
          <a:ln cap="flat" cmpd="sng" w="9525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FFFFFF"/>
                </a:solidFill>
              </a:rPr>
              <a:t>Limitations and </a:t>
            </a: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4"/>
          <p:cNvSpPr/>
          <p:nvPr/>
        </p:nvSpPr>
        <p:spPr>
          <a:xfrm>
            <a:off x="6629400" y="1783080"/>
            <a:ext cx="457200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750" lIns="750" spcFirstLastPara="1" rIns="750" wrap="square" tIns="7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• Add macro-F1, ROC-AUC, and confidence calibration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• Evaluate on a larger RRDataset subset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• Test stronger backbones and augmentation policies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• Make artifact-aware training fully reproducible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0" name="Google Shape;320;p14"/>
          <p:cNvCxnSpPr/>
          <p:nvPr/>
        </p:nvCxnSpPr>
        <p:spPr>
          <a:xfrm>
            <a:off x="502920" y="6473952"/>
            <a:ext cx="11201400" cy="0"/>
          </a:xfrm>
          <a:prstGeom prst="straightConnector1">
            <a:avLst/>
          </a:prstGeom>
          <a:noFill/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1" name="Google Shape;321;p14"/>
          <p:cNvSpPr/>
          <p:nvPr/>
        </p:nvSpPr>
        <p:spPr>
          <a:xfrm>
            <a:off x="10972800" y="6537960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6171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36171"/>
                </a:solidFill>
                <a:latin typeface="Arial"/>
                <a:ea typeface="Arial"/>
                <a:cs typeface="Arial"/>
                <a:sym typeface="Arial"/>
              </a:rPr>
              <a:t>12/12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