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75"/>
  <p:notesSz cx="6858000" cy="12191675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" y="960120"/>
            <a:ext cx="10789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700"/>
              <a:buFont typeface="Play"/>
              <a:buNone/>
            </a:pPr>
            <a:r>
              <a:rPr b="1" i="0" lang="en-US" sz="37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Joint Detection of AI-Generated Images</a:t>
            </a:r>
            <a:endParaRPr b="0" i="0" sz="3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700"/>
              <a:buFont typeface="Play"/>
              <a:buNone/>
            </a:pPr>
            <a:r>
              <a:rPr b="1" i="0" lang="en-US" sz="37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and Post-Processing Alterations</a:t>
            </a:r>
            <a:endParaRPr b="0" i="0" sz="3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13232" y="23317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Computer Vision Project — A.A. 2025–2026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3232" y="274320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Samuele Civale · Alexandru Vivian Pita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13232" y="5257800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Two forensic questions, one multi-task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7909560" y="4800600"/>
            <a:ext cx="3337560" cy="0"/>
          </a:xfrm>
          <a:prstGeom prst="straightConnector1">
            <a:avLst/>
          </a:prstGeom>
          <a:noFill/>
          <a:ln cap="flat" cmpd="sng" w="50800">
            <a:solidFill>
              <a:srgbClr val="00B8B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8138160" y="3429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Real or AI?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144000" y="39776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Which alteration?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1/12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Outline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22960" y="1463040"/>
            <a:ext cx="320040" cy="320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325880" y="1444752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Problem and motivation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22960" y="2084832"/>
            <a:ext cx="320040" cy="320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325880" y="2066544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State of the art and gap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22960" y="2706624"/>
            <a:ext cx="320040" cy="320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325880" y="2688336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Dataset and label space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22960" y="3328416"/>
            <a:ext cx="320040" cy="320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325880" y="331012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Proposed multi-task method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22960" y="3950208"/>
            <a:ext cx="320040" cy="320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325880" y="393192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Experimental setup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22960" y="4572000"/>
            <a:ext cx="320040" cy="320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325880" y="4553712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Results and error analysis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22960" y="5193792"/>
            <a:ext cx="320040" cy="320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325880" y="5175504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Conclusions and future work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4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4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2/12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Problem Statement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Real-world images are rarely clean generator outputs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85800" y="1417320"/>
            <a:ext cx="2011680" cy="329184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Forensic Question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85800" y="1847088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Is the image real or AI-generated?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85800" y="2907792"/>
            <a:ext cx="2011680" cy="329184"/>
          </a:xfrm>
          <a:prstGeom prst="rect">
            <a:avLst/>
          </a:prstGeom>
          <a:solidFill>
            <a:srgbClr val="EA580C"/>
          </a:solidFill>
          <a:ln cap="flat" cmpd="sng" w="9525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Forensic Question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85800" y="33375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post-processing condition was applied?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709160" y="1920240"/>
            <a:ext cx="1005840" cy="347472"/>
          </a:xfrm>
          <a:prstGeom prst="rect">
            <a:avLst/>
          </a:prstGeom>
          <a:solidFill>
            <a:srgbClr val="F6FBFC"/>
          </a:solidFill>
          <a:ln cap="flat" cmpd="sng" w="9525">
            <a:solidFill>
              <a:srgbClr val="00B8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080760" y="1920240"/>
            <a:ext cx="1737360" cy="347472"/>
          </a:xfrm>
          <a:prstGeom prst="rect">
            <a:avLst/>
          </a:prstGeom>
          <a:solidFill>
            <a:srgbClr val="F6FBFC"/>
          </a:solidFill>
          <a:ln cap="flat" cmpd="sng" w="9525">
            <a:solidFill>
              <a:srgbClr val="00B8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Platform transfer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229600" y="1920240"/>
            <a:ext cx="1737360" cy="347472"/>
          </a:xfrm>
          <a:prstGeom prst="rect">
            <a:avLst/>
          </a:prstGeom>
          <a:solidFill>
            <a:srgbClr val="F6FBFC"/>
          </a:solidFill>
          <a:ln cap="flat" cmpd="sng" w="9525">
            <a:solidFill>
              <a:srgbClr val="00B8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Re-digitalization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5"/>
          <p:cNvCxnSpPr/>
          <p:nvPr/>
        </p:nvCxnSpPr>
        <p:spPr>
          <a:xfrm>
            <a:off x="5779008" y="209397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07B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" name="Google Shape;62;p5"/>
          <p:cNvCxnSpPr/>
          <p:nvPr/>
        </p:nvCxnSpPr>
        <p:spPr>
          <a:xfrm>
            <a:off x="7936992" y="209397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07B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p5"/>
          <p:cNvSpPr/>
          <p:nvPr/>
        </p:nvSpPr>
        <p:spPr>
          <a:xfrm>
            <a:off x="4709160" y="2971800"/>
            <a:ext cx="5303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Post-processing can hide, distort, or introduce forensic traces. A robust detector should reason about both authenticity and alteration.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5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3/12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State of the Art and Project Gap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From clean binary detection to real-world robustness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85800" y="14173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Typical setup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6"/>
          <p:cNvCxnSpPr/>
          <p:nvPr/>
        </p:nvCxnSpPr>
        <p:spPr>
          <a:xfrm>
            <a:off x="685800" y="1810512"/>
            <a:ext cx="3017520" cy="0"/>
          </a:xfrm>
          <a:prstGeom prst="straightConnector1">
            <a:avLst/>
          </a:prstGeom>
          <a:noFill/>
          <a:ln cap="flat" cmpd="sng" w="381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6"/>
          <p:cNvSpPr/>
          <p:nvPr/>
        </p:nvSpPr>
        <p:spPr>
          <a:xfrm>
            <a:off x="685800" y="2057400"/>
            <a:ext cx="30632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Binary detector trained and tested on clean images directly sourced from generators.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434840" y="14173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Main limitation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6"/>
          <p:cNvCxnSpPr/>
          <p:nvPr/>
        </p:nvCxnSpPr>
        <p:spPr>
          <a:xfrm>
            <a:off x="4434840" y="1810512"/>
            <a:ext cx="3017520" cy="0"/>
          </a:xfrm>
          <a:prstGeom prst="straightConnector1">
            <a:avLst/>
          </a:prstGeom>
          <a:noFill/>
          <a:ln cap="flat" cmpd="sng" w="381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6"/>
          <p:cNvSpPr/>
          <p:nvPr/>
        </p:nvSpPr>
        <p:spPr>
          <a:xfrm>
            <a:off x="4434840" y="2057400"/>
            <a:ext cx="30632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Images online undergo transfer, compression, resizing, or re-capture artifacts.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183880" y="14173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This project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6"/>
          <p:cNvCxnSpPr/>
          <p:nvPr/>
        </p:nvCxnSpPr>
        <p:spPr>
          <a:xfrm>
            <a:off x="8183880" y="1810512"/>
            <a:ext cx="3017520" cy="0"/>
          </a:xfrm>
          <a:prstGeom prst="straightConnector1">
            <a:avLst/>
          </a:prstGeom>
          <a:noFill/>
          <a:ln cap="flat" cmpd="sng" w="381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6"/>
          <p:cNvSpPr/>
          <p:nvPr/>
        </p:nvSpPr>
        <p:spPr>
          <a:xfrm>
            <a:off x="8183880" y="2057400"/>
            <a:ext cx="30632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unified model predicts authenticity and the post-processing condition jointly.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914400" y="48463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Novelty in the implementation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657600" y="4754880"/>
            <a:ext cx="7223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Loss-weight ablation, per-transformation breakdown, cross-class analysis, and an optional artifact-aware residual branch.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6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4/12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Dataset and Label Space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RRDataset subset balanced by transformation and authenticity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91274" y="1422799"/>
            <a:ext cx="1207500" cy="414600"/>
          </a:xfrm>
          <a:prstGeom prst="rect">
            <a:avLst/>
          </a:prstGeom>
          <a:solidFill>
            <a:srgbClr val="007B8A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rial"/>
              <a:buNone/>
            </a:pPr>
            <a:r>
              <a:rPr b="1" i="0" lang="en-US" sz="14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Transformation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910854" y="1422799"/>
            <a:ext cx="1207500" cy="414600"/>
          </a:xfrm>
          <a:prstGeom prst="rect">
            <a:avLst/>
          </a:prstGeom>
          <a:solidFill>
            <a:srgbClr val="007B8A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rial"/>
              <a:buNone/>
            </a:pPr>
            <a:r>
              <a:rPr b="1" i="0" lang="en-US" sz="14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130434" y="1422799"/>
            <a:ext cx="1207500" cy="414600"/>
          </a:xfrm>
          <a:prstGeom prst="rect">
            <a:avLst/>
          </a:prstGeom>
          <a:solidFill>
            <a:srgbClr val="007B8A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rial"/>
              <a:buNone/>
            </a:pPr>
            <a:r>
              <a:rPr b="1" i="0" lang="en-US" sz="14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350015" y="1422799"/>
            <a:ext cx="1207500" cy="414600"/>
          </a:xfrm>
          <a:prstGeom prst="rect">
            <a:avLst/>
          </a:prstGeom>
          <a:solidFill>
            <a:srgbClr val="007B8A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rial"/>
              <a:buNone/>
            </a:pPr>
            <a:r>
              <a:rPr b="1" i="0" lang="en-US" sz="14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91274" y="1849654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910854" y="1849654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130434" y="1849654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350015" y="1849654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91274" y="2276508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transfer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910854" y="2276508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130434" y="2276508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350015" y="2276508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91274" y="2703362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redigital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910854" y="2703362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130434" y="2703362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350015" y="2703362"/>
            <a:ext cx="1207500" cy="414600"/>
          </a:xfrm>
          <a:prstGeom prst="rect">
            <a:avLst/>
          </a:prstGeom>
          <a:solidFill>
            <a:srgbClr val="FFFFFF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91274" y="3130216"/>
            <a:ext cx="1207500" cy="414600"/>
          </a:xfrm>
          <a:prstGeom prst="rect">
            <a:avLst/>
          </a:prstGeom>
          <a:solidFill>
            <a:srgbClr val="F6FBFC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1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910854" y="3130216"/>
            <a:ext cx="1207500" cy="414600"/>
          </a:xfrm>
          <a:prstGeom prst="rect">
            <a:avLst/>
          </a:prstGeom>
          <a:solidFill>
            <a:srgbClr val="F6FBFC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1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130434" y="3130216"/>
            <a:ext cx="1207500" cy="414600"/>
          </a:xfrm>
          <a:prstGeom prst="rect">
            <a:avLst/>
          </a:prstGeom>
          <a:solidFill>
            <a:srgbClr val="F6FBFC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1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350015" y="3130216"/>
            <a:ext cx="1207500" cy="414600"/>
          </a:xfrm>
          <a:prstGeom prst="rect">
            <a:avLst/>
          </a:prstGeom>
          <a:solidFill>
            <a:srgbClr val="F6FBFC"/>
          </a:solidFill>
          <a:ln cap="flat" cmpd="sng" w="10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5"/>
              <a:buFont typeface="Arial"/>
              <a:buNone/>
            </a:pPr>
            <a:r>
              <a:rPr b="1" i="0" lang="en-US" sz="14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6000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715000" y="150876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6,000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715000" y="19202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balanced images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452360" y="150876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452360" y="192024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authenticity classes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372600" y="150876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9372600" y="1920240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alteration settings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806440" y="2834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Two outputs per input image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806450" y="3310124"/>
            <a:ext cx="1853100" cy="5028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/ AI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8001000" y="3310124"/>
            <a:ext cx="2805900" cy="502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original / transfer / redigital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811925" y="4165999"/>
            <a:ext cx="1518600" cy="417600"/>
          </a:xfrm>
          <a:prstGeom prst="rect">
            <a:avLst/>
          </a:prstGeom>
          <a:solidFill>
            <a:srgbClr val="007B8A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5"/>
              <a:buFont typeface="Arial"/>
              <a:buNone/>
            </a:pPr>
            <a:r>
              <a:rPr b="1" i="0" lang="en-US" sz="135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342976" y="4165999"/>
            <a:ext cx="1518600" cy="417600"/>
          </a:xfrm>
          <a:prstGeom prst="rect">
            <a:avLst/>
          </a:prstGeom>
          <a:solidFill>
            <a:srgbClr val="007B8A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5"/>
              <a:buFont typeface="Arial"/>
              <a:buNone/>
            </a:pPr>
            <a:r>
              <a:rPr b="1" i="0" lang="en-US" sz="135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8874026" y="4165999"/>
            <a:ext cx="1518600" cy="417600"/>
          </a:xfrm>
          <a:prstGeom prst="rect">
            <a:avLst/>
          </a:prstGeom>
          <a:solidFill>
            <a:srgbClr val="007B8A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5"/>
              <a:buFont typeface="Arial"/>
              <a:buNone/>
            </a:pPr>
            <a:r>
              <a:rPr b="1" i="0" lang="en-US" sz="135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 transformation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811925" y="4596070"/>
            <a:ext cx="1518600" cy="417600"/>
          </a:xfrm>
          <a:prstGeom prst="rect">
            <a:avLst/>
          </a:prstGeom>
          <a:solidFill>
            <a:srgbClr val="FFFFFF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5"/>
              <a:buFont typeface="Arial"/>
              <a:buNone/>
            </a:pPr>
            <a:r>
              <a:rPr b="0" i="0" lang="en-US" sz="13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342976" y="4596070"/>
            <a:ext cx="1518600" cy="417600"/>
          </a:xfrm>
          <a:prstGeom prst="rect">
            <a:avLst/>
          </a:prstGeom>
          <a:solidFill>
            <a:srgbClr val="FFFFFF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5"/>
              <a:buFont typeface="Arial"/>
              <a:buNone/>
            </a:pPr>
            <a:r>
              <a:rPr b="0" i="0" lang="en-US" sz="13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4800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874026" y="4596070"/>
            <a:ext cx="1518600" cy="417600"/>
          </a:xfrm>
          <a:prstGeom prst="rect">
            <a:avLst/>
          </a:prstGeom>
          <a:solidFill>
            <a:srgbClr val="FFFFFF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5"/>
              <a:buFont typeface="Arial"/>
              <a:buNone/>
            </a:pPr>
            <a:r>
              <a:rPr b="0" i="0" lang="en-US" sz="13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1600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811925" y="5026140"/>
            <a:ext cx="1518600" cy="417600"/>
          </a:xfrm>
          <a:prstGeom prst="rect">
            <a:avLst/>
          </a:prstGeom>
          <a:solidFill>
            <a:srgbClr val="FFFFFF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5"/>
              <a:buFont typeface="Arial"/>
              <a:buNone/>
            </a:pPr>
            <a:r>
              <a:rPr b="0" i="0" lang="en-US" sz="13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342976" y="5026140"/>
            <a:ext cx="1518600" cy="417600"/>
          </a:xfrm>
          <a:prstGeom prst="rect">
            <a:avLst/>
          </a:prstGeom>
          <a:solidFill>
            <a:srgbClr val="FFFFFF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5"/>
              <a:buFont typeface="Arial"/>
              <a:buNone/>
            </a:pPr>
            <a:r>
              <a:rPr b="0" i="0" lang="en-US" sz="13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1200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874026" y="5026140"/>
            <a:ext cx="1518600" cy="417600"/>
          </a:xfrm>
          <a:prstGeom prst="rect">
            <a:avLst/>
          </a:prstGeom>
          <a:solidFill>
            <a:srgbClr val="FFFFFF"/>
          </a:solidFill>
          <a:ln cap="flat" cmpd="sng" w="107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" lIns="475" spcFirstLastPara="1" rIns="475" wrap="square" tIns="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5"/>
              <a:buFont typeface="Arial"/>
              <a:buNone/>
            </a:pPr>
            <a:r>
              <a:rPr b="0" i="0" lang="en-US" sz="13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7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5/12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Proposed Method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30340" y="946468"/>
            <a:ext cx="10424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Shared EfficientNet-B0 backbone with two classification heads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427720" y="1965960"/>
            <a:ext cx="1554600" cy="457200"/>
          </a:xfrm>
          <a:prstGeom prst="rect">
            <a:avLst/>
          </a:prstGeom>
          <a:solidFill>
            <a:srgbClr val="F6FBFC"/>
          </a:solidFill>
          <a:ln cap="flat" cmpd="sng" w="9525">
            <a:solidFill>
              <a:srgbClr val="00B8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Input image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30840" y="1783080"/>
            <a:ext cx="2103000" cy="82290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EfficientNet-B0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extractor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7502640" y="1325880"/>
            <a:ext cx="2011800" cy="731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Real/Fake head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classes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502640" y="2560320"/>
            <a:ext cx="2011800" cy="731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Transformation head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classes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8"/>
          <p:cNvCxnSpPr/>
          <p:nvPr/>
        </p:nvCxnSpPr>
        <p:spPr>
          <a:xfrm>
            <a:off x="4027920" y="2194560"/>
            <a:ext cx="411600" cy="0"/>
          </a:xfrm>
          <a:prstGeom prst="straightConnector1">
            <a:avLst/>
          </a:prstGeom>
          <a:noFill/>
          <a:ln cap="flat" cmpd="sng" w="25400">
            <a:solidFill>
              <a:srgbClr val="11182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8"/>
          <p:cNvCxnSpPr/>
          <p:nvPr/>
        </p:nvCxnSpPr>
        <p:spPr>
          <a:xfrm flipH="1" rot="10800000">
            <a:off x="6771120" y="1691760"/>
            <a:ext cx="640200" cy="502800"/>
          </a:xfrm>
          <a:prstGeom prst="straightConnector1">
            <a:avLst/>
          </a:prstGeom>
          <a:noFill/>
          <a:ln cap="flat" cmpd="sng" w="25400">
            <a:solidFill>
              <a:srgbClr val="11182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8"/>
          <p:cNvCxnSpPr/>
          <p:nvPr/>
        </p:nvCxnSpPr>
        <p:spPr>
          <a:xfrm>
            <a:off x="6771120" y="2194560"/>
            <a:ext cx="640200" cy="685800"/>
          </a:xfrm>
          <a:prstGeom prst="straightConnector1">
            <a:avLst/>
          </a:prstGeom>
          <a:noFill/>
          <a:ln cap="flat" cmpd="sng" w="25400">
            <a:solidFill>
              <a:srgbClr val="1118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8"/>
          <p:cNvSpPr/>
          <p:nvPr/>
        </p:nvSpPr>
        <p:spPr>
          <a:xfrm>
            <a:off x="2235532" y="396361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Training objective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30339" y="4430488"/>
            <a:ext cx="615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 = α CE(real/fake) + (1 − α) CE(transformation)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771125" y="3791426"/>
            <a:ext cx="1771200" cy="432600"/>
          </a:xfrm>
          <a:prstGeom prst="rect">
            <a:avLst/>
          </a:prstGeom>
          <a:solidFill>
            <a:srgbClr val="007B8A"/>
          </a:solidFill>
          <a:ln cap="flat" cmpd="sng" w="120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2"/>
              <a:buFont typeface="Arial"/>
              <a:buNone/>
            </a:pPr>
            <a:r>
              <a:rPr b="1" i="0" lang="en-US" sz="132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556266" y="3791426"/>
            <a:ext cx="1771200" cy="432600"/>
          </a:xfrm>
          <a:prstGeom prst="rect">
            <a:avLst/>
          </a:prstGeom>
          <a:solidFill>
            <a:srgbClr val="007B8A"/>
          </a:solidFill>
          <a:ln cap="flat" cmpd="sng" w="120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2"/>
              <a:buFont typeface="Arial"/>
              <a:buNone/>
            </a:pPr>
            <a:r>
              <a:rPr b="1" i="0" lang="en-US" sz="132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771125" y="4237707"/>
            <a:ext cx="1771200" cy="432600"/>
          </a:xfrm>
          <a:prstGeom prst="rect">
            <a:avLst/>
          </a:prstGeom>
          <a:solidFill>
            <a:srgbClr val="FFFFFF"/>
          </a:solidFill>
          <a:ln cap="flat" cmpd="sng" w="120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2"/>
              <a:buFont typeface="Arial"/>
              <a:buNone/>
            </a:pPr>
            <a:r>
              <a:rPr b="0" i="0" lang="en-US" sz="13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556266" y="4237707"/>
            <a:ext cx="1771200" cy="432600"/>
          </a:xfrm>
          <a:prstGeom prst="rect">
            <a:avLst/>
          </a:prstGeom>
          <a:solidFill>
            <a:srgbClr val="FFFFFF"/>
          </a:solidFill>
          <a:ln cap="flat" cmpd="sng" w="120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2"/>
              <a:buFont typeface="Arial"/>
              <a:buNone/>
            </a:pPr>
            <a:r>
              <a:rPr b="0" i="0" lang="en-US" sz="13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more transformation weight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771125" y="4683988"/>
            <a:ext cx="1771200" cy="432600"/>
          </a:xfrm>
          <a:prstGeom prst="rect">
            <a:avLst/>
          </a:prstGeom>
          <a:solidFill>
            <a:srgbClr val="FFFFFF"/>
          </a:solidFill>
          <a:ln cap="flat" cmpd="sng" w="120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2"/>
              <a:buFont typeface="Arial"/>
              <a:buNone/>
            </a:pPr>
            <a:r>
              <a:rPr b="0" i="0" lang="en-US" sz="13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556266" y="4683988"/>
            <a:ext cx="1771200" cy="432600"/>
          </a:xfrm>
          <a:prstGeom prst="rect">
            <a:avLst/>
          </a:prstGeom>
          <a:solidFill>
            <a:srgbClr val="FFFFFF"/>
          </a:solidFill>
          <a:ln cap="flat" cmpd="sng" w="120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2"/>
              <a:buFont typeface="Arial"/>
              <a:buNone/>
            </a:pPr>
            <a:r>
              <a:rPr b="0" i="0" lang="en-US" sz="13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balanced objective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771125" y="5130268"/>
            <a:ext cx="1771200" cy="432600"/>
          </a:xfrm>
          <a:prstGeom prst="rect">
            <a:avLst/>
          </a:prstGeom>
          <a:solidFill>
            <a:srgbClr val="FFFFFF"/>
          </a:solidFill>
          <a:ln cap="flat" cmpd="sng" w="120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2"/>
              <a:buFont typeface="Arial"/>
              <a:buNone/>
            </a:pPr>
            <a:r>
              <a:rPr b="0" i="0" lang="en-US" sz="13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556266" y="5130268"/>
            <a:ext cx="1771200" cy="432600"/>
          </a:xfrm>
          <a:prstGeom prst="rect">
            <a:avLst/>
          </a:prstGeom>
          <a:solidFill>
            <a:srgbClr val="FFFFFF"/>
          </a:solidFill>
          <a:ln cap="flat" cmpd="sng" w="120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2"/>
              <a:buFont typeface="Arial"/>
              <a:buNone/>
            </a:pPr>
            <a:r>
              <a:rPr b="0" i="0" lang="en-US" sz="13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more real/fake weight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961350" y="5656755"/>
            <a:ext cx="987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Optional variant: an artifact-aware branch processes high-frequency residuals before feature fusion.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8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8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6/12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Experimental Setup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Colab/PyTorch pipeline with deterministic validation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91286" y="1422806"/>
            <a:ext cx="2503627" cy="472353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205886" y="1422806"/>
            <a:ext cx="2503627" cy="472353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91286" y="1906132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205886" y="1906132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PyTorch + torchvision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91286" y="2389458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Backbone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05886" y="2389458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EfficientNet-B0, ImageNet weights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91286" y="2872784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Image size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205886" y="2872784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224 × 224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91286" y="3356109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205886" y="3356109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Adam, lr = 5e-4, weight decay = 1e-4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91286" y="3839435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205886" y="3839435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 epochs per run, batch size 32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91286" y="4322761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205886" y="4322761"/>
            <a:ext cx="2503627" cy="47235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CUDA, mixed precision enabled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00800" y="15087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Validation transform is deterministic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00800" y="2011680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Training uses augmentation: horizontal flip, rotation, brightness/contrast jitter. Validation uses only resize, tensor conversion, and ImageNet normalization.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400800" y="3657600"/>
            <a:ext cx="4251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This prevents validation metrics from depending on random augmentations and makes alpha comparisons meaningful.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9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9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7/12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Baseline Performance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Single-task models establish reference points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otebook_assets/cell_34_out_21.png"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46367"/>
            <a:ext cx="4892040" cy="2765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notebook_assets/cell_34_out_43.png"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246367"/>
            <a:ext cx="4892040" cy="276506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/>
          <p:nvPr/>
        </p:nvSpPr>
        <p:spPr>
          <a:xfrm>
            <a:off x="1188720" y="45720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89.92%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188720" y="498348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final RF-only accuracy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657600" y="45720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86.08%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3657600" y="498348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final transformation-only accuracy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583680" y="461772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Training curves show strong learning, but validation accuracy saturates and oscillates: the task is not solved by clean single-task training alone.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10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0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8/12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Loss-Weight Ablation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Balanced alpha gives the best final mean accuracy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otebook_assets/cell_50_out_00.png"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21202"/>
            <a:ext cx="5074920" cy="287259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/>
          <p:nvPr/>
        </p:nvSpPr>
        <p:spPr>
          <a:xfrm>
            <a:off x="6406286" y="1514246"/>
            <a:ext cx="1029157" cy="37764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446416" y="1514246"/>
            <a:ext cx="1029157" cy="37764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 acc.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486546" y="1514246"/>
            <a:ext cx="1029157" cy="37764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 acc.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9526676" y="1514246"/>
            <a:ext cx="1029157" cy="37764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 acc.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6406286" y="190286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7446416" y="190286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89.17%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8486546" y="190286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84.75%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9526676" y="190286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86.96%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406286" y="229148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446416" y="229148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91.17%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486546" y="229148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83.42%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9526676" y="229148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87.29%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406286" y="268010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446416" y="268010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90.67%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486546" y="268010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81.17%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9526676" y="2680106"/>
            <a:ext cx="1029157" cy="3776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85.92%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537960" y="374904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α = 0.5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6537960" y="416052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selected 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595360" y="37490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Higher α protects real/fake accuracy but hurts transformation recognition. Lower α has the opposite effect.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1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9/12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Selected Multi-Task Model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Detailed breakdown for alpha = 0.5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777240" y="14173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91.17%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77240" y="182880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real/fake accuracy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3063240" y="141732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83.42%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3063240" y="182880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transformation accuracy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623560" y="14173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87.29%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5623560" y="18288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mean accuracy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782726" y="2885846"/>
            <a:ext cx="1421587" cy="36621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2215286" y="2885846"/>
            <a:ext cx="1421587" cy="36621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 acc.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3647846" y="2885846"/>
            <a:ext cx="1421587" cy="36621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 acc.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782726" y="326303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2215286" y="326303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91.50%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3647846" y="326303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83.75%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782726" y="364022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redigital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2215286" y="364022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89.25%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647846" y="364022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77.25%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782726" y="401741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transfer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2215286" y="401741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92.75%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3647846" y="4017416"/>
            <a:ext cx="1421587" cy="36621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89.25%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2560320"/>
            <a:ext cx="502920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5897880" y="52578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Redigital is the most harmful condition, especially for recognizing the transformation.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12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2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10/12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Error Analysis and Artifact-Aware Variant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Main failure mode: redigital is confused with original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45566" y="1331366"/>
            <a:ext cx="1010107" cy="40050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 confusion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1666646" y="1331366"/>
            <a:ext cx="1010107" cy="40050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 real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2687726" y="1331366"/>
            <a:ext cx="1010107" cy="40050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 AI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45566" y="1742846"/>
            <a:ext cx="1010107" cy="40050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true real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666646" y="1742846"/>
            <a:ext cx="1010107" cy="40050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550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2687726" y="1742846"/>
            <a:ext cx="1010107" cy="40050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45566" y="2154326"/>
            <a:ext cx="1010107" cy="40050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true AI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666646" y="2154326"/>
            <a:ext cx="1010107" cy="40050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2687726" y="2154326"/>
            <a:ext cx="1010107" cy="40050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544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166006" y="1331366"/>
            <a:ext cx="1280617" cy="38907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57596" y="1331366"/>
            <a:ext cx="1280617" cy="38907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 original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749186" y="1331366"/>
            <a:ext cx="1280617" cy="38907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 transfer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8040776" y="1331366"/>
            <a:ext cx="1280617" cy="38907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 redigital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166006" y="173141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true original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457596" y="173141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335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749186" y="173141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8040776" y="173141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166006" y="213146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true transfer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5457596" y="213146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749186" y="213146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357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040776" y="213146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166006" y="253151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true redigital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457596" y="253151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749186" y="253151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8040776" y="2531516"/>
            <a:ext cx="1280617" cy="38907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309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40080" y="306324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binary classifier is balanced: 50 real→AI and 56 AI→real errors.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206240" y="32461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Transformation errors are asymmetric: 76 redigital images are predicted as original.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1925726" y="4348886"/>
            <a:ext cx="1657807" cy="38526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3594506" y="4348886"/>
            <a:ext cx="1657807" cy="38526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 acc.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5263286" y="4348886"/>
            <a:ext cx="1657807" cy="38526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 acc.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932066" y="4348886"/>
            <a:ext cx="1657807" cy="385267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1925726" y="4745126"/>
            <a:ext cx="1657807" cy="3852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Standard α=.5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594506" y="4745126"/>
            <a:ext cx="1657807" cy="3852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91.17%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263286" y="4745126"/>
            <a:ext cx="1657807" cy="3852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83.42%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932066" y="4745126"/>
            <a:ext cx="1657807" cy="3852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87.29%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925726" y="5141366"/>
            <a:ext cx="1657807" cy="3852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Artifact-aware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3594506" y="5141366"/>
            <a:ext cx="1657807" cy="3852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90.08%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5263286" y="5141366"/>
            <a:ext cx="1657807" cy="3852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84.17%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6932066" y="5141366"/>
            <a:ext cx="1657807" cy="3852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5" lIns="425" spcFirstLastPara="1" rIns="425" wrap="square" tIns="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87.13%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1920240" y="57150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Artifact-aware improves transformation accuracy slightly, but does not outperform the standard model overall.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13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11/12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3100"/>
              <a:buFont typeface="Play"/>
              <a:buNone/>
            </a:pPr>
            <a:r>
              <a:rPr b="1" i="0" lang="en-US" sz="3100" u="none" cap="none" strike="noStrike">
                <a:solidFill>
                  <a:srgbClr val="007B8A"/>
                </a:solidFill>
                <a:latin typeface="Play"/>
                <a:ea typeface="Play"/>
                <a:cs typeface="Play"/>
                <a:sym typeface="Play"/>
              </a:rPr>
              <a:t>Conclusions and Future Work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548640" y="868680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The joint formulation is useful, but task competition remains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731520" y="1234440"/>
            <a:ext cx="1463040" cy="329184"/>
          </a:xfrm>
          <a:prstGeom prst="rect">
            <a:avLst/>
          </a:prstGeom>
          <a:solidFill>
            <a:srgbClr val="007B8A"/>
          </a:solidFill>
          <a:ln cap="flat" cmpd="sng" w="9525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777240" y="1783080"/>
            <a:ext cx="5303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Best trade-off: standard multi-task model with α = 0.5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Real/fake detection benefits from the auxiliary transformation task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Transformation classification is still stronger when trained alone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Redigital is the most difficult condition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6583680" y="1234440"/>
            <a:ext cx="1463040" cy="329184"/>
          </a:xfrm>
          <a:prstGeom prst="rect">
            <a:avLst/>
          </a:prstGeom>
          <a:solidFill>
            <a:srgbClr val="EA580C"/>
          </a:solidFill>
          <a:ln cap="flat" cmpd="sng" w="9525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6629400" y="1783080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Add macro-F1, ROC-AUC, and confidence calibration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Evaluate on a larger RRDataset subset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Test stronger backbones and augmentation policies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Make artifact-aware training fully reproducible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777240" y="43434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7B8A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777240" y="4709160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RRDataset project data; PyTorch / torchvision EfficientNet-B0;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14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4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17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36171"/>
                </a:solidFill>
                <a:latin typeface="Arial"/>
                <a:ea typeface="Arial"/>
                <a:cs typeface="Arial"/>
                <a:sym typeface="Arial"/>
              </a:rPr>
              <a:t>12/12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